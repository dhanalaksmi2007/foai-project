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1" r:id="rId6"/>
    <p:sldId id="274" r:id="rId7"/>
    <p:sldId id="272" r:id="rId8"/>
    <p:sldId id="273" r:id="rId9"/>
    <p:sldId id="260" r:id="rId10"/>
    <p:sldId id="268" r:id="rId11"/>
    <p:sldId id="275" r:id="rId12"/>
    <p:sldId id="261" r:id="rId13"/>
    <p:sldId id="262" r:id="rId14"/>
    <p:sldId id="269" r:id="rId15"/>
    <p:sldId id="263" r:id="rId16"/>
    <p:sldId id="270" r:id="rId17"/>
    <p:sldId id="264" r:id="rId18"/>
    <p:sldId id="265" r:id="rId19"/>
    <p:sldId id="266" r:id="rId20"/>
    <p:sldId id="267" r:id="rId21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" initials="H" lastIdx="1" clrIdx="0">
    <p:extLst>
      <p:ext uri="{19B8F6BF-5375-455C-9EA6-DF929625EA0E}">
        <p15:presenceInfo xmlns:p15="http://schemas.microsoft.com/office/powerpoint/2012/main" userId="HP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53" y="7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Score /100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C00000"/>
              </a:solidFill>
            </c:spPr>
            <c:extLst>
              <c:ext xmlns:c16="http://schemas.microsoft.com/office/drawing/2014/chart" uri="{C3380CC4-5D6E-409C-BE32-E72D297353CC}">
                <c16:uniqueId val="{00000001-9C20-4244-8B16-FA87056C0552}"/>
              </c:ext>
            </c:extLst>
          </c:dPt>
          <c:dPt>
            <c:idx val="1"/>
            <c:invertIfNegative val="1"/>
            <c:bubble3D val="0"/>
            <c:spPr>
              <a:solidFill>
                <a:srgbClr val="8FA3C4"/>
              </a:solidFill>
            </c:spPr>
            <c:extLst>
              <c:ext xmlns:c16="http://schemas.microsoft.com/office/drawing/2014/chart" uri="{C3380CC4-5D6E-409C-BE32-E72D297353CC}">
                <c16:uniqueId val="{00000003-9C20-4244-8B16-FA87056C0552}"/>
              </c:ext>
            </c:extLst>
          </c:dPt>
          <c:dPt>
            <c:idx val="2"/>
            <c:invertIfNegative val="1"/>
            <c:bubble3D val="0"/>
            <c:spPr>
              <a:solidFill>
                <a:srgbClr val="8FA3C4"/>
              </a:solidFill>
            </c:spPr>
            <c:extLst>
              <c:ext xmlns:c16="http://schemas.microsoft.com/office/drawing/2014/chart" uri="{C3380CC4-5D6E-409C-BE32-E72D297353CC}">
                <c16:uniqueId val="{00000005-9C20-4244-8B16-FA87056C0552}"/>
              </c:ext>
            </c:extLst>
          </c:dPt>
          <c:dPt>
            <c:idx val="3"/>
            <c:invertIfNegative val="1"/>
            <c:bubble3D val="0"/>
            <c:spPr>
              <a:solidFill>
                <a:srgbClr val="8FA3C4"/>
              </a:solidFill>
            </c:spPr>
            <c:extLst>
              <c:ext xmlns:c16="http://schemas.microsoft.com/office/drawing/2014/chart" uri="{C3380CC4-5D6E-409C-BE32-E72D297353CC}">
                <c16:uniqueId val="{00000007-9C20-4244-8B16-FA87056C0552}"/>
              </c:ext>
            </c:extLst>
          </c:dPt>
          <c:dPt>
            <c:idx val="4"/>
            <c:invertIfNegative val="1"/>
            <c:bubble3D val="0"/>
            <c:spPr>
              <a:solidFill>
                <a:srgbClr val="8FA3C4"/>
              </a:solidFill>
            </c:spPr>
            <c:extLst>
              <c:ext xmlns:c16="http://schemas.microsoft.com/office/drawing/2014/chart" uri="{C3380CC4-5D6E-409C-BE32-E72D297353CC}">
                <c16:uniqueId val="{00000009-9C20-4244-8B16-FA87056C0552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Apollo</c:v>
                </c:pt>
                <c:pt idx="1">
                  <c:v>City General</c:v>
                </c:pt>
                <c:pt idx="2">
                  <c:v>Care Plus</c:v>
                </c:pt>
                <c:pt idx="3">
                  <c:v>Sri Lakshmi</c:v>
                </c:pt>
                <c:pt idx="4">
                  <c:v>Green Valley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</c:v>
                </c:pt>
                <c:pt idx="1">
                  <c:v>82</c:v>
                </c:pt>
                <c:pt idx="2">
                  <c:v>74</c:v>
                </c:pt>
                <c:pt idx="3">
                  <c:v>47</c:v>
                </c:pt>
                <c:pt idx="4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C20-4244-8B16-FA87056C055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667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:a16="http://schemas.microsoft.com/office/drawing/2014/main" id="{8D13192D-1816-F03A-9AF1-BBA902A8A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B6A37-AD04-C654-AC92-D9CC3ADF0A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8272B-7D6B-F3CE-953F-1079FFA8D8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F3314-4EF0-936B-77EE-175E9EF6B5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0965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A88B164-965D-9E09-9E7D-16374A9EAD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E044AE8-B23C-D8C6-4D87-EADCB1C0F0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E04F0FC-AAC5-064C-CDAD-FF80D73B38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67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E3D50AC-D896-487B-A964-4F2362A2FC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860975C-7E6F-6BD7-97FB-B68EFA315F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25DB3BD-FB8F-C610-9A37-B3ADF214A3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354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CC1F139-34C5-A295-F629-88EF76019A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B20EB37-7A2A-E49D-01DB-6418D7037D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4FAAEF5-CC11-F779-153E-E74E333E5A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58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E764D-F83F-9CC9-8E38-FEA9647AB7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BF83D4-B422-239C-8C38-4509A66ADB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238FA-AFA9-8287-25C9-98D6042CFD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93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80D49F1-7BF0-A0A8-0C0A-9B4F1788B3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DDDAEBE-B0DA-0212-414B-C9FFC612D8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430D5C8-DD0F-C0FD-D016-9055C67C40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81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90400DB2-066A-4CAE-071C-1EAF9DDB72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AB14BBF-3825-C6B5-25F7-8686AAD7C3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84D417B-4541-5C9D-274F-9952E6F120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7779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B1A011-C2F2-C9FC-9DD8-A4E6A00AA4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B4C95F2-7321-CEE1-4FD5-BE988C3BA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4AB3D0A-7C9E-40E8-0F27-0C737BD346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1495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31D201-6E7B-DD71-C865-2CC7682520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A474AB6-A9CC-8EC3-60F9-BBEDD90B03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14DF99B-1424-E931-A0EF-A2CCFECC39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98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E0854C1-7207-EF75-A61A-B4AF54A5D7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23D97B6-49D4-67F3-668F-9724FD3523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E4FA587-585B-1C1F-066D-B211962B0D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47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D0F6A3-93FF-6A17-402C-31256BC457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B63A9F3-AD04-ED6E-E628-12170F70CE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1BD68DD-46F8-E148-C9DD-BDF1256D37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195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D52653-E1AE-07CB-DCC9-CD2593D84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B93799-0450-059C-B337-0FA5C4C373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6B43BBB4-1099-054A-DDAC-B357DD3DA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986B2119-A42B-45B1-6DCF-EF7CC29004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C6B070B-4AFE-871D-87ED-86092999D2D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A33AF8B-6600-80BC-AB7A-98E95CF9D7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1BD9409A-4B38-651E-F54D-ABAB5C4CEB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80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89/fdgth.2023.1192975" TargetMode="External"/><Relationship Id="rId2" Type="http://schemas.openxmlformats.org/officeDocument/2006/relationships/hyperlink" Target="https://doi.org/10.1016/j.jbi.2007.10.00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136/bmj.h3480" TargetMode="External"/><Relationship Id="rId5" Type="http://schemas.openxmlformats.org/officeDocument/2006/relationships/hyperlink" Target="https://doi.org/10.5120/ijca2016912459" TargetMode="External"/><Relationship Id="rId4" Type="http://schemas.openxmlformats.org/officeDocument/2006/relationships/hyperlink" Target="https://doi.org/10.2196/46760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41A2FBB-F55B-9BAA-4EBD-7D6AD7B1D9C0}"/>
              </a:ext>
            </a:extLst>
          </p:cNvPr>
          <p:cNvSpPr txBox="1">
            <a:spLocks/>
          </p:cNvSpPr>
          <p:nvPr/>
        </p:nvSpPr>
        <p:spPr>
          <a:xfrm>
            <a:off x="789712" y="2530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solidFill>
                  <a:srgbClr val="7030A0"/>
                </a:solidFill>
                <a:latin typeface="Verdana" panose="020B0604030504040204" pitchFamily="34" charset="0"/>
                <a:ea typeface="+mn-ea"/>
                <a:cs typeface="+mn-cs"/>
              </a:rPr>
              <a:t>AI-Based Smart Patient Referral and Hospital Selection System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2D19DAE3-8F95-230C-D485-225341D07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888" y="5183902"/>
            <a:ext cx="419700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rgbClr val="FF0000"/>
                </a:solidFill>
              </a:rPr>
              <a:t>Dr Bhuvana S,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rgbClr val="FF0000"/>
                </a:solidFill>
              </a:rPr>
              <a:t>Assistant Professor SG</a:t>
            </a:r>
            <a:endParaRPr lang="en-I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19A39F01-D00C-AF01-020F-6FE15F5B4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8004" y="4921310"/>
            <a:ext cx="4197007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</a:rPr>
              <a:t>Bharath V  -        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</a:rPr>
              <a:t>241901018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rgbClr val="FF0000"/>
                </a:solidFill>
              </a:rPr>
              <a:t>Dhanalakshmi C -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rgbClr val="FF0000"/>
                </a:solidFill>
              </a:rPr>
              <a:t>241901023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I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21851EC-AC90-1CBE-0738-0329685AB2AB}"/>
              </a:ext>
            </a:extLst>
          </p:cNvPr>
          <p:cNvSpPr txBox="1">
            <a:spLocks/>
          </p:cNvSpPr>
          <p:nvPr/>
        </p:nvSpPr>
        <p:spPr>
          <a:xfrm>
            <a:off x="754333" y="980728"/>
            <a:ext cx="10515600" cy="722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Department of Computer Science and Engineering</a:t>
            </a:r>
          </a:p>
          <a:p>
            <a:r>
              <a:rPr lang="en-IN" sz="28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(Cyber Security)</a:t>
            </a:r>
          </a:p>
          <a:p>
            <a:endParaRPr lang="en-IN" sz="2800" b="1" dirty="0">
              <a:solidFill>
                <a:srgbClr val="002060"/>
              </a:solidFill>
              <a:latin typeface="Verdana" panose="020B0604030504040204" pitchFamily="34" charset="0"/>
              <a:ea typeface="+mn-ea"/>
              <a:cs typeface="+mn-cs"/>
            </a:endParaRPr>
          </a:p>
        </p:txBody>
      </p:sp>
      <p:pic>
        <p:nvPicPr>
          <p:cNvPr id="12" name="Picture 11" descr="C:\Users\REC\Downloads\REC_Logo_Color_PNG_RGB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933065" cy="98072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1631504" y="1412776"/>
            <a:ext cx="101122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Verdana" panose="020B0604030504040204" pitchFamily="34" charset="0"/>
              </a:rPr>
              <a:t>CS23533– Foundations of Artificial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873101" y="1916832"/>
            <a:ext cx="16033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2026-2027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3139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Problem Statement and Motivation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2" y="1691640"/>
            <a:ext cx="6949440" cy="4389120"/>
          </a:xfrm>
        </p:spPr>
        <p:txBody>
          <a:bodyPr/>
          <a:lstStyle/>
          <a:p>
            <a:pPr marL="342900" indent="-342900">
              <a:spcBef>
                <a:spcPts val="1000"/>
              </a:spcBef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200" b="1" dirty="0">
                <a:solidFill>
                  <a:srgbClr val="000000"/>
                </a:solidFill>
                <a:latin typeface="Times New Roman"/>
                <a:cs typeface="Times New Roman"/>
              </a:rPr>
              <a:t>Referral is two decisions in one: </a:t>
            </a:r>
            <a:r>
              <a:rPr lang="en-IN" sz="2200" b="0" dirty="0">
                <a:solidFill>
                  <a:srgbClr val="000000"/>
                </a:solidFill>
                <a:latin typeface="Times New Roman"/>
                <a:cs typeface="Times New Roman"/>
              </a:rPr>
              <a:t>which specialty the patient needs, and which hospital can actually provide it</a:t>
            </a:r>
          </a:p>
          <a:p>
            <a:pPr marL="342900" indent="-342900">
              <a:spcBef>
                <a:spcPts val="1000"/>
              </a:spcBef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200" b="1" dirty="0">
                <a:solidFill>
                  <a:srgbClr val="000000"/>
                </a:solidFill>
                <a:latin typeface="Times New Roman"/>
                <a:cs typeface="Times New Roman"/>
              </a:rPr>
              <a:t>Nearest is not always right: </a:t>
            </a:r>
            <a:r>
              <a:rPr lang="en-IN" sz="2200" b="0" dirty="0">
                <a:solidFill>
                  <a:srgbClr val="000000"/>
                </a:solidFill>
                <a:latin typeface="Times New Roman"/>
                <a:cs typeface="Times New Roman"/>
              </a:rPr>
              <a:t>a close hospital may lack the required specialty or emergency capability</a:t>
            </a:r>
          </a:p>
          <a:p>
            <a:pPr marL="342900" indent="-342900">
              <a:spcBef>
                <a:spcPts val="1000"/>
              </a:spcBef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200" b="1" dirty="0">
                <a:solidFill>
                  <a:srgbClr val="000000"/>
                </a:solidFill>
                <a:latin typeface="Times New Roman"/>
                <a:cs typeface="Times New Roman"/>
              </a:rPr>
              <a:t>Information is scattered: </a:t>
            </a:r>
            <a:r>
              <a:rPr lang="en-IN" sz="2200" b="0" dirty="0">
                <a:solidFill>
                  <a:srgbClr val="000000"/>
                </a:solidFill>
                <a:latin typeface="Times New Roman"/>
                <a:cs typeface="Times New Roman"/>
              </a:rPr>
              <a:t>services, staffing and resources sit in different places, so choices are inconsistent</a:t>
            </a:r>
          </a:p>
          <a:p>
            <a:pPr marL="342900" indent="-342900">
              <a:spcBef>
                <a:spcPts val="1000"/>
              </a:spcBef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200" b="1" dirty="0">
                <a:solidFill>
                  <a:srgbClr val="000000"/>
                </a:solidFill>
                <a:latin typeface="Times New Roman"/>
                <a:cs typeface="Times New Roman"/>
              </a:rPr>
              <a:t>Time matters: </a:t>
            </a:r>
            <a:r>
              <a:rPr lang="en-IN" sz="2200" b="0" dirty="0">
                <a:solidFill>
                  <a:srgbClr val="000000"/>
                </a:solidFill>
                <a:latin typeface="Times New Roman"/>
                <a:cs typeface="Times New Roman"/>
              </a:rPr>
              <a:t>chest pain or stroke symptoms need fast routing, not trial and error</a:t>
            </a:r>
          </a:p>
          <a:p>
            <a:pPr marL="342900" indent="-342900">
              <a:spcBef>
                <a:spcPts val="1000"/>
              </a:spcBef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200" b="1" dirty="0">
                <a:solidFill>
                  <a:srgbClr val="000000"/>
                </a:solidFill>
                <a:latin typeface="Times New Roman"/>
                <a:cs typeface="Times New Roman"/>
              </a:rPr>
              <a:t>Motivation: </a:t>
            </a:r>
            <a:r>
              <a:rPr lang="en-IN" sz="2200" b="0" dirty="0">
                <a:solidFill>
                  <a:srgbClr val="000000"/>
                </a:solidFill>
                <a:latin typeface="Times New Roman"/>
                <a:cs typeface="Times New Roman"/>
              </a:rPr>
              <a:t>a transparent, explainable pipeline from symptoms to a ranked hospital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  <p:sp>
        <p:nvSpPr>
          <p:cNvPr id="7" name="Stat1"/>
          <p:cNvSpPr/>
          <p:nvPr/>
        </p:nvSpPr>
        <p:spPr>
          <a:xfrm>
            <a:off x="8046720" y="1783080"/>
            <a:ext cx="3429000" cy="105156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 decisions</a:t>
            </a:r>
          </a:p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specialty + hospital</a:t>
            </a:r>
          </a:p>
        </p:txBody>
      </p:sp>
      <p:sp>
        <p:nvSpPr>
          <p:cNvPr id="8" name="Stat2"/>
          <p:cNvSpPr/>
          <p:nvPr/>
        </p:nvSpPr>
        <p:spPr>
          <a:xfrm>
            <a:off x="8046720" y="3017520"/>
            <a:ext cx="3429000" cy="1051560"/>
          </a:xfrm>
          <a:prstGeom prst="roundRect">
            <a:avLst>
              <a:gd name="adj" fmla="val 12000"/>
            </a:avLst>
          </a:prstGeom>
          <a:solidFill>
            <a:srgbClr val="2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 factors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match · resources · emergency · specialists · distance</a:t>
            </a:r>
          </a:p>
        </p:txBody>
      </p:sp>
      <p:sp>
        <p:nvSpPr>
          <p:cNvPr id="9" name="Stat3"/>
          <p:cNvSpPr/>
          <p:nvPr/>
        </p:nvSpPr>
        <p:spPr>
          <a:xfrm>
            <a:off x="8046720" y="4251960"/>
            <a:ext cx="3429000" cy="105156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 roles</a:t>
            </a:r>
          </a:p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patient · caretaker · hospital · admin</a:t>
            </a:r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Objectives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2" y="1691640"/>
            <a:ext cx="10698480" cy="4389120"/>
          </a:xfrm>
        </p:spPr>
        <p:txBody>
          <a:bodyPr/>
          <a:lstStyle/>
          <a:p>
            <a:pPr marL="342900" indent="-342900">
              <a:spcBef>
                <a:spcPts val="2000"/>
              </a:spcBef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Collect patient details, address and symptoms through a structured, validated form</a:t>
            </a:r>
          </a:p>
          <a:p>
            <a:pPr marL="342900" indent="-342900">
              <a:spcBef>
                <a:spcPts val="2000"/>
              </a:spcBef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Infer the required medical specialty from symptoms using transparent, weighted rules</a:t>
            </a:r>
          </a:p>
          <a:p>
            <a:pPr marL="342900" indent="-342900">
              <a:spcBef>
                <a:spcPts val="2000"/>
              </a:spcBef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Locate the patient and estimate distance to each hospital (Haversine)</a:t>
            </a:r>
          </a:p>
          <a:p>
            <a:pPr marL="342900" indent="-342900">
              <a:spcBef>
                <a:spcPts val="2000"/>
              </a:spcBef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Rank hospitals on specialty match, resources, emergency facilities and distance</a:t>
            </a:r>
          </a:p>
          <a:p>
            <a:pPr marL="342900" indent="-342900">
              <a:spcBef>
                <a:spcPts val="2000"/>
              </a:spcBef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Generate a referral and give the patient a route to the chosen hospital</a:t>
            </a:r>
          </a:p>
          <a:p>
            <a:pPr marL="342900" indent="-342900">
              <a:spcBef>
                <a:spcPts val="2000"/>
              </a:spcBef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Support patient, caretaker, hospital and admin workflows with reporting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3136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Abstract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2" y="1691640"/>
            <a:ext cx="10698480" cy="4389120"/>
          </a:xfrm>
        </p:spPr>
        <p:txBody>
          <a:bodyPr/>
          <a:lstStyle/>
          <a:p>
            <a:pPr marL="342900" indent="-342900">
              <a:spcBef>
                <a:spcPts val="1000"/>
              </a:spcBef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200" b="0" dirty="0">
                <a:solidFill>
                  <a:srgbClr val="000000"/>
                </a:solidFill>
                <a:latin typeface="Times New Roman"/>
                <a:cs typeface="Times New Roman"/>
              </a:rPr>
              <a:t>Referral needs more than a specialty label: the receiving hospital must also have the right services, emergency resources, staff and a reasonable distance.</a:t>
            </a:r>
          </a:p>
          <a:p>
            <a:pPr marL="342900" indent="-342900">
              <a:spcBef>
                <a:spcPts val="1000"/>
              </a:spcBef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200" b="0" dirty="0">
                <a:solidFill>
                  <a:srgbClr val="000000"/>
                </a:solidFill>
                <a:latin typeface="Times New Roman"/>
                <a:cs typeface="Times New Roman"/>
              </a:rPr>
              <a:t>This project is a browser-based prototype that links patient intake, rule-based symptom-to-specialty inference, hospital evaluation, distance estimation and referral generation.</a:t>
            </a:r>
          </a:p>
          <a:p>
            <a:pPr marL="342900" indent="-342900">
              <a:spcBef>
                <a:spcPts val="1000"/>
              </a:spcBef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200" b="0" dirty="0">
                <a:solidFill>
                  <a:srgbClr val="000000"/>
                </a:solidFill>
                <a:latin typeface="Times New Roman"/>
                <a:cs typeface="Times New Roman"/>
              </a:rPr>
              <a:t>Predefined symptom weights and existing-condition matches rank candidate specialties; the output carries a reason listing the matched symptoms.</a:t>
            </a:r>
          </a:p>
          <a:p>
            <a:pPr marL="342900" indent="-342900">
              <a:spcBef>
                <a:spcPts val="1000"/>
              </a:spcBef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200" b="0" dirty="0">
                <a:solidFill>
                  <a:srgbClr val="000000"/>
                </a:solidFill>
                <a:latin typeface="Times New Roman"/>
                <a:cs typeface="Times New Roman"/>
              </a:rPr>
              <a:t>Hospitals receive a score out of 100, and the patient gets a route map. Role-based screens and reports complete the workflow.</a:t>
            </a:r>
          </a:p>
          <a:p>
            <a:pPr marL="342900" indent="-342900">
              <a:spcBef>
                <a:spcPts val="1000"/>
              </a:spcBef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200" b="0" dirty="0">
                <a:solidFill>
                  <a:srgbClr val="000000"/>
                </a:solidFill>
                <a:latin typeface="Times New Roman"/>
                <a:cs typeface="Times New Roman"/>
              </a:rPr>
              <a:t>It is a proof of concept for classical AI, not a clinically validated diagnostic or triage tool.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483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533399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Literature Survey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7E4B40-F95E-47F4-B92E-06AFA2A01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7800344"/>
              </p:ext>
            </p:extLst>
          </p:nvPr>
        </p:nvGraphicFramePr>
        <p:xfrm>
          <a:off x="640080" y="1737360"/>
          <a:ext cx="10881360" cy="4075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 dirty="0"/>
                        <a:t>S. No</a:t>
                      </a:r>
                      <a:r>
                        <a:rPr sz="1600" dirty="0"/>
                        <a:t>.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 dirty="0"/>
                        <a:t>Author(s) &amp; Year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 dirty="0"/>
                        <a:t>Paper Title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 dirty="0"/>
                        <a:t>Methodology / Algorithm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 dirty="0"/>
                        <a:t>Limitations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800" dirty="0"/>
                        <a:t>1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i="0" kern="1200" dirty="0">
                          <a:solidFill>
                            <a:srgbClr val="2D343E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Chi, Street &amp; Ward  </a:t>
                      </a:r>
                      <a:r>
                        <a:rPr lang="en-IN" sz="1800" dirty="0"/>
                        <a:t>(2008)</a:t>
                      </a:r>
                      <a:endParaRPr sz="1600" dirty="0"/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US" sz="1800" b="0" i="0" kern="1200" dirty="0">
                          <a:solidFill>
                            <a:srgbClr val="2D343E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Hospital referral expert system (prediction + optimization)</a:t>
                      </a:r>
                      <a:endParaRPr lang="en-US" sz="1800" dirty="0"/>
                    </a:p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endParaRPr sz="1300" dirty="0"/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i="0" kern="1200" dirty="0">
                          <a:solidFill>
                            <a:srgbClr val="2D343E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ML classifiers + optimization</a:t>
                      </a:r>
                      <a:endParaRPr lang="en-IN" sz="1800" dirty="0"/>
                    </a:p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endParaRPr sz="1300" dirty="0"/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i="0" kern="1200" dirty="0">
                          <a:solidFill>
                            <a:srgbClr val="2D343E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Needs labelled data; black-box</a:t>
                      </a:r>
                      <a:endParaRPr lang="en-IN" sz="1800" dirty="0"/>
                    </a:p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endParaRPr sz="1300" dirty="0"/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800" dirty="0"/>
                        <a:t>2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i="0" kern="1200" dirty="0">
                          <a:solidFill>
                            <a:srgbClr val="2D343E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Abdel-Hafez</a:t>
                      </a:r>
                      <a:r>
                        <a:rPr lang="en-IN" sz="1800" dirty="0"/>
                        <a:t> et al. (2023)</a:t>
                      </a:r>
                    </a:p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endParaRPr sz="1600" dirty="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i="0" kern="1200" dirty="0">
                          <a:solidFill>
                            <a:srgbClr val="2D343E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AI referral triage using Clinical Prioritization Criteria</a:t>
                      </a:r>
                      <a:endParaRPr lang="en-IN" sz="1800" dirty="0"/>
                    </a:p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endParaRPr sz="1300" dirty="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US" sz="1800" b="0" i="0" kern="1200" dirty="0">
                          <a:solidFill>
                            <a:srgbClr val="2D343E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ML text classification of referral letters by urgency</a:t>
                      </a:r>
                      <a:endParaRPr lang="en-US" sz="1800" dirty="0"/>
                    </a:p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endParaRPr sz="1300" dirty="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US" sz="1800" b="0" i="0" kern="1200" dirty="0">
                          <a:solidFill>
                            <a:srgbClr val="2D343E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Moderate accuracy (53.8%); ENT only; not explainable</a:t>
                      </a:r>
                      <a:endParaRPr lang="en-US" sz="1800" dirty="0"/>
                    </a:p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endParaRPr sz="1300" dirty="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800" dirty="0"/>
                        <a:t>3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i="0" kern="1200" dirty="0">
                          <a:solidFill>
                            <a:srgbClr val="2D343E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Määttä </a:t>
                      </a:r>
                      <a:r>
                        <a:rPr lang="en-IN" sz="1800" dirty="0"/>
                        <a:t> et al. (2023)</a:t>
                      </a:r>
                    </a:p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endParaRPr sz="1300" dirty="0"/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US" sz="1800" b="0" i="0" kern="1200" dirty="0">
                          <a:solidFill>
                            <a:srgbClr val="2D343E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CDSS for triage in a hospital emergency department</a:t>
                      </a:r>
                      <a:endParaRPr lang="en-US" sz="1800" dirty="0"/>
                    </a:p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endParaRPr sz="1300" dirty="0"/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US" sz="1800" b="0" i="0" kern="1200" dirty="0">
                          <a:solidFill>
                            <a:srgbClr val="2D343E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Web form self-entry CDSS vs. physicians</a:t>
                      </a:r>
                      <a:endParaRPr lang="en-US" sz="1800" dirty="0"/>
                    </a:p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endParaRPr sz="1300" dirty="0"/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US" sz="1800" b="0" i="0" kern="1200" dirty="0">
                          <a:solidFill>
                            <a:srgbClr val="2D343E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Modest diagnosis accuracy; triage only, not hospital selection</a:t>
                      </a:r>
                      <a:endParaRPr lang="en-US" sz="1800" dirty="0"/>
                    </a:p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endParaRPr sz="1300" dirty="0"/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0445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533399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Literature Survey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6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7E4B40-F95E-47F4-B92E-06AFA2A01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231116"/>
              </p:ext>
            </p:extLst>
          </p:nvPr>
        </p:nvGraphicFramePr>
        <p:xfrm>
          <a:off x="640080" y="1737360"/>
          <a:ext cx="10881360" cy="2953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 dirty="0"/>
                        <a:t>S. No</a:t>
                      </a:r>
                      <a:r>
                        <a:rPr sz="1600" dirty="0"/>
                        <a:t>.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 dirty="0"/>
                        <a:t>Author(s) &amp; Year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 dirty="0"/>
                        <a:t>Paper Title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 dirty="0"/>
                        <a:t>Methodology / Algorithm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 dirty="0"/>
                        <a:t>Limitations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800" dirty="0"/>
                        <a:t>4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i="0" kern="1200" dirty="0">
                          <a:solidFill>
                            <a:srgbClr val="2D343E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Omotosho et al. (2016)</a:t>
                      </a:r>
                      <a:endParaRPr lang="en-IN" sz="1800" dirty="0"/>
                    </a:p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endParaRPr sz="1300" dirty="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i="0" kern="1200" dirty="0">
                          <a:solidFill>
                            <a:srgbClr val="2D343E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Patient-based hospital referral DSS</a:t>
                      </a:r>
                      <a:endParaRPr lang="en-IN" sz="1800" dirty="0"/>
                    </a:p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endParaRPr sz="1600" dirty="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it-IT" sz="1800" b="0" i="0" kern="1200" dirty="0">
                          <a:solidFill>
                            <a:srgbClr val="2D343E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Multi-attribute provider selection (14 criteria)</a:t>
                      </a:r>
                      <a:endParaRPr lang="it-IT" sz="1800" dirty="0"/>
                    </a:p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endParaRPr sz="1300" dirty="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US" sz="1800" b="0" i="0" kern="1200" dirty="0">
                          <a:solidFill>
                            <a:srgbClr val="2D343E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No symptom/urgency analysis; no live availability or tracking</a:t>
                      </a:r>
                      <a:endParaRPr lang="en-US" sz="1800" dirty="0"/>
                    </a:p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endParaRPr sz="1300" dirty="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US" sz="1800" dirty="0"/>
                        <a:t>5</a:t>
                      </a:r>
                      <a:endParaRPr sz="2800" dirty="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i="0" kern="1200" dirty="0" err="1">
                          <a:solidFill>
                            <a:srgbClr val="2D343E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Semigran</a:t>
                      </a:r>
                      <a:r>
                        <a:rPr lang="en-IN" sz="1800" b="0" i="0" kern="1200" dirty="0">
                          <a:solidFill>
                            <a:srgbClr val="2D343E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 et al. (2015)</a:t>
                      </a:r>
                      <a:endParaRPr lang="en-IN" sz="1800" dirty="0"/>
                    </a:p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endParaRPr sz="1300" dirty="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US" sz="1800" b="0" i="0" kern="1200" dirty="0">
                          <a:solidFill>
                            <a:srgbClr val="2D343E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Evaluation of online symptom checkers</a:t>
                      </a:r>
                      <a:endParaRPr lang="en-US" sz="1800" dirty="0"/>
                    </a:p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endParaRPr sz="1300" dirty="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US" sz="1800" b="0" i="0" kern="1200" dirty="0">
                          <a:solidFill>
                            <a:srgbClr val="2D343E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Audit of 23 symptom checkers, 45 vignettes</a:t>
                      </a:r>
                      <a:endParaRPr lang="en-US" sz="1800" dirty="0"/>
                    </a:p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endParaRPr sz="1300" dirty="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US" sz="1800" b="0" i="0" kern="1200" dirty="0">
                          <a:solidFill>
                            <a:srgbClr val="2D343E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Weak diagnosis (34%) and triage (57%); no hospital selection</a:t>
                      </a:r>
                      <a:endParaRPr lang="en-US" sz="1800" dirty="0"/>
                    </a:p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endParaRPr sz="1300" dirty="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2916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21953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Research Gap/Existing System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7</a:t>
            </a:fld>
            <a:endParaRPr lang="en-IN"/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F4FE7899-24E6-401C-9D46-CFAA1E243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2" y="1737360"/>
            <a:ext cx="5212080" cy="1828800"/>
          </a:xfrm>
          <a:prstGeom prst="roundRect">
            <a:avLst/>
          </a:prstGeom>
          <a:solidFill>
            <a:srgbClr val="EBF2FA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164592" rtlCol="0" anchor="ctr"/>
          <a:lstStyle/>
          <a:p>
            <a:pPr marL="0" indent="0" algn="ctr">
              <a:buNone/>
            </a:pPr>
            <a:r>
              <a:rPr sz="1800" b="1" dirty="0">
                <a:solidFill>
                  <a:srgbClr val="1F2A44"/>
                </a:solidFill>
              </a:rPr>
              <a:t>1. What existing studies do</a:t>
            </a:r>
          </a:p>
          <a:p>
            <a:pPr marL="0" indent="0" algn="l">
              <a:buNone/>
            </a:pPr>
            <a:r>
              <a:rPr sz="1500" dirty="0">
                <a:solidFill>
                  <a:srgbClr val="404040"/>
                </a:solidFill>
              </a:rPr>
              <a:t>Decision-support reviews and a hospital referral expert system use rules, statistics and optimisation to guide clinical or referral choices [1]–[4].</a:t>
            </a:r>
          </a:p>
        </p:txBody>
      </p:sp>
      <p:sp>
        <p:nvSpPr>
          <p:cNvPr id="21" name="Rounded Rectangle 4">
            <a:extLst>
              <a:ext uri="{FF2B5EF4-FFF2-40B4-BE49-F238E27FC236}">
                <a16:creationId xmlns:a16="http://schemas.microsoft.com/office/drawing/2014/main" id="{FF66DAF5-0B91-4093-BD89-5CE7615E431A}"/>
              </a:ext>
            </a:extLst>
          </p:cNvPr>
          <p:cNvSpPr/>
          <p:nvPr/>
        </p:nvSpPr>
        <p:spPr>
          <a:xfrm>
            <a:off x="6217920" y="1737360"/>
            <a:ext cx="5212080" cy="1828800"/>
          </a:xfrm>
          <a:prstGeom prst="roundRect">
            <a:avLst/>
          </a:prstGeom>
          <a:solidFill>
            <a:srgbClr val="F7F9FC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164592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193054"/>
                </a:solidFill>
                <a:latin typeface="Aptos Display"/>
              </a:defRPr>
            </a:pPr>
            <a:r>
              <a:rPr sz="1800" b="1" dirty="0"/>
              <a:t>2. Limitations observed</a:t>
            </a:r>
          </a:p>
          <a:p>
            <a:pPr>
              <a:spcBef>
                <a:spcPts val="200"/>
              </a:spcBef>
              <a:defRPr sz="1300">
                <a:solidFill>
                  <a:srgbClr val="2D343E"/>
                </a:solidFill>
                <a:latin typeface="Aptos"/>
              </a:defRPr>
            </a:pPr>
            <a:r>
              <a:rPr sz="1500" dirty="0"/>
              <a:t>Rule-based methods depend on matched conditions [3]; benefits vary and clinical effects are small [2]; explanations are debated [5].</a:t>
            </a:r>
          </a:p>
        </p:txBody>
      </p:sp>
      <p:sp>
        <p:nvSpPr>
          <p:cNvPr id="22" name="Rounded Rectangle 5">
            <a:extLst>
              <a:ext uri="{FF2B5EF4-FFF2-40B4-BE49-F238E27FC236}">
                <a16:creationId xmlns:a16="http://schemas.microsoft.com/office/drawing/2014/main" id="{85599EEB-0FFB-4C94-AB5E-41D5A47FE9B6}"/>
              </a:ext>
            </a:extLst>
          </p:cNvPr>
          <p:cNvSpPr/>
          <p:nvPr/>
        </p:nvSpPr>
        <p:spPr>
          <a:xfrm>
            <a:off x="758952" y="3749039"/>
            <a:ext cx="5212080" cy="1828800"/>
          </a:xfrm>
          <a:prstGeom prst="roundRect">
            <a:avLst/>
          </a:prstGeom>
          <a:solidFill>
            <a:srgbClr val="EBF2FA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164592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193054"/>
                </a:solidFill>
                <a:latin typeface="Aptos Display"/>
              </a:defRPr>
            </a:pPr>
            <a:r>
              <a:rPr sz="1800" b="1" dirty="0"/>
              <a:t>3. Research gap</a:t>
            </a:r>
          </a:p>
          <a:p>
            <a:pPr>
              <a:spcBef>
                <a:spcPts val="200"/>
              </a:spcBef>
              <a:defRPr sz="1300">
                <a:solidFill>
                  <a:srgbClr val="2D343E"/>
                </a:solidFill>
                <a:latin typeface="Aptos"/>
              </a:defRPr>
            </a:pPr>
            <a:r>
              <a:rPr sz="1500" dirty="0"/>
              <a:t>Few simple, explainable systems join symptom-to-specialty inference with hospital ranking, distance and roles in one visible workflow.</a:t>
            </a:r>
          </a:p>
        </p:txBody>
      </p:sp>
      <p:sp>
        <p:nvSpPr>
          <p:cNvPr id="24" name="Rounded Rectangle 6">
            <a:extLst>
              <a:ext uri="{FF2B5EF4-FFF2-40B4-BE49-F238E27FC236}">
                <a16:creationId xmlns:a16="http://schemas.microsoft.com/office/drawing/2014/main" id="{C31116F3-B074-468F-82D6-F9C068878439}"/>
              </a:ext>
            </a:extLst>
          </p:cNvPr>
          <p:cNvSpPr/>
          <p:nvPr/>
        </p:nvSpPr>
        <p:spPr>
          <a:xfrm>
            <a:off x="6217920" y="3749039"/>
            <a:ext cx="5212080" cy="1828800"/>
          </a:xfrm>
          <a:prstGeom prst="roundRect">
            <a:avLst/>
          </a:prstGeom>
          <a:solidFill>
            <a:srgbClr val="F7F9FC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164592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193054"/>
                </a:solidFill>
                <a:latin typeface="Aptos Display"/>
              </a:defRPr>
            </a:pPr>
            <a:r>
              <a:rPr sz="1800" b="1" dirty="0"/>
              <a:t>4. How our project responds</a:t>
            </a:r>
          </a:p>
          <a:p>
            <a:pPr>
              <a:spcBef>
                <a:spcPts val="200"/>
              </a:spcBef>
              <a:defRPr sz="1300">
                <a:solidFill>
                  <a:srgbClr val="2D343E"/>
                </a:solidFill>
                <a:latin typeface="Aptos"/>
              </a:defRPr>
            </a:pPr>
            <a:r>
              <a:rPr sz="1500" dirty="0"/>
              <a:t>One pipeline: weighted symptom rules → specialty → hospital score → referral and route, with matched symptoms shown as the reason.</a:t>
            </a:r>
          </a:p>
        </p:txBody>
      </p:sp>
    </p:spTree>
    <p:extLst>
      <p:ext uri="{BB962C8B-B14F-4D97-AF65-F5344CB8AC3E}">
        <p14:creationId xmlns:p14="http://schemas.microsoft.com/office/powerpoint/2010/main" val="4631508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Proposed System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2" y="1691640"/>
            <a:ext cx="5760720" cy="4389120"/>
          </a:xfrm>
        </p:spPr>
        <p:txBody>
          <a:bodyPr/>
          <a:lstStyle/>
          <a:p>
            <a:pPr marL="342900" indent="-342900">
              <a:spcBef>
                <a:spcPts val="900"/>
              </a:spcBef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Rule-based AI: </a:t>
            </a:r>
            <a:r>
              <a:rPr lang="en-IN" sz="2000" b="0" dirty="0">
                <a:solidFill>
                  <a:srgbClr val="000000"/>
                </a:solidFill>
                <a:latin typeface="Times New Roman"/>
                <a:cs typeface="Times New Roman"/>
              </a:rPr>
              <a:t>21 tick-box symptoms and 6 existing conditions are scored against 5 specialties</a:t>
            </a:r>
          </a:p>
          <a:p>
            <a:pPr marL="342900" indent="-342900">
              <a:spcBef>
                <a:spcPts val="900"/>
              </a:spcBef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Explainable: </a:t>
            </a:r>
            <a:r>
              <a:rPr lang="en-IN" sz="2000" b="0" dirty="0">
                <a:solidFill>
                  <a:srgbClr val="000000"/>
                </a:solidFill>
                <a:latin typeface="Times New Roman"/>
                <a:cs typeface="Times New Roman"/>
              </a:rPr>
              <a:t>the reason lists the exact symptoms that matched</a:t>
            </a:r>
          </a:p>
          <a:p>
            <a:pPr marL="342900" indent="-342900">
              <a:spcBef>
                <a:spcPts val="900"/>
              </a:spcBef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Multi-criteria ranking: </a:t>
            </a:r>
            <a:r>
              <a:rPr lang="en-IN" sz="2000" b="0" dirty="0">
                <a:solidFill>
                  <a:srgbClr val="000000"/>
                </a:solidFill>
                <a:latin typeface="Times New Roman"/>
                <a:cs typeface="Times New Roman"/>
              </a:rPr>
              <a:t>5 sample hospitals scored out of 100</a:t>
            </a:r>
          </a:p>
          <a:p>
            <a:pPr marL="342900" indent="-342900">
              <a:spcBef>
                <a:spcPts val="900"/>
              </a:spcBef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Location aware: </a:t>
            </a:r>
            <a:r>
              <a:rPr lang="en-IN" sz="2000" b="0" dirty="0">
                <a:solidFill>
                  <a:srgbClr val="000000"/>
                </a:solidFill>
                <a:latin typeface="Times New Roman"/>
                <a:cs typeface="Times New Roman"/>
              </a:rPr>
              <a:t>Chennai area dictionary, Nominatim fallback, Haversine distance</a:t>
            </a:r>
          </a:p>
          <a:p>
            <a:pPr marL="342900" indent="-342900">
              <a:spcBef>
                <a:spcPts val="900"/>
              </a:spcBef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Human in the loop: </a:t>
            </a:r>
            <a:r>
              <a:rPr lang="en-IN" sz="2000" b="0" dirty="0">
                <a:solidFill>
                  <a:srgbClr val="000000"/>
                </a:solidFill>
                <a:latin typeface="Times New Roman"/>
                <a:cs typeface="Times New Roman"/>
              </a:rPr>
              <a:t>a caretaker reviews and generates the referral</a:t>
            </a:r>
          </a:p>
          <a:p>
            <a:pPr marL="342900" indent="-342900">
              <a:spcBef>
                <a:spcPts val="900"/>
              </a:spcBef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Route guidance: </a:t>
            </a:r>
            <a:r>
              <a:rPr lang="en-IN" sz="2000" b="0" dirty="0">
                <a:solidFill>
                  <a:srgbClr val="000000"/>
                </a:solidFill>
                <a:latin typeface="Times New Roman"/>
                <a:cs typeface="Times New Roman"/>
              </a:rPr>
              <a:t>OSRM route options plus a Google Maps live-traffic link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8</a:t>
            </a:fld>
            <a:endParaRPr lang="en-IN"/>
          </a:p>
        </p:txBody>
      </p:sp>
      <p:sp>
        <p:nvSpPr>
          <p:cNvPr id="7" name="Stage1"/>
          <p:cNvSpPr/>
          <p:nvPr/>
        </p:nvSpPr>
        <p:spPr>
          <a:xfrm>
            <a:off x="6949440" y="1783080"/>
            <a:ext cx="4480560" cy="777240"/>
          </a:xfrm>
          <a:prstGeom prst="roundRect">
            <a:avLst>
              <a:gd name="adj" fmla="val 12000"/>
            </a:avLst>
          </a:prstGeom>
          <a:solidFill>
            <a:srgbClr val="2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Symptoms + conditions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89720" y="2560320"/>
            <a:ext cx="0" cy="320040"/>
          </a:xfrm>
          <a:prstGeom prst="line">
            <a:avLst/>
          </a:prstGeom>
          <a:ln w="22225">
            <a:solidFill>
              <a:srgbClr val="1F2A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tage2"/>
          <p:cNvSpPr/>
          <p:nvPr/>
        </p:nvSpPr>
        <p:spPr>
          <a:xfrm>
            <a:off x="6949440" y="2880360"/>
            <a:ext cx="4480560" cy="777240"/>
          </a:xfrm>
          <a:prstGeom prst="roundRect">
            <a:avLst>
              <a:gd name="adj" fmla="val 12000"/>
            </a:avLst>
          </a:prstGeom>
          <a:solidFill>
            <a:srgbClr val="2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Specialty + reason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89720" y="3657600"/>
            <a:ext cx="0" cy="320039"/>
          </a:xfrm>
          <a:prstGeom prst="line">
            <a:avLst/>
          </a:prstGeom>
          <a:ln w="22225">
            <a:solidFill>
              <a:srgbClr val="1F2A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ge3"/>
          <p:cNvSpPr/>
          <p:nvPr/>
        </p:nvSpPr>
        <p:spPr>
          <a:xfrm>
            <a:off x="6949440" y="3977639"/>
            <a:ext cx="4480560" cy="777240"/>
          </a:xfrm>
          <a:prstGeom prst="roundRect">
            <a:avLst>
              <a:gd name="adj" fmla="val 12000"/>
            </a:avLst>
          </a:prstGeom>
          <a:solidFill>
            <a:srgbClr val="2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Hospital score /100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89720" y="4754879"/>
            <a:ext cx="0" cy="320041"/>
          </a:xfrm>
          <a:prstGeom prst="line">
            <a:avLst/>
          </a:prstGeom>
          <a:ln w="22225">
            <a:solidFill>
              <a:srgbClr val="1F2A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ge4"/>
          <p:cNvSpPr/>
          <p:nvPr/>
        </p:nvSpPr>
        <p:spPr>
          <a:xfrm>
            <a:off x="6949440" y="5074920"/>
            <a:ext cx="4480560" cy="77724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Referral + route</a:t>
            </a:r>
          </a:p>
        </p:txBody>
      </p:sp>
    </p:spTree>
    <p:extLst>
      <p:ext uri="{BB962C8B-B14F-4D97-AF65-F5344CB8AC3E}">
        <p14:creationId xmlns:p14="http://schemas.microsoft.com/office/powerpoint/2010/main" val="1839677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DFD Diagram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9</a:t>
            </a:fld>
            <a:endParaRPr lang="en-IN"/>
          </a:p>
        </p:txBody>
      </p:sp>
      <p:sp>
        <p:nvSpPr>
          <p:cNvPr id="7" name="LegendProcess"/>
          <p:cNvSpPr/>
          <p:nvPr/>
        </p:nvSpPr>
        <p:spPr>
          <a:xfrm>
            <a:off x="9052560" y="1783080"/>
            <a:ext cx="2377440" cy="365760"/>
          </a:xfrm>
          <a:prstGeom prst="roundRect">
            <a:avLst>
              <a:gd name="adj" fmla="val 12000"/>
            </a:avLst>
          </a:prstGeom>
          <a:solidFill>
            <a:srgbClr val="2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Process</a:t>
            </a:r>
          </a:p>
        </p:txBody>
      </p:sp>
      <p:sp>
        <p:nvSpPr>
          <p:cNvPr id="8" name="LegendStore"/>
          <p:cNvSpPr/>
          <p:nvPr/>
        </p:nvSpPr>
        <p:spPr>
          <a:xfrm>
            <a:off x="9052560" y="2240280"/>
            <a:ext cx="2377440" cy="365760"/>
          </a:xfrm>
          <a:prstGeom prst="rect">
            <a:avLst/>
          </a:prstGeom>
          <a:solidFill>
            <a:srgbClr val="F3F5F9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Data store</a:t>
            </a:r>
          </a:p>
        </p:txBody>
      </p:sp>
      <p:sp>
        <p:nvSpPr>
          <p:cNvPr id="9" name="LegendEntity"/>
          <p:cNvSpPr/>
          <p:nvPr/>
        </p:nvSpPr>
        <p:spPr>
          <a:xfrm>
            <a:off x="9052560" y="2697480"/>
            <a:ext cx="2377440" cy="365760"/>
          </a:xfrm>
          <a:prstGeom prst="rect">
            <a:avLst/>
          </a:prstGeom>
          <a:solidFill>
            <a:srgbClr val="FFFFFF"/>
          </a:solidFill>
          <a:ln w="1587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External 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3108960"/>
            <a:ext cx="237744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200" b="0" i="1">
                <a:solidFill>
                  <a:srgbClr val="595959"/>
                </a:solidFill>
                <a:latin typeface="Calibri"/>
              </a:rPr>
              <a:t>DFD Level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155448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Calibri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88920"/>
            <a:ext cx="155448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Calibri"/>
              </a:rPr>
              <a:t>Caretaker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794760"/>
            <a:ext cx="155448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Calibri"/>
              </a:rPr>
              <a:t>Hospital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1783080"/>
            <a:ext cx="2194560" cy="777240"/>
          </a:xfrm>
          <a:prstGeom prst="roundRect">
            <a:avLst>
              <a:gd name="adj" fmla="val 12000"/>
            </a:avLst>
          </a:prstGeom>
          <a:solidFill>
            <a:srgbClr val="2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1. Login, Intake &amp; Geocoding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2788920"/>
            <a:ext cx="2194560" cy="777240"/>
          </a:xfrm>
          <a:prstGeom prst="roundRect">
            <a:avLst>
              <a:gd name="adj" fmla="val 12000"/>
            </a:avLst>
          </a:prstGeom>
          <a:solidFill>
            <a:srgbClr val="2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2. Rule-Based Symptom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3794760"/>
            <a:ext cx="2194560" cy="777240"/>
          </a:xfrm>
          <a:prstGeom prst="roundRect">
            <a:avLst>
              <a:gd name="adj" fmla="val 12000"/>
            </a:avLst>
          </a:prstGeom>
          <a:solidFill>
            <a:srgbClr val="2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3. Hospital Evaluation &amp; Ranking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4800600"/>
            <a:ext cx="2194560" cy="777240"/>
          </a:xfrm>
          <a:prstGeom prst="roundRect">
            <a:avLst>
              <a:gd name="adj" fmla="val 12000"/>
            </a:avLst>
          </a:prstGeom>
          <a:solidFill>
            <a:srgbClr val="2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4. Referral Generation &amp; Routing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2194560"/>
            <a:ext cx="2011680" cy="777240"/>
          </a:xfrm>
          <a:prstGeom prst="rect">
            <a:avLst/>
          </a:prstGeom>
          <a:solidFill>
            <a:srgbClr val="F3F5F9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D1  Patient Registry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3794760"/>
            <a:ext cx="2011680" cy="777240"/>
          </a:xfrm>
          <a:prstGeom prst="rect">
            <a:avLst/>
          </a:prstGeom>
          <a:solidFill>
            <a:srgbClr val="F3F5F9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D2  Hospital Records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4800600"/>
            <a:ext cx="2011680" cy="777240"/>
          </a:xfrm>
          <a:prstGeom prst="rect">
            <a:avLst/>
          </a:prstGeom>
          <a:solidFill>
            <a:srgbClr val="F3F5F9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D3  Referrals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4800600"/>
            <a:ext cx="2194560" cy="777240"/>
          </a:xfrm>
          <a:prstGeom prst="roundRect">
            <a:avLst>
              <a:gd name="adj" fmla="val 12000"/>
            </a:avLst>
          </a:prstGeom>
          <a:solidFill>
            <a:srgbClr val="2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5. Reports &amp; Dashboard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3657600"/>
            <a:ext cx="155448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Calibri"/>
              </a:rPr>
              <a:t>Admin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331720" y="2171700"/>
            <a:ext cx="914400" cy="0"/>
          </a:xfrm>
          <a:prstGeom prst="line">
            <a:avLst/>
          </a:prstGeom>
          <a:ln w="22225">
            <a:solidFill>
              <a:srgbClr val="1F2A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377440" y="1828800"/>
            <a:ext cx="8686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details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331720" y="3177540"/>
            <a:ext cx="914400" cy="0"/>
          </a:xfrm>
          <a:prstGeom prst="line">
            <a:avLst/>
          </a:prstGeom>
          <a:ln w="22225">
            <a:solidFill>
              <a:srgbClr val="1F2A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377440" y="2834640"/>
            <a:ext cx="8686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review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331720" y="4183380"/>
            <a:ext cx="914400" cy="0"/>
          </a:xfrm>
          <a:prstGeom prst="line">
            <a:avLst/>
          </a:prstGeom>
          <a:ln w="22225">
            <a:solidFill>
              <a:srgbClr val="1F2A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359152" y="3840480"/>
            <a:ext cx="886968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facility info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40680" y="2171700"/>
            <a:ext cx="1143000" cy="297180"/>
          </a:xfrm>
          <a:prstGeom prst="line">
            <a:avLst/>
          </a:prstGeom>
          <a:ln w="22225">
            <a:solidFill>
              <a:srgbClr val="1F2A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5440680" y="2743200"/>
            <a:ext cx="1143000" cy="320040"/>
          </a:xfrm>
          <a:prstGeom prst="line">
            <a:avLst/>
          </a:prstGeom>
          <a:ln w="22225">
            <a:solidFill>
              <a:srgbClr val="1F2A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577840" y="1965960"/>
            <a:ext cx="9144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save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5440680" y="4183380"/>
            <a:ext cx="1143000" cy="0"/>
          </a:xfrm>
          <a:prstGeom prst="line">
            <a:avLst/>
          </a:prstGeom>
          <a:ln w="22225">
            <a:solidFill>
              <a:srgbClr val="1F2A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532120" y="3840480"/>
            <a:ext cx="100584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hospital data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343400" y="3566160"/>
            <a:ext cx="0" cy="228600"/>
          </a:xfrm>
          <a:prstGeom prst="line">
            <a:avLst/>
          </a:prstGeom>
          <a:ln w="22225">
            <a:solidFill>
              <a:srgbClr val="1F2A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343400" y="4572000"/>
            <a:ext cx="0" cy="228600"/>
          </a:xfrm>
          <a:prstGeom prst="line">
            <a:avLst/>
          </a:prstGeom>
          <a:ln w="22225">
            <a:solidFill>
              <a:srgbClr val="1F2A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440680" y="5189220"/>
            <a:ext cx="1143000" cy="0"/>
          </a:xfrm>
          <a:prstGeom prst="line">
            <a:avLst/>
          </a:prstGeom>
          <a:ln w="22225">
            <a:solidFill>
              <a:srgbClr val="1F2A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577840" y="4846320"/>
            <a:ext cx="9144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store</a:t>
            </a:r>
          </a:p>
        </p:txBody>
      </p:sp>
      <p:cxnSp>
        <p:nvCxnSpPr>
          <p:cNvPr id="38" name="Connector 37"/>
          <p:cNvCxnSpPr/>
          <p:nvPr/>
        </p:nvCxnSpPr>
        <p:spPr>
          <a:xfrm flipH="1" flipV="1">
            <a:off x="1554480" y="4572000"/>
            <a:ext cx="1691640" cy="731520"/>
          </a:xfrm>
          <a:prstGeom prst="line">
            <a:avLst/>
          </a:prstGeom>
          <a:ln w="22225">
            <a:solidFill>
              <a:srgbClr val="1F2A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22960" y="4983480"/>
            <a:ext cx="12801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referral queue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595360" y="5189220"/>
            <a:ext cx="731520" cy="0"/>
          </a:xfrm>
          <a:prstGeom prst="line">
            <a:avLst/>
          </a:prstGeom>
          <a:ln w="22225">
            <a:solidFill>
              <a:srgbClr val="1F2A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0378440" y="4434840"/>
            <a:ext cx="0" cy="365760"/>
          </a:xfrm>
          <a:prstGeom prst="line">
            <a:avLst/>
          </a:prstGeom>
          <a:ln w="22225">
            <a:solidFill>
              <a:srgbClr val="1F2A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0469880" y="4480560"/>
            <a:ext cx="9144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reports</a:t>
            </a:r>
          </a:p>
        </p:txBody>
      </p:sp>
    </p:spTree>
    <p:extLst>
      <p:ext uri="{BB962C8B-B14F-4D97-AF65-F5344CB8AC3E}">
        <p14:creationId xmlns:p14="http://schemas.microsoft.com/office/powerpoint/2010/main" val="1066777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Methodology/Work Flow Diagram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10</a:t>
            </a:fld>
            <a:endParaRPr lang="en-IN"/>
          </a:p>
        </p:txBody>
      </p:sp>
      <p:sp>
        <p:nvSpPr>
          <p:cNvPr id="7" name="Step1"/>
          <p:cNvSpPr/>
          <p:nvPr/>
        </p:nvSpPr>
        <p:spPr>
          <a:xfrm>
            <a:off x="685800" y="1828800"/>
            <a:ext cx="1874519" cy="868680"/>
          </a:xfrm>
          <a:prstGeom prst="homePlate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  Register / 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1645920" cy="1737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Patient registers with phone + password; roles log in with ID</a:t>
            </a:r>
          </a:p>
        </p:txBody>
      </p:sp>
      <p:sp>
        <p:nvSpPr>
          <p:cNvPr id="9" name="Step2"/>
          <p:cNvSpPr/>
          <p:nvPr/>
        </p:nvSpPr>
        <p:spPr>
          <a:xfrm>
            <a:off x="2468880" y="1828800"/>
            <a:ext cx="1874519" cy="868680"/>
          </a:xfrm>
          <a:prstGeom prst="chevron">
            <a:avLst/>
          </a:prstGeom>
          <a:solidFill>
            <a:srgbClr val="2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  Patient Intake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880360"/>
            <a:ext cx="1645920" cy="1737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Age, gender, pain hours, emergency level, area, symptoms, conditions</a:t>
            </a:r>
          </a:p>
        </p:txBody>
      </p:sp>
      <p:sp>
        <p:nvSpPr>
          <p:cNvPr id="11" name="Step3"/>
          <p:cNvSpPr/>
          <p:nvPr/>
        </p:nvSpPr>
        <p:spPr>
          <a:xfrm>
            <a:off x="4251960" y="1828800"/>
            <a:ext cx="1874519" cy="868680"/>
          </a:xfrm>
          <a:prstGeom prst="chevron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  Geocode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880360"/>
            <a:ext cx="1645920" cy="1737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Area looked up locally, else Nominatim; coordinates saved</a:t>
            </a:r>
          </a:p>
        </p:txBody>
      </p:sp>
      <p:sp>
        <p:nvSpPr>
          <p:cNvPr id="13" name="Step4"/>
          <p:cNvSpPr/>
          <p:nvPr/>
        </p:nvSpPr>
        <p:spPr>
          <a:xfrm>
            <a:off x="6035040" y="1828800"/>
            <a:ext cx="1874519" cy="868680"/>
          </a:xfrm>
          <a:prstGeom prst="chevron">
            <a:avLst/>
          </a:prstGeom>
          <a:solidFill>
            <a:srgbClr val="2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  AI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9" y="2880360"/>
            <a:ext cx="1645920" cy="1737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Weighted symptom rules give specialty, severity and reason</a:t>
            </a:r>
          </a:p>
        </p:txBody>
      </p:sp>
      <p:sp>
        <p:nvSpPr>
          <p:cNvPr id="15" name="Step5"/>
          <p:cNvSpPr/>
          <p:nvPr/>
        </p:nvSpPr>
        <p:spPr>
          <a:xfrm>
            <a:off x="7818120" y="1828800"/>
            <a:ext cx="1874519" cy="868680"/>
          </a:xfrm>
          <a:prstGeom prst="chevron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  Evaluate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880360"/>
            <a:ext cx="1645920" cy="1737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Each hospital scored out of 100 and sorted</a:t>
            </a:r>
          </a:p>
        </p:txBody>
      </p:sp>
      <p:sp>
        <p:nvSpPr>
          <p:cNvPr id="17" name="Step6"/>
          <p:cNvSpPr/>
          <p:nvPr/>
        </p:nvSpPr>
        <p:spPr>
          <a:xfrm>
            <a:off x="9601200" y="1828800"/>
            <a:ext cx="1874519" cy="868680"/>
          </a:xfrm>
          <a:prstGeom prst="chevron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  Refer &amp; Route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880360"/>
            <a:ext cx="1645920" cy="1737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Top hospital stored as REF-ID; route map for the patient</a:t>
            </a:r>
          </a:p>
        </p:txBody>
      </p:sp>
      <p:sp>
        <p:nvSpPr>
          <p:cNvPr id="19" name="CaretakerNote"/>
          <p:cNvSpPr/>
          <p:nvPr/>
        </p:nvSpPr>
        <p:spPr>
          <a:xfrm>
            <a:off x="777240" y="4617720"/>
            <a:ext cx="10607040" cy="109728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587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700" b="1">
                <a:solidFill>
                  <a:srgbClr val="000000"/>
                </a:solidFill>
                <a:latin typeface="Calibri"/>
              </a:rPr>
              <a:t>Caretaker loop: </a:t>
            </a:r>
            <a:r>
              <a:rPr sz="1700" b="0">
                <a:solidFill>
                  <a:srgbClr val="000000"/>
                </a:solidFill>
                <a:latin typeface="Calibri"/>
              </a:rPr>
              <a:t>urgent (Critical / High) unassigned patients appear first; a caretaker clicks Take Patient, runs the analysis and approves the referral; the hospital then sees the patient in its queue with distance in km.</a:t>
            </a:r>
          </a:p>
        </p:txBody>
      </p:sp>
    </p:spTree>
    <p:extLst>
      <p:ext uri="{BB962C8B-B14F-4D97-AF65-F5344CB8AC3E}">
        <p14:creationId xmlns:p14="http://schemas.microsoft.com/office/powerpoint/2010/main" val="2967815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Tools and Technologies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11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758952" y="1600200"/>
            <a:ext cx="106984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Calibri"/>
              </a:rPr>
              <a:t>Programming languages, frameworks, software, hardware, and datasets</a:t>
            </a:r>
          </a:p>
        </p:txBody>
      </p:sp>
      <p:sp>
        <p:nvSpPr>
          <p:cNvPr id="8" name="Tool1"/>
          <p:cNvSpPr/>
          <p:nvPr/>
        </p:nvSpPr>
        <p:spPr>
          <a:xfrm>
            <a:off x="758952" y="2103120"/>
            <a:ext cx="3429000" cy="178308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587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800" b="1">
                <a:solidFill>
                  <a:srgbClr val="C00000"/>
                </a:solidFill>
                <a:latin typeface="Calibri"/>
              </a:rPr>
              <a:t>Languages</a:t>
            </a:r>
          </a:p>
          <a:p>
            <a:pPr algn="ctr"/>
            <a:r>
              <a:rPr sz="1600" b="0">
                <a:solidFill>
                  <a:srgbClr val="000000"/>
                </a:solidFill>
                <a:latin typeface="Calibri"/>
              </a:rPr>
              <a:t>HTML5 · CSS3 · JavaScript (ES6)</a:t>
            </a:r>
          </a:p>
        </p:txBody>
      </p:sp>
      <p:sp>
        <p:nvSpPr>
          <p:cNvPr id="9" name="Tool2"/>
          <p:cNvSpPr/>
          <p:nvPr/>
        </p:nvSpPr>
        <p:spPr>
          <a:xfrm>
            <a:off x="4370832" y="2103120"/>
            <a:ext cx="3429000" cy="178308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587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800" b="1">
                <a:solidFill>
                  <a:srgbClr val="C00000"/>
                </a:solidFill>
                <a:latin typeface="Calibri"/>
              </a:rPr>
              <a:t>UI Libraries</a:t>
            </a:r>
          </a:p>
          <a:p>
            <a:pPr algn="ctr"/>
            <a:r>
              <a:rPr sz="1600" b="0">
                <a:solidFill>
                  <a:srgbClr val="000000"/>
                </a:solidFill>
                <a:latin typeface="Calibri"/>
              </a:rPr>
              <a:t>Font Awesome 6.5 · Google Fonts (Inter, Manrope) · liquid-glass CSS theme</a:t>
            </a:r>
          </a:p>
        </p:txBody>
      </p:sp>
      <p:sp>
        <p:nvSpPr>
          <p:cNvPr id="10" name="Tool3"/>
          <p:cNvSpPr/>
          <p:nvPr/>
        </p:nvSpPr>
        <p:spPr>
          <a:xfrm>
            <a:off x="7982712" y="2103120"/>
            <a:ext cx="3429000" cy="178308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587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800" b="1">
                <a:solidFill>
                  <a:srgbClr val="C00000"/>
                </a:solidFill>
                <a:latin typeface="Calibri"/>
              </a:rPr>
              <a:t>Maps &amp; Location</a:t>
            </a:r>
          </a:p>
          <a:p>
            <a:pPr algn="ctr"/>
            <a:r>
              <a:rPr sz="1600" b="0">
                <a:solidFill>
                  <a:srgbClr val="000000"/>
                </a:solidFill>
                <a:latin typeface="Calibri"/>
              </a:rPr>
              <a:t>Leaflet 1.9.4 · OpenStreetMap tiles · Nominatim geocoding · OSRM routing</a:t>
            </a:r>
          </a:p>
        </p:txBody>
      </p:sp>
      <p:sp>
        <p:nvSpPr>
          <p:cNvPr id="11" name="Tool4"/>
          <p:cNvSpPr/>
          <p:nvPr/>
        </p:nvSpPr>
        <p:spPr>
          <a:xfrm>
            <a:off x="758952" y="4069079"/>
            <a:ext cx="3429000" cy="178308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587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800" b="1">
                <a:solidFill>
                  <a:srgbClr val="C00000"/>
                </a:solidFill>
                <a:latin typeface="Calibri"/>
              </a:rPr>
              <a:t>Algorithms</a:t>
            </a:r>
          </a:p>
          <a:p>
            <a:pPr algn="ctr"/>
            <a:r>
              <a:rPr sz="1600" b="0">
                <a:solidFill>
                  <a:srgbClr val="000000"/>
                </a:solidFill>
                <a:latin typeface="Calibri"/>
              </a:rPr>
              <a:t>Weighted keyword rules · multi-criteria scoring · Haversine distance</a:t>
            </a:r>
          </a:p>
        </p:txBody>
      </p:sp>
      <p:sp>
        <p:nvSpPr>
          <p:cNvPr id="12" name="Tool5"/>
          <p:cNvSpPr/>
          <p:nvPr/>
        </p:nvSpPr>
        <p:spPr>
          <a:xfrm>
            <a:off x="4370832" y="4069079"/>
            <a:ext cx="3429000" cy="178308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587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800" b="1">
                <a:solidFill>
                  <a:srgbClr val="C00000"/>
                </a:solidFill>
                <a:latin typeface="Calibri"/>
              </a:rPr>
              <a:t>Storage</a:t>
            </a:r>
          </a:p>
          <a:p>
            <a:pPr algn="ctr"/>
            <a:r>
              <a:rPr sz="1600" b="0">
                <a:solidFill>
                  <a:srgbClr val="000000"/>
                </a:solidFill>
                <a:latin typeface="Calibri"/>
              </a:rPr>
              <a:t>Browser localStorage (patients, referrals, counters); demo only</a:t>
            </a:r>
          </a:p>
        </p:txBody>
      </p:sp>
      <p:sp>
        <p:nvSpPr>
          <p:cNvPr id="13" name="Tool6"/>
          <p:cNvSpPr/>
          <p:nvPr/>
        </p:nvSpPr>
        <p:spPr>
          <a:xfrm>
            <a:off x="7982712" y="4069079"/>
            <a:ext cx="3429000" cy="178308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587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800" b="1">
                <a:solidFill>
                  <a:srgbClr val="C00000"/>
                </a:solidFill>
                <a:latin typeface="Calibri"/>
              </a:rPr>
              <a:t>Hardware &amp; Data</a:t>
            </a:r>
          </a:p>
          <a:p>
            <a:pPr algn="ctr"/>
            <a:r>
              <a:rPr sz="1600" b="0">
                <a:solidFill>
                  <a:srgbClr val="000000"/>
                </a:solidFill>
                <a:latin typeface="Calibri"/>
              </a:rPr>
              <a:t>Any modern browser; 5 sample hospitals, 8 caretakers, 12 synthetic patients</a:t>
            </a:r>
          </a:p>
        </p:txBody>
      </p:sp>
    </p:spTree>
    <p:extLst>
      <p:ext uri="{BB962C8B-B14F-4D97-AF65-F5344CB8AC3E}">
        <p14:creationId xmlns:p14="http://schemas.microsoft.com/office/powerpoint/2010/main" val="3478475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List of Modules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12</a:t>
            </a:fld>
            <a:endParaRPr lang="en-IN"/>
          </a:p>
        </p:txBody>
      </p:sp>
      <p:sp>
        <p:nvSpPr>
          <p:cNvPr id="7" name="Module1"/>
          <p:cNvSpPr/>
          <p:nvPr/>
        </p:nvSpPr>
        <p:spPr>
          <a:xfrm>
            <a:off x="758952" y="2011680"/>
            <a:ext cx="2011680" cy="338328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sz="1700" b="1">
                <a:solidFill>
                  <a:srgbClr val="FFFFFF"/>
                </a:solidFill>
                <a:latin typeface="Calibri"/>
              </a:rPr>
              <a:t>Patient Data Collection</a:t>
            </a:r>
          </a:p>
          <a:p>
            <a:pPr algn="ctr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login, registration, intake, geocoding</a:t>
            </a:r>
          </a:p>
        </p:txBody>
      </p:sp>
      <p:sp>
        <p:nvSpPr>
          <p:cNvPr id="8" name="Module2"/>
          <p:cNvSpPr/>
          <p:nvPr/>
        </p:nvSpPr>
        <p:spPr>
          <a:xfrm>
            <a:off x="2926080" y="2011680"/>
            <a:ext cx="2011680" cy="3383280"/>
          </a:xfrm>
          <a:prstGeom prst="roundRect">
            <a:avLst>
              <a:gd name="adj" fmla="val 12000"/>
            </a:avLst>
          </a:prstGeom>
          <a:solidFill>
            <a:srgbClr val="2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2</a:t>
            </a:r>
          </a:p>
          <a:p>
            <a:pPr algn="ctr">
              <a:spcBef>
                <a:spcPts val="600"/>
              </a:spcBef>
            </a:pPr>
            <a:r>
              <a:rPr sz="1700" b="1">
                <a:solidFill>
                  <a:srgbClr val="FFFFFF"/>
                </a:solidFill>
                <a:latin typeface="Calibri"/>
              </a:rPr>
              <a:t>Rule-Based AI Analysis</a:t>
            </a:r>
          </a:p>
          <a:p>
            <a:pPr algn="ctr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symptoms to specialty, severity, reason</a:t>
            </a:r>
          </a:p>
        </p:txBody>
      </p:sp>
      <p:sp>
        <p:nvSpPr>
          <p:cNvPr id="9" name="Module3"/>
          <p:cNvSpPr/>
          <p:nvPr/>
        </p:nvSpPr>
        <p:spPr>
          <a:xfrm>
            <a:off x="5093208" y="2011680"/>
            <a:ext cx="2011680" cy="338328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3</a:t>
            </a:r>
          </a:p>
          <a:p>
            <a:pPr algn="ctr">
              <a:spcBef>
                <a:spcPts val="600"/>
              </a:spcBef>
            </a:pPr>
            <a:r>
              <a:rPr sz="1700" b="1">
                <a:solidFill>
                  <a:srgbClr val="FFFFFF"/>
                </a:solidFill>
                <a:latin typeface="Calibri"/>
              </a:rPr>
              <a:t>Hospital Evaluation &amp; Ranking</a:t>
            </a:r>
          </a:p>
          <a:p>
            <a:pPr algn="ctr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distance and score out of 100</a:t>
            </a:r>
          </a:p>
        </p:txBody>
      </p:sp>
      <p:sp>
        <p:nvSpPr>
          <p:cNvPr id="10" name="Module4"/>
          <p:cNvSpPr/>
          <p:nvPr/>
        </p:nvSpPr>
        <p:spPr>
          <a:xfrm>
            <a:off x="7260336" y="2011680"/>
            <a:ext cx="2011680" cy="3383280"/>
          </a:xfrm>
          <a:prstGeom prst="roundRect">
            <a:avLst>
              <a:gd name="adj" fmla="val 12000"/>
            </a:avLst>
          </a:prstGeom>
          <a:solidFill>
            <a:srgbClr val="2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4</a:t>
            </a:r>
          </a:p>
          <a:p>
            <a:pPr algn="ctr">
              <a:spcBef>
                <a:spcPts val="600"/>
              </a:spcBef>
            </a:pPr>
            <a:r>
              <a:rPr sz="1700" b="1">
                <a:solidFill>
                  <a:srgbClr val="FFFFFF"/>
                </a:solidFill>
                <a:latin typeface="Calibri"/>
              </a:rPr>
              <a:t>Referral &amp; Route Guidance</a:t>
            </a:r>
          </a:p>
          <a:p>
            <a:pPr algn="ctr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referral record and route map</a:t>
            </a:r>
          </a:p>
        </p:txBody>
      </p:sp>
      <p:sp>
        <p:nvSpPr>
          <p:cNvPr id="11" name="Module5"/>
          <p:cNvSpPr/>
          <p:nvPr/>
        </p:nvSpPr>
        <p:spPr>
          <a:xfrm>
            <a:off x="9427464" y="2011680"/>
            <a:ext cx="2011680" cy="338328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5</a:t>
            </a:r>
          </a:p>
          <a:p>
            <a:pPr algn="ctr">
              <a:spcBef>
                <a:spcPts val="600"/>
              </a:spcBef>
            </a:pPr>
            <a:r>
              <a:rPr sz="1700" b="1">
                <a:solidFill>
                  <a:srgbClr val="FFFFFF"/>
                </a:solidFill>
                <a:latin typeface="Calibri"/>
              </a:rPr>
              <a:t>Caretaker, Hospital &amp; Admin Portals</a:t>
            </a:r>
          </a:p>
          <a:p>
            <a:pPr algn="ctr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patient lists, queues, reports</a:t>
            </a:r>
          </a:p>
        </p:txBody>
      </p:sp>
    </p:spTree>
    <p:extLst>
      <p:ext uri="{BB962C8B-B14F-4D97-AF65-F5344CB8AC3E}">
        <p14:creationId xmlns:p14="http://schemas.microsoft.com/office/powerpoint/2010/main" val="651015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Module Description (1–3)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13</a:t>
            </a:fld>
            <a:endParaRPr lang="en-IN"/>
          </a:p>
        </p:txBody>
      </p:sp>
      <p:graphicFrame>
        <p:nvGraphicFramePr>
          <p:cNvPr id="7" name="Modul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6278117"/>
              </p:ext>
            </p:extLst>
          </p:nvPr>
        </p:nvGraphicFramePr>
        <p:xfrm>
          <a:off x="731520" y="1691640"/>
          <a:ext cx="10744200" cy="4364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8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2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232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 marL="73152" marR="73152">
                    <a:solidFill>
                      <a:srgbClr val="2B5C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73152" marR="73152">
                    <a:solidFill>
                      <a:srgbClr val="2B5C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Input → Output</a:t>
                      </a:r>
                    </a:p>
                  </a:txBody>
                  <a:tcPr marL="73152" marR="73152">
                    <a:solidFill>
                      <a:srgbClr val="2B5C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000000"/>
                          </a:solidFill>
                          <a:latin typeface="Calibri"/>
                        </a:rPr>
                        <a:t>1. Patient Data Collection</a:t>
                      </a:r>
                    </a:p>
                  </a:txBody>
                  <a:tcPr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000000"/>
                          </a:solidFill>
                          <a:latin typeface="Calibri"/>
                        </a:rPr>
                        <a:t>Four role logins; patients self-register with a phone number and password. Intake form takes age, gender, hours of pain, emergency level, Chennai area, 21 symptom tick-boxes, free text and 6 existing conditions. The area is geocoded from a built-in Chennai dictionary, else </a:t>
                      </a:r>
                      <a:r>
                        <a:rPr sz="1600" b="0" dirty="0" err="1">
                          <a:solidFill>
                            <a:srgbClr val="000000"/>
                          </a:solidFill>
                          <a:latin typeface="Calibri"/>
                        </a:rPr>
                        <a:t>Nominatim</a:t>
                      </a:r>
                      <a:r>
                        <a:rPr sz="1600" b="0" dirty="0">
                          <a:solidFill>
                            <a:srgbClr val="000000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000000"/>
                          </a:solidFill>
                          <a:latin typeface="Calibri"/>
                        </a:rPr>
                        <a:t>Credentials, form data, address → saved patient record with coordinates</a:t>
                      </a:r>
                    </a:p>
                  </a:txBody>
                  <a:tcPr marL="73152" marR="73152">
                    <a:solidFill>
                      <a:srgbClr val="F3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000000"/>
                          </a:solidFill>
                          <a:latin typeface="Calibri"/>
                        </a:rPr>
                        <a:t>2. Rule-Based AI Analysis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000000"/>
                          </a:solidFill>
                          <a:latin typeface="Calibri"/>
                        </a:rPr>
                        <a:t>detectDisease</a:t>
                      </a:r>
                      <a:r>
                        <a:rPr sz="1600" b="0" dirty="0">
                          <a:solidFill>
                            <a:srgbClr val="000000"/>
                          </a:solidFill>
                          <a:latin typeface="Calibri"/>
                        </a:rPr>
                        <a:t>() adds the weights of matched symptoms for each specialty (bonus for heart disease, high BP, asthma) and picks the top one. Falls back to General Medicine when nothing matches.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000000"/>
                          </a:solidFill>
                          <a:latin typeface="Calibri"/>
                        </a:rPr>
                        <a:t>Symptoms, conditions → condition, specialty, severity, reason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000000"/>
                          </a:solidFill>
                          <a:latin typeface="Calibri"/>
                        </a:rPr>
                        <a:t>3. Hospital Evaluation &amp; Ranking</a:t>
                      </a:r>
                    </a:p>
                  </a:txBody>
                  <a:tcPr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000000"/>
                          </a:solidFill>
                          <a:latin typeface="Calibri"/>
                        </a:rPr>
                        <a:t>Haversine distance to each hospital. Score = specialty (40 match / 10 partial) + 0.25 × resources + emergency (15 / 10 / 4) + max(0, 15 − km), capped at 100.</a:t>
                      </a:r>
                    </a:p>
                  </a:txBody>
                  <a:tcPr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000000"/>
                          </a:solidFill>
                          <a:latin typeface="Calibri"/>
                        </a:rPr>
                        <a:t>Specialty, hospital records, location → ranked list</a:t>
                      </a:r>
                    </a:p>
                  </a:txBody>
                  <a:tcPr marL="73152" marR="73152">
                    <a:solidFill>
                      <a:srgbClr val="F3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7529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Module Description (4–5)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14</a:t>
            </a:fld>
            <a:endParaRPr lang="en-IN"/>
          </a:p>
        </p:txBody>
      </p:sp>
      <p:graphicFrame>
        <p:nvGraphicFramePr>
          <p:cNvPr id="7" name="Modul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6880996"/>
              </p:ext>
            </p:extLst>
          </p:nvPr>
        </p:nvGraphicFramePr>
        <p:xfrm>
          <a:off x="731520" y="1691640"/>
          <a:ext cx="107442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 marL="73152" marR="73152">
                    <a:solidFill>
                      <a:srgbClr val="2B5C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73152" marR="73152">
                    <a:solidFill>
                      <a:srgbClr val="2B5C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Input → Output</a:t>
                      </a:r>
                    </a:p>
                  </a:txBody>
                  <a:tcPr marL="73152" marR="73152">
                    <a:solidFill>
                      <a:srgbClr val="2B5C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0"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000000"/>
                          </a:solidFill>
                          <a:latin typeface="Calibri"/>
                        </a:rPr>
                        <a:t>4. Referral &amp; Route Guidance</a:t>
                      </a:r>
                    </a:p>
                  </a:txBody>
                  <a:tcPr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000000"/>
                          </a:solidFill>
                          <a:latin typeface="Calibri"/>
                        </a:rPr>
                        <a:t>The top-ranked hospital is stored as a referral (REF-0001 style) and linked to the patient. The patient portal shows a Leaflet map with OSRM routes labelled Fastest, Shortest or Alternative, plus a Google Maps live-traffic link.</a:t>
                      </a:r>
                    </a:p>
                  </a:txBody>
                  <a:tcPr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000000"/>
                          </a:solidFill>
                          <a:latin typeface="Calibri"/>
                        </a:rPr>
                        <a:t>Best hospital, patient and hospital coordinates → referral record, route options</a:t>
                      </a:r>
                    </a:p>
                  </a:txBody>
                  <a:tcPr marL="73152" marR="73152">
                    <a:solidFill>
                      <a:srgbClr val="F3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0"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000000"/>
                          </a:solidFill>
                          <a:latin typeface="Calibri"/>
                        </a:rPr>
                        <a:t>5. Caretaker, Hospital &amp; Admin Portals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Caretaker sees own and new patients (urgent first) and can take a patient. Hospital sees its referred patients with distance, and its referral queue. Admin sees 8 caretaker and 5 hospital accounts, assignments and reports.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000000"/>
                          </a:solidFill>
                          <a:latin typeface="Calibri"/>
                        </a:rPr>
                        <a:t>Roles → patient lists, queues, reports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8195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Results &amp; Discussion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15</a:t>
            </a:fld>
            <a:endParaRPr lang="en-IN"/>
          </a:p>
        </p:txBody>
      </p:sp>
      <p:graphicFrame>
        <p:nvGraphicFramePr>
          <p:cNvPr id="7" name="ScoreChart"/>
          <p:cNvGraphicFramePr>
            <a:graphicFrameLocks noGrp="1"/>
          </p:cNvGraphicFramePr>
          <p:nvPr/>
        </p:nvGraphicFramePr>
        <p:xfrm>
          <a:off x="731520" y="2240280"/>
          <a:ext cx="51206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1645920"/>
            <a:ext cx="5120640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Hospital scores for P001 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(chest pain, sweating; Anna Nagar; High)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512064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  <a:latin typeface="Calibri"/>
              </a:rPr>
              <a:t>Computed with the app's scoring formula on the synthetic seed patient.</a:t>
            </a:r>
          </a:p>
        </p:txBody>
      </p:sp>
      <p:graphicFrame>
        <p:nvGraphicFramePr>
          <p:cNvPr id="10" name="CaseTable"/>
          <p:cNvGraphicFramePr>
            <a:graphicFrameLocks noGrp="1"/>
          </p:cNvGraphicFramePr>
          <p:nvPr/>
        </p:nvGraphicFramePr>
        <p:xfrm>
          <a:off x="6126480" y="2240280"/>
          <a:ext cx="53949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Patient</a:t>
                      </a:r>
                    </a:p>
                  </a:txBody>
                  <a:tcPr marL="54864" marR="54864">
                    <a:solidFill>
                      <a:srgbClr val="2B5C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Symptoms</a:t>
                      </a:r>
                    </a:p>
                  </a:txBody>
                  <a:tcPr marL="54864" marR="54864">
                    <a:solidFill>
                      <a:srgbClr val="2B5C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Specialty</a:t>
                      </a:r>
                    </a:p>
                  </a:txBody>
                  <a:tcPr marL="54864" marR="54864">
                    <a:solidFill>
                      <a:srgbClr val="2B5C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Top hospital (score)</a:t>
                      </a:r>
                    </a:p>
                  </a:txBody>
                  <a:tcPr marL="54864" marR="54864">
                    <a:solidFill>
                      <a:srgbClr val="2B5C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P001</a:t>
                      </a:r>
                    </a:p>
                  </a:txBody>
                  <a:tcPr marL="54864" marR="54864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chest pain, sweating</a:t>
                      </a:r>
                    </a:p>
                  </a:txBody>
                  <a:tcPr marL="54864" marR="54864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Cardiology</a:t>
                      </a:r>
                    </a:p>
                  </a:txBody>
                  <a:tcPr marL="54864" marR="54864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Apollo (94)</a:t>
                      </a:r>
                    </a:p>
                  </a:txBody>
                  <a:tcPr marL="54864" marR="54864">
                    <a:solidFill>
                      <a:srgbClr val="F3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P002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persistent cough, wheezing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Pulmonology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Care Plus (73)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P003</a:t>
                      </a:r>
                    </a:p>
                  </a:txBody>
                  <a:tcPr marL="54864" marR="54864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face droop, slurred speech</a:t>
                      </a:r>
                    </a:p>
                  </a:txBody>
                  <a:tcPr marL="54864" marR="54864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Neurology</a:t>
                      </a:r>
                    </a:p>
                  </a:txBody>
                  <a:tcPr marL="54864" marR="54864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Sri Lakshmi (88)</a:t>
                      </a:r>
                    </a:p>
                  </a:txBody>
                  <a:tcPr marL="54864" marR="54864">
                    <a:solidFill>
                      <a:srgbClr val="F3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26480" y="1645920"/>
            <a:ext cx="539496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Worked cases 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from the 12 synthetic seed patients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5029200"/>
            <a:ext cx="5394960" cy="10972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Reading the result: 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the cardiac case ranks Apollo first because it matches the specialty, has a 24/7 emergency unit and the highest resources. No clinical accuracy has been measured.</a:t>
            </a:r>
          </a:p>
        </p:txBody>
      </p:sp>
    </p:spTree>
    <p:extLst>
      <p:ext uri="{BB962C8B-B14F-4D97-AF65-F5344CB8AC3E}">
        <p14:creationId xmlns:p14="http://schemas.microsoft.com/office/powerpoint/2010/main" val="4109638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664CE-7311-4C5B-AA2E-45ABB90D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User Interface/ Screenshots</a:t>
            </a:r>
            <a:endParaRPr lang="en-IN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BE2C3-AC88-4E92-99FF-8D9C75D34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4BBD9-F4E8-4A60-9A83-C40083E30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6318D-05CC-4803-9541-7064C44F7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7" name="ScreenshotFrame1"/>
          <p:cNvSpPr/>
          <p:nvPr/>
        </p:nvSpPr>
        <p:spPr>
          <a:xfrm>
            <a:off x="758952" y="1828800"/>
            <a:ext cx="3429000" cy="1691640"/>
          </a:xfrm>
          <a:prstGeom prst="rect">
            <a:avLst/>
          </a:prstGeom>
          <a:solidFill>
            <a:srgbClr val="F3F5F9"/>
          </a:solidFill>
          <a:ln w="15875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0">
                <a:solidFill>
                  <a:srgbClr val="595959"/>
                </a:solidFill>
                <a:latin typeface="Calibri"/>
              </a:rPr>
              <a:t>Insert screenshot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547872"/>
            <a:ext cx="34290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Calibri"/>
              </a:rPr>
              <a:t>Login with role tabs</a:t>
            </a:r>
          </a:p>
        </p:txBody>
      </p:sp>
      <p:sp>
        <p:nvSpPr>
          <p:cNvPr id="9" name="ScreenshotFrame2"/>
          <p:cNvSpPr/>
          <p:nvPr/>
        </p:nvSpPr>
        <p:spPr>
          <a:xfrm>
            <a:off x="4370832" y="1828800"/>
            <a:ext cx="3429000" cy="1691640"/>
          </a:xfrm>
          <a:prstGeom prst="rect">
            <a:avLst/>
          </a:prstGeom>
          <a:solidFill>
            <a:srgbClr val="F3F5F9"/>
          </a:solidFill>
          <a:ln w="15875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0">
                <a:solidFill>
                  <a:srgbClr val="595959"/>
                </a:solidFill>
                <a:latin typeface="Calibri"/>
              </a:rPr>
              <a:t>Insert screenshot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0832" y="3547872"/>
            <a:ext cx="34290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Calibri"/>
              </a:rPr>
              <a:t>Patient details form</a:t>
            </a:r>
          </a:p>
        </p:txBody>
      </p:sp>
      <p:sp>
        <p:nvSpPr>
          <p:cNvPr id="11" name="ScreenshotFrame3"/>
          <p:cNvSpPr/>
          <p:nvPr/>
        </p:nvSpPr>
        <p:spPr>
          <a:xfrm>
            <a:off x="7982712" y="1828800"/>
            <a:ext cx="3429000" cy="1691640"/>
          </a:xfrm>
          <a:prstGeom prst="rect">
            <a:avLst/>
          </a:prstGeom>
          <a:solidFill>
            <a:srgbClr val="F3F5F9"/>
          </a:solidFill>
          <a:ln w="15875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0">
                <a:solidFill>
                  <a:srgbClr val="595959"/>
                </a:solidFill>
                <a:latin typeface="Calibri"/>
              </a:rPr>
              <a:t>Insert screenshot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2712" y="3547872"/>
            <a:ext cx="34290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Calibri"/>
              </a:rPr>
              <a:t>AI analysis result</a:t>
            </a:r>
          </a:p>
        </p:txBody>
      </p:sp>
      <p:sp>
        <p:nvSpPr>
          <p:cNvPr id="13" name="ScreenshotFrame4"/>
          <p:cNvSpPr/>
          <p:nvPr/>
        </p:nvSpPr>
        <p:spPr>
          <a:xfrm>
            <a:off x="758952" y="3931920"/>
            <a:ext cx="3429000" cy="1691640"/>
          </a:xfrm>
          <a:prstGeom prst="rect">
            <a:avLst/>
          </a:prstGeom>
          <a:solidFill>
            <a:srgbClr val="F3F5F9"/>
          </a:solidFill>
          <a:ln w="15875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0">
                <a:solidFill>
                  <a:srgbClr val="595959"/>
                </a:solidFill>
                <a:latin typeface="Calibri"/>
              </a:rPr>
              <a:t>Insert screenshot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5650992"/>
            <a:ext cx="34290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Calibri"/>
              </a:rPr>
              <a:t>Hospital evaluation ranking</a:t>
            </a:r>
          </a:p>
        </p:txBody>
      </p:sp>
      <p:sp>
        <p:nvSpPr>
          <p:cNvPr id="15" name="ScreenshotFrame5"/>
          <p:cNvSpPr/>
          <p:nvPr/>
        </p:nvSpPr>
        <p:spPr>
          <a:xfrm>
            <a:off x="4370832" y="3931920"/>
            <a:ext cx="3429000" cy="1691640"/>
          </a:xfrm>
          <a:prstGeom prst="rect">
            <a:avLst/>
          </a:prstGeom>
          <a:solidFill>
            <a:srgbClr val="F3F5F9"/>
          </a:solidFill>
          <a:ln w="15875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0">
                <a:solidFill>
                  <a:srgbClr val="595959"/>
                </a:solidFill>
                <a:latin typeface="Calibri"/>
              </a:rPr>
              <a:t>Insert screenshot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2" y="5650992"/>
            <a:ext cx="3429000" cy="2369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lang="en-IN" sz="1300" b="1" dirty="0">
                <a:solidFill>
                  <a:srgbClr val="000000"/>
                </a:solidFill>
                <a:latin typeface="Calibri"/>
              </a:rPr>
              <a:t>Caretaker </a:t>
            </a:r>
            <a:r>
              <a:rPr lang="en-IN" sz="1300" b="1" dirty="0" err="1">
                <a:solidFill>
                  <a:srgbClr val="000000"/>
                </a:solidFill>
                <a:latin typeface="Calibri"/>
              </a:rPr>
              <a:t>dashboad</a:t>
            </a:r>
            <a:endParaRPr sz="1300" b="1" i="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ScreenshotFrame6"/>
          <p:cNvSpPr/>
          <p:nvPr/>
        </p:nvSpPr>
        <p:spPr>
          <a:xfrm>
            <a:off x="7982712" y="3931920"/>
            <a:ext cx="3429000" cy="1691640"/>
          </a:xfrm>
          <a:prstGeom prst="rect">
            <a:avLst/>
          </a:prstGeom>
          <a:solidFill>
            <a:srgbClr val="F3F5F9"/>
          </a:solidFill>
          <a:ln w="15875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0">
                <a:solidFill>
                  <a:srgbClr val="595959"/>
                </a:solidFill>
                <a:latin typeface="Calibri"/>
              </a:rPr>
              <a:t>Insert screenshot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2712" y="5650992"/>
            <a:ext cx="3429000" cy="2369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lang="en-IN" sz="1300" b="1" dirty="0">
                <a:solidFill>
                  <a:srgbClr val="000000"/>
                </a:solidFill>
                <a:latin typeface="Calibri"/>
              </a:rPr>
              <a:t>A</a:t>
            </a:r>
            <a:r>
              <a:rPr sz="1300" b="1" i="0" dirty="0" err="1">
                <a:solidFill>
                  <a:srgbClr val="000000"/>
                </a:solidFill>
                <a:latin typeface="Calibri"/>
              </a:rPr>
              <a:t>dmin</a:t>
            </a:r>
            <a:r>
              <a:rPr sz="1300" b="1" i="0" dirty="0">
                <a:solidFill>
                  <a:srgbClr val="000000"/>
                </a:solidFill>
                <a:latin typeface="Calibri"/>
              </a:rPr>
              <a:t> dashboard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AB0CFB7-ECCC-2C46-FA58-5C519447E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767" y="1828800"/>
            <a:ext cx="3407834" cy="169164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F460303-ED48-CEFF-36BD-0AF1C88CD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828799"/>
            <a:ext cx="3407834" cy="116815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73C877B-0816-661E-1AB5-6B13788113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2996952"/>
            <a:ext cx="3407834" cy="52348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E196CA3-EAFA-FB3A-4094-7AFCE66C13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4050" y="1840738"/>
            <a:ext cx="3407662" cy="167970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0626471-51AE-D1CC-EEAC-FF9E523610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3183" y="3943859"/>
            <a:ext cx="3385484" cy="167970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6C2FF30-CE87-1AA4-8ADA-7DB3936676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416" y="3931920"/>
            <a:ext cx="3452536" cy="169164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D7B4971-F27A-4878-700A-6BEC8B378A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82712" y="3943858"/>
            <a:ext cx="3450336" cy="1679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265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Conclusion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2" y="1691640"/>
            <a:ext cx="10698480" cy="4389120"/>
          </a:xfrm>
        </p:spPr>
        <p:txBody>
          <a:bodyPr/>
          <a:lstStyle/>
          <a:p>
            <a:pPr marL="342900" indent="-342900">
              <a:spcBef>
                <a:spcPts val="1000"/>
              </a:spcBef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Built a working browser prototype that goes from symptoms to a specialty, a ranked hospital, a referral and a route</a:t>
            </a:r>
          </a:p>
          <a:p>
            <a:pPr marL="342900" indent="-342900">
              <a:spcBef>
                <a:spcPts val="1000"/>
              </a:spcBef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Rule-based inference with visible matched symptoms keeps every recommendation inspectable</a:t>
            </a:r>
          </a:p>
          <a:p>
            <a:pPr marL="342900" indent="-342900">
              <a:spcBef>
                <a:spcPts val="1000"/>
              </a:spcBef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Hospital scoring combines specialty match, resources, emergency facilities and distance in one score out of 100</a:t>
            </a:r>
          </a:p>
          <a:p>
            <a:pPr marL="342900" indent="-342900">
              <a:spcBef>
                <a:spcPts val="1000"/>
              </a:spcBef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Four role-based portals show how patients, caretakers, hospitals and admins share one workflow</a:t>
            </a:r>
          </a:p>
          <a:p>
            <a:pPr marL="342900" indent="-342900">
              <a:spcBef>
                <a:spcPts val="1000"/>
              </a:spcBef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It is a proof of concept: no clinical dataset, accuracy figure or outcome benefit is claimed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166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Future Work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2" y="1691640"/>
            <a:ext cx="10698480" cy="4389120"/>
          </a:xfrm>
        </p:spPr>
        <p:txBody>
          <a:bodyPr/>
          <a:lstStyle/>
          <a:p>
            <a:pPr marL="342900" indent="-342900">
              <a:spcBef>
                <a:spcPts val="900"/>
              </a:spcBef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200" b="0" dirty="0">
                <a:solidFill>
                  <a:srgbClr val="000000"/>
                </a:solidFill>
                <a:latin typeface="Times New Roman"/>
                <a:cs typeface="Times New Roman"/>
              </a:rPr>
              <a:t>Clinician-reviewed rules, with negation handling (for example, “no chest pain”) and an “insufficient information” state</a:t>
            </a:r>
          </a:p>
          <a:p>
            <a:pPr marL="342900" indent="-342900">
              <a:spcBef>
                <a:spcPts val="900"/>
              </a:spcBef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200" b="0" dirty="0">
                <a:solidFill>
                  <a:srgbClr val="000000"/>
                </a:solidFill>
                <a:latin typeface="Times New Roman"/>
                <a:cs typeface="Times New Roman"/>
              </a:rPr>
              <a:t>Hard eligibility constraints so a nearby hospital without the needed service never outranks a suitable one</a:t>
            </a:r>
          </a:p>
          <a:p>
            <a:pPr marL="342900" indent="-342900">
              <a:spcBef>
                <a:spcPts val="900"/>
              </a:spcBef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200" b="0" dirty="0">
                <a:solidFill>
                  <a:srgbClr val="000000"/>
                </a:solidFill>
                <a:latin typeface="Times New Roman"/>
                <a:cs typeface="Times New Roman"/>
              </a:rPr>
              <a:t>Live hospital data and a secure backend with server-side authentication, audit logs and a shared database</a:t>
            </a:r>
          </a:p>
          <a:p>
            <a:pPr marL="342900" indent="-342900">
              <a:spcBef>
                <a:spcPts val="900"/>
              </a:spcBef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200" b="0" dirty="0">
                <a:solidFill>
                  <a:srgbClr val="000000"/>
                </a:solidFill>
                <a:latin typeface="Times New Roman"/>
                <a:cs typeface="Times New Roman"/>
              </a:rPr>
              <a:t>Road-distance and travel-time ranking instead of straight-line distance</a:t>
            </a:r>
          </a:p>
          <a:p>
            <a:pPr marL="342900" indent="-342900">
              <a:spcBef>
                <a:spcPts val="900"/>
              </a:spcBef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200" b="0" dirty="0">
                <a:solidFill>
                  <a:srgbClr val="000000"/>
                </a:solidFill>
                <a:latin typeface="Times New Roman"/>
                <a:cs typeface="Times New Roman"/>
              </a:rPr>
              <a:t>Evaluation against a clinician-labelled reference set, plus usability and safety testing</a:t>
            </a:r>
          </a:p>
          <a:p>
            <a:pPr marL="342900" indent="-342900">
              <a:spcBef>
                <a:spcPts val="900"/>
              </a:spcBef>
              <a:buClr>
                <a:srgbClr val="CC0000"/>
              </a:buClr>
              <a:buFont typeface="Wingdings" pitchFamily="2" charset="2"/>
              <a:buChar char="o"/>
            </a:pPr>
            <a:r>
              <a:rPr lang="en-IN" sz="2200" b="0" dirty="0">
                <a:solidFill>
                  <a:srgbClr val="000000"/>
                </a:solidFill>
                <a:latin typeface="Times New Roman"/>
                <a:cs typeface="Times New Roman"/>
              </a:rPr>
              <a:t>Compare the rule-based baseline with a validated machine-learning model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162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References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2" y="1645920"/>
            <a:ext cx="10698480" cy="4480560"/>
          </a:xfrm>
        </p:spPr>
        <p:txBody>
          <a:bodyPr/>
          <a:lstStyle/>
          <a:p>
            <a:pPr marL="0" indent="0">
              <a:buNone/>
            </a:pPr>
            <a:r>
              <a:rPr lang="en-IN" sz="1400" dirty="0"/>
              <a:t>[1] Chi, C.-L., Street, W. N., &amp; Ward, M. M. (2008). Building a hospital referral expert system with a prediction and optimization-based decision support system algorithm. Journal of Biomedical Informatics, 41(2), 371–386. </a:t>
            </a:r>
            <a:r>
              <a:rPr lang="en-IN" sz="1400" dirty="0">
                <a:hlinkClick r:id="rId2"/>
              </a:rPr>
              <a:t>https://doi.org/10.1016/j.jbi.2007.10.002</a:t>
            </a:r>
            <a:endParaRPr lang="en-IN" sz="1400" dirty="0"/>
          </a:p>
          <a:p>
            <a:endParaRPr lang="en-IN" sz="1400" dirty="0"/>
          </a:p>
          <a:p>
            <a:pPr marL="0" indent="0">
              <a:buNone/>
            </a:pPr>
            <a:r>
              <a:rPr lang="en-IN" sz="1400" dirty="0"/>
              <a:t>[2] Abdel-Hafez, A., Jones, M., </a:t>
            </a:r>
            <a:r>
              <a:rPr lang="en-IN" sz="1400" dirty="0" err="1"/>
              <a:t>Ebrahimabadi</a:t>
            </a:r>
            <a:r>
              <a:rPr lang="en-IN" sz="1400" dirty="0"/>
              <a:t>, M., Ryan, C., Graham, S., Slee, N., &amp; Whitfield, B. (2023). Artificial intelligence in medical referrals triage based on clinical prioritization criteria. Frontiers in Digital Health, 5, Article 1192975. </a:t>
            </a:r>
            <a:r>
              <a:rPr lang="en-IN" sz="1400" dirty="0">
                <a:hlinkClick r:id="rId3"/>
              </a:rPr>
              <a:t>https://doi.org/10.3389/fdgth.2023.1192975</a:t>
            </a:r>
            <a:endParaRPr lang="en-IN" sz="1400" dirty="0"/>
          </a:p>
          <a:p>
            <a:endParaRPr lang="en-IN" sz="1400" dirty="0"/>
          </a:p>
          <a:p>
            <a:pPr marL="0" indent="0">
              <a:buNone/>
            </a:pPr>
            <a:r>
              <a:rPr lang="en-IN" sz="1400" dirty="0"/>
              <a:t>[3] Määttä, J., Lindell, R., Hayward, N., Martikainen, S., Honkanen, K., </a:t>
            </a:r>
            <a:r>
              <a:rPr lang="en-IN" sz="1400" dirty="0" err="1"/>
              <a:t>Inkala</a:t>
            </a:r>
            <a:r>
              <a:rPr lang="en-IN" sz="1400" dirty="0"/>
              <a:t>, M., Hirvonen, P., &amp; Martikainen, T. J. (2023). Diagnostic performance, triage safety, and usability of a clinical decision support system within a university hospital emergency department: Algorithm performance and usability study. JMIR Medical Informatics, 11, e46760. </a:t>
            </a:r>
            <a:r>
              <a:rPr lang="en-IN" sz="1400" u="sng" dirty="0">
                <a:hlinkClick r:id="rId4"/>
              </a:rPr>
              <a:t>https://doi.org/10.2196/46760</a:t>
            </a:r>
            <a:endParaRPr lang="en-IN" sz="1400" u="sng" dirty="0"/>
          </a:p>
          <a:p>
            <a:endParaRPr lang="en-IN" sz="1400" u="sng" dirty="0"/>
          </a:p>
          <a:p>
            <a:pPr marL="0" indent="0">
              <a:buNone/>
            </a:pPr>
            <a:r>
              <a:rPr lang="en-IN" sz="1400" dirty="0"/>
              <a:t>[4] Omotosho, A., Adegbola, O., &amp; Adebo, A. (2016). A patient-based hospital referral decision support system. International Journal of Computer Applications, 155(10), 38–43. </a:t>
            </a:r>
            <a:r>
              <a:rPr lang="en-IN" sz="1400" dirty="0">
                <a:hlinkClick r:id="rId5"/>
              </a:rPr>
              <a:t>https://doi.org/10.5120/ijca2016912459</a:t>
            </a:r>
            <a:endParaRPr lang="en-IN" sz="1400" dirty="0"/>
          </a:p>
          <a:p>
            <a:pPr marL="0" indent="0">
              <a:buNone/>
            </a:pPr>
            <a:r>
              <a:rPr lang="en-IN" sz="1400" dirty="0"/>
              <a:t> </a:t>
            </a:r>
          </a:p>
          <a:p>
            <a:pPr marL="0" indent="0">
              <a:buNone/>
            </a:pPr>
            <a:r>
              <a:rPr lang="en-IN" sz="1400" dirty="0"/>
              <a:t>[5] </a:t>
            </a:r>
            <a:r>
              <a:rPr lang="en-IN" sz="1400" dirty="0" err="1"/>
              <a:t>Semigran</a:t>
            </a:r>
            <a:r>
              <a:rPr lang="en-IN" sz="1400" dirty="0"/>
              <a:t>, H. L., Linder, J. A., </a:t>
            </a:r>
            <a:r>
              <a:rPr lang="en-IN" sz="1400" dirty="0" err="1"/>
              <a:t>Gidengil</a:t>
            </a:r>
            <a:r>
              <a:rPr lang="en-IN" sz="1400" dirty="0"/>
              <a:t>, C., &amp; Mehrotra, A. (2015). Evaluation of symptom checkers for self diagnosis and triage: Audit study. BMJ, 351, h3480. </a:t>
            </a:r>
            <a:r>
              <a:rPr lang="en-IN" sz="1400" dirty="0">
                <a:hlinkClick r:id="rId6"/>
              </a:rPr>
              <a:t>https://doi.org/10.1136/bmj.h3480</a:t>
            </a:r>
            <a:endParaRPr lang="en-IN" sz="1400" dirty="0"/>
          </a:p>
          <a:p>
            <a:pPr marL="0" indent="0">
              <a:spcBef>
                <a:spcPts val="800"/>
              </a:spcBef>
              <a:buNone/>
            </a:pPr>
            <a:endParaRPr lang="en-IN" sz="1700" b="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4227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C349C-5BE6-7AA1-4EE3-C4AA5A3BB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3168074"/>
            <a:ext cx="10668000" cy="1216025"/>
          </a:xfrm>
        </p:spPr>
        <p:txBody>
          <a:bodyPr anchor="ctr"/>
          <a:lstStyle/>
          <a:p>
            <a:pPr algn="ctr"/>
            <a:r>
              <a:rPr lang="en-IN" altLang="en-US" sz="4000" b="1" dirty="0">
                <a:solidFill>
                  <a:srgbClr val="FF0000"/>
                </a:solidFill>
              </a:rPr>
              <a:t>Thank You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4F5F3-B604-7034-3991-F0917DEC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3B680-F650-469F-A231-392F163461F6}" type="slidenum">
              <a:rPr lang="en-US" altLang="en-US" smtClean="0"/>
              <a:pPr>
                <a:defRPr/>
              </a:pPr>
              <a:t>20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73965067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3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4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5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6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7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8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2074</Words>
  <Application>Microsoft Office PowerPoint</Application>
  <PresentationFormat>Widescreen</PresentationFormat>
  <Paragraphs>266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Calibri</vt:lpstr>
      <vt:lpstr>Times New Roman</vt:lpstr>
      <vt:lpstr>Verdana</vt:lpstr>
      <vt:lpstr>Wingdings</vt:lpstr>
      <vt:lpstr>Profile</vt:lpstr>
      <vt:lpstr>PowerPoint Presentation</vt:lpstr>
      <vt:lpstr>Problem Statement and Motivation</vt:lpstr>
      <vt:lpstr>Objectives</vt:lpstr>
      <vt:lpstr>Abstract</vt:lpstr>
      <vt:lpstr>Literature Survey</vt:lpstr>
      <vt:lpstr>Literature Survey</vt:lpstr>
      <vt:lpstr>Research Gap/Existing System</vt:lpstr>
      <vt:lpstr>Proposed System</vt:lpstr>
      <vt:lpstr>DFD Diagram</vt:lpstr>
      <vt:lpstr>Methodology/Work Flow Diagram</vt:lpstr>
      <vt:lpstr>Tools and Technologies</vt:lpstr>
      <vt:lpstr>List of Modules</vt:lpstr>
      <vt:lpstr>Module Description (1–3)</vt:lpstr>
      <vt:lpstr>Module Description (4–5)</vt:lpstr>
      <vt:lpstr>Results &amp; Discussion</vt:lpstr>
      <vt:lpstr>User Interface/ Screenshots</vt:lpstr>
      <vt:lpstr>Conclusion</vt:lpstr>
      <vt:lpstr>Future Work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Dhanalakshmi C</cp:lastModifiedBy>
  <cp:revision>15</cp:revision>
  <dcterms:modified xsi:type="dcterms:W3CDTF">2026-10-14T12:05:27Z</dcterms:modified>
</cp:coreProperties>
</file>