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AEC048-38B1-4814-B1C4-C42435BAD9DA}" v="49" dt="2026-08-05T13:43:13.2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F31E85-6B50-4414-8303-1660ABD7E6B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BFFCE1D-0AE9-4302-BF12-A2B0CA32A9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A3B001-ABFF-418E-9154-637B4600883D}" type="datetimeFigureOut">
              <a:rPr lang="en-IN" smtClean="0"/>
              <a:t>05-08-2026</a:t>
            </a:fld>
            <a:endParaRPr lang="en-IN"/>
          </a:p>
        </p:txBody>
      </p:sp>
      <p:sp>
        <p:nvSpPr>
          <p:cNvPr id="4" name="Footer Placeholder 3">
            <a:extLst>
              <a:ext uri="{FF2B5EF4-FFF2-40B4-BE49-F238E27FC236}">
                <a16:creationId xmlns:a16="http://schemas.microsoft.com/office/drawing/2014/main" id="{F5D54E17-5DD5-4758-8B2D-0B3BE7289F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Rajalakshmi Engineering College,Department of Cyber Security</a:t>
            </a:r>
            <a:endParaRPr lang="en-IN"/>
          </a:p>
        </p:txBody>
      </p:sp>
      <p:sp>
        <p:nvSpPr>
          <p:cNvPr id="5" name="Slide Number Placeholder 4">
            <a:extLst>
              <a:ext uri="{FF2B5EF4-FFF2-40B4-BE49-F238E27FC236}">
                <a16:creationId xmlns:a16="http://schemas.microsoft.com/office/drawing/2014/main" id="{D38A4D68-88AA-42B1-B509-F1FA04B3A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E9E7C3-5A08-4764-A95A-BBECC46AC650}" type="slidenum">
              <a:rPr lang="en-IN" smtClean="0"/>
              <a:t>‹#›</a:t>
            </a:fld>
            <a:endParaRPr lang="en-IN"/>
          </a:p>
        </p:txBody>
      </p:sp>
    </p:spTree>
    <p:extLst>
      <p:ext uri="{BB962C8B-B14F-4D97-AF65-F5344CB8AC3E}">
        <p14:creationId xmlns:p14="http://schemas.microsoft.com/office/powerpoint/2010/main" val="211026868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A9BA1-D418-46F7-B646-16F2E4E1F9F7}" type="datetimeFigureOut">
              <a:rPr lang="en-IN" smtClean="0"/>
              <a:t>05-08-2026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Rajalakshmi Engineering College,Department of Cyber Security</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2CE00-EA5F-4FB0-8537-EFD9EFC07CA8}" type="slidenum">
              <a:rPr lang="en-IN" smtClean="0"/>
              <a:t>‹#›</a:t>
            </a:fld>
            <a:endParaRPr lang="en-IN"/>
          </a:p>
        </p:txBody>
      </p:sp>
    </p:spTree>
    <p:extLst>
      <p:ext uri="{BB962C8B-B14F-4D97-AF65-F5344CB8AC3E}">
        <p14:creationId xmlns:p14="http://schemas.microsoft.com/office/powerpoint/2010/main" val="347555755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DA59A-BCBE-48E2-A350-FB035DDECB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5FF6DBD-B524-460B-AA44-E186583A49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14A3FC-54A1-489A-8276-92648A22A5D9}"/>
              </a:ext>
            </a:extLst>
          </p:cNvPr>
          <p:cNvSpPr>
            <a:spLocks noGrp="1"/>
          </p:cNvSpPr>
          <p:nvPr>
            <p:ph type="dt" sz="half" idx="10"/>
          </p:nvPr>
        </p:nvSpPr>
        <p:spPr/>
        <p:txBody>
          <a:bodyPr/>
          <a:lstStyle/>
          <a:p>
            <a:fld id="{AF51A6A6-A7F2-4933-9075-6FF54A45A246}" type="datetime1">
              <a:rPr lang="en-IN" smtClean="0"/>
              <a:t>05-08-2026</a:t>
            </a:fld>
            <a:endParaRPr lang="en-IN"/>
          </a:p>
        </p:txBody>
      </p:sp>
      <p:sp>
        <p:nvSpPr>
          <p:cNvPr id="5" name="Footer Placeholder 4">
            <a:extLst>
              <a:ext uri="{FF2B5EF4-FFF2-40B4-BE49-F238E27FC236}">
                <a16:creationId xmlns:a16="http://schemas.microsoft.com/office/drawing/2014/main" id="{94F8D5EB-B231-46BD-AC05-9475512F664D}"/>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795ACC44-0FA3-41D7-8827-56818F396F7A}"/>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087453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A280-D3AA-4359-82E8-23CF7F95F9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80452E-B981-494B-AF11-EEEB6CB1BC6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F6FC46-05C5-491A-98F5-67DFE9F1BD84}"/>
              </a:ext>
            </a:extLst>
          </p:cNvPr>
          <p:cNvSpPr>
            <a:spLocks noGrp="1"/>
          </p:cNvSpPr>
          <p:nvPr>
            <p:ph type="dt" sz="half" idx="10"/>
          </p:nvPr>
        </p:nvSpPr>
        <p:spPr/>
        <p:txBody>
          <a:bodyPr/>
          <a:lstStyle/>
          <a:p>
            <a:fld id="{8E93293B-E7C6-4EBD-97F1-D064646A23FC}" type="datetime1">
              <a:rPr lang="en-IN" smtClean="0"/>
              <a:t>05-08-2026</a:t>
            </a:fld>
            <a:endParaRPr lang="en-IN"/>
          </a:p>
        </p:txBody>
      </p:sp>
      <p:sp>
        <p:nvSpPr>
          <p:cNvPr id="5" name="Footer Placeholder 4">
            <a:extLst>
              <a:ext uri="{FF2B5EF4-FFF2-40B4-BE49-F238E27FC236}">
                <a16:creationId xmlns:a16="http://schemas.microsoft.com/office/drawing/2014/main" id="{25EC7F8E-CF1F-4BF8-9AB5-1D86268D62CB}"/>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609DCA77-D61D-46CC-A34B-A12DBAB35CA6}"/>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784564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E4260-F786-41D5-AA19-25971DA5A7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254B45-ABB3-43F6-A69A-330D3EEE3A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6BFBA7F-C03D-42BA-860F-C0084E058366}"/>
              </a:ext>
            </a:extLst>
          </p:cNvPr>
          <p:cNvSpPr>
            <a:spLocks noGrp="1"/>
          </p:cNvSpPr>
          <p:nvPr>
            <p:ph type="dt" sz="half" idx="10"/>
          </p:nvPr>
        </p:nvSpPr>
        <p:spPr/>
        <p:txBody>
          <a:bodyPr/>
          <a:lstStyle/>
          <a:p>
            <a:fld id="{A9C731AF-597A-4011-A47A-590DF41FF4CE}" type="datetime1">
              <a:rPr lang="en-IN" smtClean="0"/>
              <a:t>05-08-2026</a:t>
            </a:fld>
            <a:endParaRPr lang="en-IN"/>
          </a:p>
        </p:txBody>
      </p:sp>
      <p:sp>
        <p:nvSpPr>
          <p:cNvPr id="5" name="Footer Placeholder 4">
            <a:extLst>
              <a:ext uri="{FF2B5EF4-FFF2-40B4-BE49-F238E27FC236}">
                <a16:creationId xmlns:a16="http://schemas.microsoft.com/office/drawing/2014/main" id="{743C5C7F-0F76-4539-A47B-34FE706B30B2}"/>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30338696-8488-4503-B740-D2352312EA0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108305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93C4-F8EF-4CB4-90F1-A6F2C25334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A15783-F42E-4766-9BD6-9281265A44E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CDE48A-A630-45BF-BFE4-7FAE6E8FE51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F3FBA5-DF65-41CC-BAA5-E9D93CAD490F}"/>
              </a:ext>
            </a:extLst>
          </p:cNvPr>
          <p:cNvSpPr>
            <a:spLocks noGrp="1"/>
          </p:cNvSpPr>
          <p:nvPr>
            <p:ph type="dt" sz="half" idx="10"/>
          </p:nvPr>
        </p:nvSpPr>
        <p:spPr/>
        <p:txBody>
          <a:bodyPr/>
          <a:lstStyle/>
          <a:p>
            <a:fld id="{9BE8AE2A-4198-4CFC-8A3D-99793047056B}" type="datetime1">
              <a:rPr lang="en-IN" smtClean="0"/>
              <a:t>05-08-2026</a:t>
            </a:fld>
            <a:endParaRPr lang="en-IN"/>
          </a:p>
        </p:txBody>
      </p:sp>
      <p:sp>
        <p:nvSpPr>
          <p:cNvPr id="6" name="Footer Placeholder 5">
            <a:extLst>
              <a:ext uri="{FF2B5EF4-FFF2-40B4-BE49-F238E27FC236}">
                <a16:creationId xmlns:a16="http://schemas.microsoft.com/office/drawing/2014/main" id="{BD748E5F-5552-416B-BC90-C62417A3A89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3D6DDB7E-587A-4AA5-8A58-352BC20C792F}"/>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61870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7CEE-8F3F-40F1-B22D-D53F1637F0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BAEE05-D573-4122-8E24-00B78F74B0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AF22DC4-F974-49BF-B147-72208B764FB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E9CDB9-0076-4DF6-9690-182E5157AA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93C982-67D7-427B-8C3D-1FF7CC53EF8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C65A0D-D7E5-4F76-A5DC-B3A473496CA6}"/>
              </a:ext>
            </a:extLst>
          </p:cNvPr>
          <p:cNvSpPr>
            <a:spLocks noGrp="1"/>
          </p:cNvSpPr>
          <p:nvPr>
            <p:ph type="dt" sz="half" idx="10"/>
          </p:nvPr>
        </p:nvSpPr>
        <p:spPr/>
        <p:txBody>
          <a:bodyPr/>
          <a:lstStyle/>
          <a:p>
            <a:fld id="{5979E98C-4750-4DE8-AE7D-913096F33BA4}" type="datetime1">
              <a:rPr lang="en-IN" smtClean="0"/>
              <a:t>05-08-2026</a:t>
            </a:fld>
            <a:endParaRPr lang="en-IN"/>
          </a:p>
        </p:txBody>
      </p:sp>
      <p:sp>
        <p:nvSpPr>
          <p:cNvPr id="8" name="Footer Placeholder 7">
            <a:extLst>
              <a:ext uri="{FF2B5EF4-FFF2-40B4-BE49-F238E27FC236}">
                <a16:creationId xmlns:a16="http://schemas.microsoft.com/office/drawing/2014/main" id="{5224A474-160B-4E5B-B8C1-9A764A898991}"/>
              </a:ext>
            </a:extLst>
          </p:cNvPr>
          <p:cNvSpPr>
            <a:spLocks noGrp="1"/>
          </p:cNvSpPr>
          <p:nvPr>
            <p:ph type="ftr" sz="quarter" idx="11"/>
          </p:nvPr>
        </p:nvSpPr>
        <p:spPr/>
        <p:txBody>
          <a:bodyPr/>
          <a:lstStyle/>
          <a:p>
            <a:r>
              <a:rPr lang="en-US"/>
              <a:t>Rajalakshmi Engineering College,Department of Cyber Security</a:t>
            </a:r>
            <a:endParaRPr lang="en-IN"/>
          </a:p>
        </p:txBody>
      </p:sp>
      <p:sp>
        <p:nvSpPr>
          <p:cNvPr id="9" name="Slide Number Placeholder 8">
            <a:extLst>
              <a:ext uri="{FF2B5EF4-FFF2-40B4-BE49-F238E27FC236}">
                <a16:creationId xmlns:a16="http://schemas.microsoft.com/office/drawing/2014/main" id="{66B52139-45CD-4883-962C-8B58CD26A6C3}"/>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12475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0830-F074-417B-B120-745038C2D8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EC52E2-6C9D-4F48-9885-60AA29DED4E7}"/>
              </a:ext>
            </a:extLst>
          </p:cNvPr>
          <p:cNvSpPr>
            <a:spLocks noGrp="1"/>
          </p:cNvSpPr>
          <p:nvPr>
            <p:ph type="dt" sz="half" idx="10"/>
          </p:nvPr>
        </p:nvSpPr>
        <p:spPr/>
        <p:txBody>
          <a:bodyPr/>
          <a:lstStyle/>
          <a:p>
            <a:fld id="{76A4900D-B9D7-4B48-B03E-93C6BFA38FDB}" type="datetime1">
              <a:rPr lang="en-IN" smtClean="0"/>
              <a:t>05-08-2026</a:t>
            </a:fld>
            <a:endParaRPr lang="en-IN"/>
          </a:p>
        </p:txBody>
      </p:sp>
      <p:sp>
        <p:nvSpPr>
          <p:cNvPr id="4" name="Footer Placeholder 3">
            <a:extLst>
              <a:ext uri="{FF2B5EF4-FFF2-40B4-BE49-F238E27FC236}">
                <a16:creationId xmlns:a16="http://schemas.microsoft.com/office/drawing/2014/main" id="{136F0182-AF02-46DC-A005-32A72DB49D74}"/>
              </a:ext>
            </a:extLst>
          </p:cNvPr>
          <p:cNvSpPr>
            <a:spLocks noGrp="1"/>
          </p:cNvSpPr>
          <p:nvPr>
            <p:ph type="ftr" sz="quarter" idx="11"/>
          </p:nvPr>
        </p:nvSpPr>
        <p:spPr/>
        <p:txBody>
          <a:bodyPr/>
          <a:lstStyle/>
          <a:p>
            <a:r>
              <a:rPr lang="en-US"/>
              <a:t>Rajalakshmi Engineering College,Department of Cyber Security</a:t>
            </a:r>
            <a:endParaRPr lang="en-IN"/>
          </a:p>
        </p:txBody>
      </p:sp>
      <p:sp>
        <p:nvSpPr>
          <p:cNvPr id="5" name="Slide Number Placeholder 4">
            <a:extLst>
              <a:ext uri="{FF2B5EF4-FFF2-40B4-BE49-F238E27FC236}">
                <a16:creationId xmlns:a16="http://schemas.microsoft.com/office/drawing/2014/main" id="{BF89F1EB-8B71-439F-B1E9-6EA720C1B448}"/>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310625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2A6E2-8CED-468E-B9C8-63EEF92A1ACC}"/>
              </a:ext>
            </a:extLst>
          </p:cNvPr>
          <p:cNvSpPr>
            <a:spLocks noGrp="1"/>
          </p:cNvSpPr>
          <p:nvPr>
            <p:ph type="dt" sz="half" idx="10"/>
          </p:nvPr>
        </p:nvSpPr>
        <p:spPr/>
        <p:txBody>
          <a:bodyPr/>
          <a:lstStyle/>
          <a:p>
            <a:fld id="{999DD085-2496-430D-A475-FB3919DB8C97}" type="datetime1">
              <a:rPr lang="en-IN" smtClean="0"/>
              <a:t>05-08-2026</a:t>
            </a:fld>
            <a:endParaRPr lang="en-IN"/>
          </a:p>
        </p:txBody>
      </p:sp>
      <p:sp>
        <p:nvSpPr>
          <p:cNvPr id="3" name="Footer Placeholder 2">
            <a:extLst>
              <a:ext uri="{FF2B5EF4-FFF2-40B4-BE49-F238E27FC236}">
                <a16:creationId xmlns:a16="http://schemas.microsoft.com/office/drawing/2014/main" id="{BADDDBB6-47BF-4BE7-97E4-AB044897F59E}"/>
              </a:ext>
            </a:extLst>
          </p:cNvPr>
          <p:cNvSpPr>
            <a:spLocks noGrp="1"/>
          </p:cNvSpPr>
          <p:nvPr>
            <p:ph type="ftr" sz="quarter" idx="11"/>
          </p:nvPr>
        </p:nvSpPr>
        <p:spPr/>
        <p:txBody>
          <a:bodyPr/>
          <a:lstStyle/>
          <a:p>
            <a:r>
              <a:rPr lang="en-US"/>
              <a:t>Rajalakshmi Engineering College,Department of Cyber Security</a:t>
            </a:r>
            <a:endParaRPr lang="en-IN"/>
          </a:p>
        </p:txBody>
      </p:sp>
      <p:sp>
        <p:nvSpPr>
          <p:cNvPr id="4" name="Slide Number Placeholder 3">
            <a:extLst>
              <a:ext uri="{FF2B5EF4-FFF2-40B4-BE49-F238E27FC236}">
                <a16:creationId xmlns:a16="http://schemas.microsoft.com/office/drawing/2014/main" id="{7C40F90C-24D0-4C65-99B4-EADB86BE3DC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167103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65C33-D77F-42B7-969F-DE257926CF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398D13-72C5-42CB-BDE1-8AA6B32DD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435EF6E-114D-425F-BB1A-C35164117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418FDF-36DE-48DA-886F-421C220369FE}"/>
              </a:ext>
            </a:extLst>
          </p:cNvPr>
          <p:cNvSpPr>
            <a:spLocks noGrp="1"/>
          </p:cNvSpPr>
          <p:nvPr>
            <p:ph type="dt" sz="half" idx="10"/>
          </p:nvPr>
        </p:nvSpPr>
        <p:spPr/>
        <p:txBody>
          <a:bodyPr/>
          <a:lstStyle/>
          <a:p>
            <a:fld id="{76D46D8D-D6A6-4D95-BF85-9EF8F0710FA7}" type="datetime1">
              <a:rPr lang="en-IN" smtClean="0"/>
              <a:t>05-08-2026</a:t>
            </a:fld>
            <a:endParaRPr lang="en-IN"/>
          </a:p>
        </p:txBody>
      </p:sp>
      <p:sp>
        <p:nvSpPr>
          <p:cNvPr id="6" name="Footer Placeholder 5">
            <a:extLst>
              <a:ext uri="{FF2B5EF4-FFF2-40B4-BE49-F238E27FC236}">
                <a16:creationId xmlns:a16="http://schemas.microsoft.com/office/drawing/2014/main" id="{D8F1A6E3-D660-40AD-AC51-1F8805A5344F}"/>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2F190E82-A75D-48B1-B3E6-FF48ADF8056C}"/>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046704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4577C-5B3A-48AD-9B45-4A9C9A23E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30F3EF-BF57-46A6-9EB6-2DA43D25D7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45DFA0-E5C8-4DDF-B283-4A2DD170A3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EA8042-4719-4615-8878-7A26662FBAB6}"/>
              </a:ext>
            </a:extLst>
          </p:cNvPr>
          <p:cNvSpPr>
            <a:spLocks noGrp="1"/>
          </p:cNvSpPr>
          <p:nvPr>
            <p:ph type="dt" sz="half" idx="10"/>
          </p:nvPr>
        </p:nvSpPr>
        <p:spPr/>
        <p:txBody>
          <a:bodyPr/>
          <a:lstStyle/>
          <a:p>
            <a:fld id="{08C03A52-04AE-48F7-9FCF-E17B2D2BA4E4}" type="datetime1">
              <a:rPr lang="en-IN" smtClean="0"/>
              <a:t>05-08-2026</a:t>
            </a:fld>
            <a:endParaRPr lang="en-IN"/>
          </a:p>
        </p:txBody>
      </p:sp>
      <p:sp>
        <p:nvSpPr>
          <p:cNvPr id="6" name="Footer Placeholder 5">
            <a:extLst>
              <a:ext uri="{FF2B5EF4-FFF2-40B4-BE49-F238E27FC236}">
                <a16:creationId xmlns:a16="http://schemas.microsoft.com/office/drawing/2014/main" id="{379B10D6-FDCC-4E80-9116-42BC543C5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7ECE45E7-2218-4691-9448-44DD3A1AACD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422287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F59C-24A2-4159-9380-F6AAEA13E3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2AC032-FA02-45A1-B799-75A08E88843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449FC9-D5D3-4E4A-9286-9E96B8147DBC}"/>
              </a:ext>
            </a:extLst>
          </p:cNvPr>
          <p:cNvSpPr>
            <a:spLocks noGrp="1"/>
          </p:cNvSpPr>
          <p:nvPr>
            <p:ph type="dt" sz="half" idx="10"/>
          </p:nvPr>
        </p:nvSpPr>
        <p:spPr/>
        <p:txBody>
          <a:bodyPr/>
          <a:lstStyle/>
          <a:p>
            <a:fld id="{A40E1855-FF8B-4A8F-B974-476D0BEFE359}" type="datetime1">
              <a:rPr lang="en-IN" smtClean="0"/>
              <a:t>05-08-2026</a:t>
            </a:fld>
            <a:endParaRPr lang="en-IN"/>
          </a:p>
        </p:txBody>
      </p:sp>
      <p:sp>
        <p:nvSpPr>
          <p:cNvPr id="5" name="Footer Placeholder 4">
            <a:extLst>
              <a:ext uri="{FF2B5EF4-FFF2-40B4-BE49-F238E27FC236}">
                <a16:creationId xmlns:a16="http://schemas.microsoft.com/office/drawing/2014/main" id="{B189B5AB-659C-41B0-9073-34826E629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028DCFD4-462A-4C50-9A15-A34E5BAD4101}"/>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753087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6CEE7-4472-4220-ABE7-624EBBAB35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BCA2D1-1973-4733-9AC1-AA8B41575B8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A8E509-CC9E-46C7-BCB4-B4C77706FE67}"/>
              </a:ext>
            </a:extLst>
          </p:cNvPr>
          <p:cNvSpPr>
            <a:spLocks noGrp="1"/>
          </p:cNvSpPr>
          <p:nvPr>
            <p:ph type="dt" sz="half" idx="10"/>
          </p:nvPr>
        </p:nvSpPr>
        <p:spPr/>
        <p:txBody>
          <a:bodyPr/>
          <a:lstStyle/>
          <a:p>
            <a:fld id="{29F94AA9-A825-4631-9385-0F96794CA13F}" type="datetime1">
              <a:rPr lang="en-IN" smtClean="0"/>
              <a:t>05-08-2026</a:t>
            </a:fld>
            <a:endParaRPr lang="en-IN"/>
          </a:p>
        </p:txBody>
      </p:sp>
      <p:sp>
        <p:nvSpPr>
          <p:cNvPr id="5" name="Footer Placeholder 4">
            <a:extLst>
              <a:ext uri="{FF2B5EF4-FFF2-40B4-BE49-F238E27FC236}">
                <a16:creationId xmlns:a16="http://schemas.microsoft.com/office/drawing/2014/main" id="{366ADC3E-64E9-4052-AAAA-0A77E649D2E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37B93A4B-8F28-4558-9932-5AEBAE56567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924892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61322-C13F-4F32-A9C2-A66C573C58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44B022-D55F-4115-A03E-92A7A8351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B1FBDE-AF6F-4F87-97D2-A1D19B658A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EDD9C9-F760-491D-BEB2-C9719B2DAA72}" type="datetime1">
              <a:rPr lang="en-IN" smtClean="0"/>
              <a:t>05-08-2026</a:t>
            </a:fld>
            <a:endParaRPr lang="en-IN"/>
          </a:p>
        </p:txBody>
      </p:sp>
      <p:sp>
        <p:nvSpPr>
          <p:cNvPr id="5" name="Footer Placeholder 4">
            <a:extLst>
              <a:ext uri="{FF2B5EF4-FFF2-40B4-BE49-F238E27FC236}">
                <a16:creationId xmlns:a16="http://schemas.microsoft.com/office/drawing/2014/main" id="{3105F895-F6B3-49E8-AE71-CA9D6A533B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EE01C5C0-3DE6-438F-852E-4102D3E141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CF31F-072A-420B-BD3B-3E62C5546025}" type="slidenum">
              <a:rPr lang="en-IN" smtClean="0"/>
              <a:t>‹#›</a:t>
            </a:fld>
            <a:endParaRPr lang="en-IN"/>
          </a:p>
        </p:txBody>
      </p:sp>
    </p:spTree>
    <p:extLst>
      <p:ext uri="{BB962C8B-B14F-4D97-AF65-F5344CB8AC3E}">
        <p14:creationId xmlns:p14="http://schemas.microsoft.com/office/powerpoint/2010/main" val="3735061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3389/fdgth.2023.1192975" TargetMode="External"/><Relationship Id="rId2" Type="http://schemas.openxmlformats.org/officeDocument/2006/relationships/hyperlink" Target="https://doi.org/10.1016/j.dss.2008.10.001" TargetMode="External"/><Relationship Id="rId1" Type="http://schemas.openxmlformats.org/officeDocument/2006/relationships/slideLayout" Target="../slideLayouts/slideLayout2.xml"/><Relationship Id="rId4" Type="http://schemas.openxmlformats.org/officeDocument/2006/relationships/hyperlink" Target="https://doi.org/10.2196/4676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Home | Rajalakshmi Engineering College (REC)">
            <a:extLst>
              <a:ext uri="{FF2B5EF4-FFF2-40B4-BE49-F238E27FC236}">
                <a16:creationId xmlns:a16="http://schemas.microsoft.com/office/drawing/2014/main" id="{B5C75A04-8A80-4B12-82DD-FB4D79DA72B3}"/>
              </a:ext>
            </a:extLst>
          </p:cNvPr>
          <p:cNvPicPr/>
          <p:nvPr/>
        </p:nvPicPr>
        <p:blipFill>
          <a:blip r:embed="rId2"/>
          <a:stretch/>
        </p:blipFill>
        <p:spPr>
          <a:xfrm>
            <a:off x="4305720" y="497541"/>
            <a:ext cx="3580560" cy="1155960"/>
          </a:xfrm>
          <a:prstGeom prst="rect">
            <a:avLst/>
          </a:prstGeom>
          <a:ln w="0">
            <a:noFill/>
          </a:ln>
        </p:spPr>
      </p:pic>
      <p:sp>
        <p:nvSpPr>
          <p:cNvPr id="13" name="PlaceHolder 1">
            <a:extLst>
              <a:ext uri="{FF2B5EF4-FFF2-40B4-BE49-F238E27FC236}">
                <a16:creationId xmlns:a16="http://schemas.microsoft.com/office/drawing/2014/main" id="{06BEF5B7-F160-4818-BC4E-3751DDE221D5}"/>
              </a:ext>
            </a:extLst>
          </p:cNvPr>
          <p:cNvSpPr txBox="1">
            <a:spLocks/>
          </p:cNvSpPr>
          <p:nvPr/>
        </p:nvSpPr>
        <p:spPr>
          <a:xfrm>
            <a:off x="1488141" y="1653501"/>
            <a:ext cx="9601199" cy="3931511"/>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641"/>
              </a:spcBef>
              <a:buFont typeface="Arial" panose="020B0604020202020204" pitchFamily="34" charset="0"/>
              <a:buNone/>
              <a:tabLst>
                <a:tab pos="0" algn="l"/>
              </a:tabLst>
            </a:pPr>
            <a:r>
              <a:rPr lang="en-US" sz="3200" spc="-1" dirty="0">
                <a:solidFill>
                  <a:schemeClr val="dk1"/>
                </a:solidFill>
                <a:latin typeface="Calibri"/>
              </a:rPr>
              <a:t>              </a:t>
            </a:r>
            <a:r>
              <a:rPr lang="en-US" sz="4000" spc="-1" dirty="0">
                <a:solidFill>
                  <a:schemeClr val="dk1"/>
                </a:solidFill>
                <a:latin typeface="Times New Roman"/>
              </a:rPr>
              <a:t>Department of Cyber Security</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2026-2027- Odd Semester</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III Year /V Sem</a:t>
            </a:r>
          </a:p>
          <a:p>
            <a:pPr indent="0">
              <a:lnSpc>
                <a:spcPct val="100000"/>
              </a:lnSpc>
              <a:spcBef>
                <a:spcPts val="641"/>
              </a:spcBef>
              <a:buNone/>
              <a:tabLst>
                <a:tab pos="0" algn="l"/>
              </a:tabLst>
            </a:pPr>
            <a:r>
              <a:rPr lang="en-US" b="1" dirty="0"/>
              <a:t>          CS23533-FOUNDATIONS OF ARTIFICIAL INTELLIGENCE</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Zeroth Review – 05.08.2026</a:t>
            </a:r>
            <a:endParaRPr lang="en-IN" sz="4000" spc="-1" dirty="0">
              <a:solidFill>
                <a:srgbClr val="000000"/>
              </a:solidFill>
              <a:latin typeface="Arial"/>
            </a:endParaRPr>
          </a:p>
        </p:txBody>
      </p:sp>
      <p:sp>
        <p:nvSpPr>
          <p:cNvPr id="14" name="Footer Placeholder 13">
            <a:extLst>
              <a:ext uri="{FF2B5EF4-FFF2-40B4-BE49-F238E27FC236}">
                <a16:creationId xmlns:a16="http://schemas.microsoft.com/office/drawing/2014/main" id="{9D81229B-0330-4B71-AFEC-B3C206A7C81E}"/>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2259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Home | Rajalakshmi Engineering College (REC)">
            <a:extLst>
              <a:ext uri="{FF2B5EF4-FFF2-40B4-BE49-F238E27FC236}">
                <a16:creationId xmlns:a16="http://schemas.microsoft.com/office/drawing/2014/main" id="{B5C75A04-8A80-4B12-82DD-FB4D79DA72B3}"/>
              </a:ext>
            </a:extLst>
          </p:cNvPr>
          <p:cNvPicPr/>
          <p:nvPr/>
        </p:nvPicPr>
        <p:blipFill>
          <a:blip r:embed="rId2"/>
          <a:stretch/>
        </p:blipFill>
        <p:spPr>
          <a:xfrm>
            <a:off x="3030071" y="497541"/>
            <a:ext cx="4856209" cy="1155960"/>
          </a:xfrm>
          <a:prstGeom prst="rect">
            <a:avLst/>
          </a:prstGeom>
          <a:ln w="0">
            <a:noFill/>
          </a:ln>
        </p:spPr>
      </p:pic>
      <p:sp>
        <p:nvSpPr>
          <p:cNvPr id="13" name="PlaceHolder 1">
            <a:extLst>
              <a:ext uri="{FF2B5EF4-FFF2-40B4-BE49-F238E27FC236}">
                <a16:creationId xmlns:a16="http://schemas.microsoft.com/office/drawing/2014/main" id="{06BEF5B7-F160-4818-BC4E-3751DDE221D5}"/>
              </a:ext>
            </a:extLst>
          </p:cNvPr>
          <p:cNvSpPr txBox="1">
            <a:spLocks/>
          </p:cNvSpPr>
          <p:nvPr/>
        </p:nvSpPr>
        <p:spPr>
          <a:xfrm>
            <a:off x="1295400" y="1653501"/>
            <a:ext cx="9601199" cy="1775499"/>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641"/>
              </a:spcBef>
              <a:buFont typeface="Arial" panose="020B0604020202020204" pitchFamily="34" charset="0"/>
              <a:buNone/>
              <a:tabLst>
                <a:tab pos="0" algn="l"/>
              </a:tabLst>
            </a:pPr>
            <a:r>
              <a:rPr lang="en-US" sz="3200" spc="-1" dirty="0">
                <a:solidFill>
                  <a:schemeClr val="dk1"/>
                </a:solidFill>
                <a:latin typeface="Calibri"/>
              </a:rPr>
              <a:t>                                 </a:t>
            </a:r>
          </a:p>
          <a:p>
            <a:pPr indent="0" algn="ctr">
              <a:lnSpc>
                <a:spcPct val="100000"/>
              </a:lnSpc>
              <a:spcBef>
                <a:spcPts val="641"/>
              </a:spcBef>
              <a:buFont typeface="Arial" panose="020B0604020202020204" pitchFamily="34" charset="0"/>
              <a:buNone/>
              <a:tabLst>
                <a:tab pos="0" algn="l"/>
              </a:tabLst>
            </a:pPr>
            <a:r>
              <a:rPr lang="en-US" sz="3200" b="1" spc="-1" dirty="0">
                <a:solidFill>
                  <a:schemeClr val="dk1"/>
                </a:solidFill>
                <a:latin typeface="Calibri"/>
              </a:rPr>
              <a:t>	 AI-Based Smart Patient Referral and Hospital Selection System</a:t>
            </a:r>
            <a:endParaRPr lang="en-IN" sz="4000" b="1" spc="-1" dirty="0">
              <a:solidFill>
                <a:srgbClr val="000000"/>
              </a:solidFill>
              <a:latin typeface="Arial"/>
            </a:endParaRPr>
          </a:p>
        </p:txBody>
      </p:sp>
      <p:sp>
        <p:nvSpPr>
          <p:cNvPr id="4" name="PlaceHolder 2">
            <a:extLst>
              <a:ext uri="{FF2B5EF4-FFF2-40B4-BE49-F238E27FC236}">
                <a16:creationId xmlns:a16="http://schemas.microsoft.com/office/drawing/2014/main" id="{C32D6708-F773-46E7-9E94-72075E88B5CC}"/>
              </a:ext>
            </a:extLst>
          </p:cNvPr>
          <p:cNvSpPr txBox="1">
            <a:spLocks/>
          </p:cNvSpPr>
          <p:nvPr/>
        </p:nvSpPr>
        <p:spPr>
          <a:xfrm>
            <a:off x="1698355" y="3764071"/>
            <a:ext cx="5476886" cy="1925619"/>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400"/>
              </a:spcBef>
              <a:buFont typeface="Arial" panose="020B0604020202020204" pitchFamily="34" charset="0"/>
              <a:buNone/>
              <a:tabLst>
                <a:tab pos="0" algn="l"/>
              </a:tabLst>
            </a:pPr>
            <a:r>
              <a:rPr lang="en-US" sz="2400" b="1" spc="-1" dirty="0">
                <a:solidFill>
                  <a:schemeClr val="dk1"/>
                </a:solidFill>
                <a:latin typeface="Times New Roman"/>
              </a:rPr>
              <a:t>Batch Members :</a:t>
            </a:r>
          </a:p>
          <a:p>
            <a:pPr indent="0">
              <a:lnSpc>
                <a:spcPct val="100000"/>
              </a:lnSpc>
              <a:spcBef>
                <a:spcPts val="400"/>
              </a:spcBef>
              <a:buFont typeface="Arial" panose="020B0604020202020204" pitchFamily="34" charset="0"/>
              <a:buNone/>
              <a:tabLst>
                <a:tab pos="0" algn="l"/>
              </a:tabLst>
            </a:pPr>
            <a:r>
              <a:rPr lang="en-US" sz="2400" b="1" spc="-1" dirty="0">
                <a:solidFill>
                  <a:schemeClr val="dk1"/>
                </a:solidFill>
                <a:latin typeface="Times New Roman"/>
              </a:rPr>
              <a:t>1. Name: Dhanalakshmi C   241901023</a:t>
            </a:r>
          </a:p>
          <a:p>
            <a:pPr indent="0">
              <a:lnSpc>
                <a:spcPct val="100000"/>
              </a:lnSpc>
              <a:spcBef>
                <a:spcPts val="400"/>
              </a:spcBef>
              <a:buFont typeface="Arial" panose="020B0604020202020204" pitchFamily="34" charset="0"/>
              <a:buNone/>
              <a:tabLst>
                <a:tab pos="0" algn="l"/>
              </a:tabLst>
            </a:pPr>
            <a:r>
              <a:rPr lang="en-US" sz="2400" b="1" spc="-1" dirty="0">
                <a:solidFill>
                  <a:schemeClr val="dk1"/>
                </a:solidFill>
                <a:latin typeface="Times New Roman"/>
              </a:rPr>
              <a:t>2. Name: Bharath V              241901018</a:t>
            </a:r>
            <a:endParaRPr lang="en-IN" sz="2400" spc="-1" dirty="0">
              <a:solidFill>
                <a:srgbClr val="000000"/>
              </a:solidFill>
              <a:latin typeface="Arial"/>
            </a:endParaRPr>
          </a:p>
          <a:p>
            <a:pPr indent="0">
              <a:lnSpc>
                <a:spcPct val="100000"/>
              </a:lnSpc>
              <a:spcBef>
                <a:spcPts val="400"/>
              </a:spcBef>
              <a:buFont typeface="Arial" panose="020B0604020202020204" pitchFamily="34" charset="0"/>
              <a:buNone/>
              <a:tabLst>
                <a:tab pos="0" algn="l"/>
              </a:tabLst>
            </a:pPr>
            <a:endParaRPr lang="en-IN" sz="2000" spc="-1" dirty="0">
              <a:solidFill>
                <a:srgbClr val="000000"/>
              </a:solidFill>
              <a:latin typeface="Arial"/>
            </a:endParaRPr>
          </a:p>
          <a:p>
            <a:pPr indent="0">
              <a:lnSpc>
                <a:spcPct val="100000"/>
              </a:lnSpc>
              <a:spcBef>
                <a:spcPts val="360"/>
              </a:spcBef>
              <a:buFont typeface="Arial" panose="020B0604020202020204" pitchFamily="34" charset="0"/>
              <a:buNone/>
              <a:tabLst>
                <a:tab pos="0" algn="l"/>
              </a:tabLst>
            </a:pPr>
            <a:endParaRPr lang="en-IN" sz="1800" spc="-1" dirty="0">
              <a:solidFill>
                <a:srgbClr val="000000"/>
              </a:solidFill>
              <a:latin typeface="Arial"/>
            </a:endParaRPr>
          </a:p>
        </p:txBody>
      </p:sp>
      <p:sp>
        <p:nvSpPr>
          <p:cNvPr id="5" name="PlaceHolder 2">
            <a:extLst>
              <a:ext uri="{FF2B5EF4-FFF2-40B4-BE49-F238E27FC236}">
                <a16:creationId xmlns:a16="http://schemas.microsoft.com/office/drawing/2014/main" id="{34960059-C4DC-4A0F-82B7-476907EEDA90}"/>
              </a:ext>
            </a:extLst>
          </p:cNvPr>
          <p:cNvSpPr txBox="1">
            <a:spLocks/>
          </p:cNvSpPr>
          <p:nvPr/>
        </p:nvSpPr>
        <p:spPr>
          <a:xfrm>
            <a:off x="7585788" y="3764071"/>
            <a:ext cx="4387046" cy="1610711"/>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b="1" strike="noStrike" spc="-1" dirty="0">
                <a:solidFill>
                  <a:schemeClr val="dk1"/>
                </a:solidFill>
                <a:latin typeface="Times New Roman"/>
              </a:rPr>
              <a:t>Supervisor:</a:t>
            </a:r>
            <a:endParaRPr lang="en-IN" sz="2400" b="0" strike="noStrike" spc="-1" dirty="0">
              <a:solidFill>
                <a:srgbClr val="000000"/>
              </a:solidFill>
              <a:latin typeface="Arial"/>
            </a:endParaRPr>
          </a:p>
          <a:p>
            <a:pPr marL="0" indent="0">
              <a:lnSpc>
                <a:spcPct val="100000"/>
              </a:lnSpc>
              <a:buNone/>
            </a:pPr>
            <a:r>
              <a:rPr lang="en-US" sz="2400" b="1" strike="noStrike" spc="-1" dirty="0">
                <a:solidFill>
                  <a:schemeClr val="dk1"/>
                </a:solidFill>
                <a:latin typeface="Times New Roman"/>
              </a:rPr>
              <a:t>Dr. </a:t>
            </a:r>
            <a:r>
              <a:rPr lang="en-US" sz="2400" b="1" strike="noStrike" spc="-1" dirty="0" err="1">
                <a:solidFill>
                  <a:schemeClr val="dk1"/>
                </a:solidFill>
                <a:latin typeface="Times New Roman"/>
              </a:rPr>
              <a:t>S.Bhuvana</a:t>
            </a:r>
            <a:endParaRPr lang="en-IN" sz="2400" b="0" strike="noStrike" spc="-1" dirty="0">
              <a:solidFill>
                <a:srgbClr val="000000"/>
              </a:solidFill>
              <a:latin typeface="Arial"/>
            </a:endParaRPr>
          </a:p>
          <a:p>
            <a:pPr marL="0" indent="0">
              <a:lnSpc>
                <a:spcPct val="100000"/>
              </a:lnSpc>
              <a:buNone/>
            </a:pPr>
            <a:r>
              <a:rPr lang="en-US" sz="3200" b="1" spc="-1" baseline="33000" dirty="0">
                <a:solidFill>
                  <a:schemeClr val="dk1"/>
                </a:solidFill>
                <a:latin typeface="Times New Roman"/>
              </a:rPr>
              <a:t>Assistant Professor[SG]</a:t>
            </a:r>
            <a:endParaRPr lang="en-IN" sz="3200" b="0" strike="noStrike" spc="-1" dirty="0">
              <a:solidFill>
                <a:srgbClr val="000000"/>
              </a:solidFill>
              <a:latin typeface="Arial"/>
            </a:endParaRPr>
          </a:p>
          <a:p>
            <a:pPr indent="0">
              <a:lnSpc>
                <a:spcPct val="100000"/>
              </a:lnSpc>
              <a:spcBef>
                <a:spcPts val="360"/>
              </a:spcBef>
              <a:buFont typeface="Arial" panose="020B0604020202020204" pitchFamily="34" charset="0"/>
              <a:buNone/>
              <a:tabLst>
                <a:tab pos="0" algn="l"/>
              </a:tabLst>
            </a:pPr>
            <a:endParaRPr lang="en-IN" sz="1800" spc="-1" dirty="0">
              <a:solidFill>
                <a:srgbClr val="000000"/>
              </a:solidFill>
              <a:latin typeface="Arial"/>
            </a:endParaRPr>
          </a:p>
        </p:txBody>
      </p:sp>
      <p:sp>
        <p:nvSpPr>
          <p:cNvPr id="2" name="Footer Placeholder 1">
            <a:extLst>
              <a:ext uri="{FF2B5EF4-FFF2-40B4-BE49-F238E27FC236}">
                <a16:creationId xmlns:a16="http://schemas.microsoft.com/office/drawing/2014/main" id="{B9EA50C1-7D90-44B1-A258-E5A0DCD6BCCE}"/>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589848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9FF9B-84EC-4676-8D8A-BE77AD168FCD}"/>
              </a:ext>
            </a:extLst>
          </p:cNvPr>
          <p:cNvSpPr>
            <a:spLocks noGrp="1"/>
          </p:cNvSpPr>
          <p:nvPr>
            <p:ph type="title"/>
          </p:nvPr>
        </p:nvSpPr>
        <p:spPr/>
        <p:txBody>
          <a:bodyPr/>
          <a:lstStyle/>
          <a:p>
            <a:pPr algn="ctr"/>
            <a:r>
              <a:rPr lang="en-US" b="1" spc="-1" dirty="0">
                <a:solidFill>
                  <a:schemeClr val="accent1">
                    <a:lumMod val="50000"/>
                  </a:schemeClr>
                </a:solidFill>
                <a:latin typeface="Times New Roman"/>
              </a:rPr>
              <a:t>OUTLINE</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DACBC5E5-D6BC-4856-A612-FD6448275CA9}"/>
              </a:ext>
            </a:extLst>
          </p:cNvPr>
          <p:cNvSpPr>
            <a:spLocks noGrp="1"/>
          </p:cNvSpPr>
          <p:nvPr>
            <p:ph idx="1"/>
          </p:nvPr>
        </p:nvSpPr>
        <p:spPr>
          <a:xfrm>
            <a:off x="918882" y="1771837"/>
            <a:ext cx="10515600" cy="4351338"/>
          </a:xfrm>
        </p:spPr>
        <p:txBody>
          <a:bodyPr>
            <a:normAutofit fontScale="77500" lnSpcReduction="20000"/>
          </a:bodyPr>
          <a:lstStyle/>
          <a:p>
            <a:pPr marL="343080" indent="-343080">
              <a:lnSpc>
                <a:spcPct val="150000"/>
              </a:lnSpc>
              <a:spcBef>
                <a:spcPts val="819"/>
              </a:spcBef>
              <a:buClr>
                <a:srgbClr val="000000"/>
              </a:buClr>
              <a:buFont typeface="Arial"/>
              <a:buChar char="•"/>
            </a:pPr>
            <a:r>
              <a:rPr lang="en-IN" spc="-1" dirty="0">
                <a:solidFill>
                  <a:schemeClr val="dk1"/>
                </a:solidFill>
                <a:latin typeface="Times New Roman"/>
              </a:rPr>
              <a:t>Abstract</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Objective</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Literature Survey</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US" spc="-1" dirty="0">
                <a:solidFill>
                  <a:schemeClr val="dk1"/>
                </a:solidFill>
                <a:latin typeface="Times New Roman"/>
              </a:rPr>
              <a:t>Summary of Literature</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Proposed System &amp; Novelty</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Block Diagram</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US" spc="-1" dirty="0">
                <a:solidFill>
                  <a:schemeClr val="dk1"/>
                </a:solidFill>
                <a:latin typeface="Times New Roman"/>
              </a:rPr>
              <a:t>Hardware/Software requirements</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References</a:t>
            </a:r>
            <a:endParaRPr lang="en-IN" spc="-1" dirty="0">
              <a:solidFill>
                <a:srgbClr val="000000"/>
              </a:solidFill>
              <a:latin typeface="Arial"/>
            </a:endParaRPr>
          </a:p>
          <a:p>
            <a:endParaRPr lang="en-IN" dirty="0"/>
          </a:p>
        </p:txBody>
      </p:sp>
      <p:sp>
        <p:nvSpPr>
          <p:cNvPr id="5" name="Footer Placeholder 4">
            <a:extLst>
              <a:ext uri="{FF2B5EF4-FFF2-40B4-BE49-F238E27FC236}">
                <a16:creationId xmlns:a16="http://schemas.microsoft.com/office/drawing/2014/main" id="{92766A6D-AFEB-431C-8C27-3D289E1F416E}"/>
              </a:ext>
            </a:extLst>
          </p:cNvPr>
          <p:cNvSpPr>
            <a:spLocks noGrp="1"/>
          </p:cNvSpPr>
          <p:nvPr>
            <p:ph type="ftr" sz="quarter" idx="11"/>
          </p:nvPr>
        </p:nvSpPr>
        <p:spPr>
          <a:xfrm>
            <a:off x="4038600" y="6356350"/>
            <a:ext cx="4114800" cy="365125"/>
          </a:xfrm>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522223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0574-4D6E-453A-A5B1-E1B1A0126EB9}"/>
              </a:ext>
            </a:extLst>
          </p:cNvPr>
          <p:cNvSpPr>
            <a:spLocks noGrp="1"/>
          </p:cNvSpPr>
          <p:nvPr>
            <p:ph type="title"/>
          </p:nvPr>
        </p:nvSpPr>
        <p:spPr/>
        <p:txBody>
          <a:bodyPr/>
          <a:lstStyle/>
          <a:p>
            <a:pPr algn="ctr"/>
            <a:r>
              <a:rPr lang="en-US" b="1" dirty="0">
                <a:solidFill>
                  <a:schemeClr val="accent1">
                    <a:lumMod val="50000"/>
                  </a:schemeClr>
                </a:solidFill>
              </a:rPr>
              <a:t>ABSTRACT</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A2770EE2-8C3E-4EFA-8326-85AEA10ABEB2}"/>
              </a:ext>
            </a:extLst>
          </p:cNvPr>
          <p:cNvSpPr>
            <a:spLocks noGrp="1"/>
          </p:cNvSpPr>
          <p:nvPr>
            <p:ph idx="1"/>
          </p:nvPr>
        </p:nvSpPr>
        <p:spPr/>
        <p:txBody>
          <a:bodyPr>
            <a:normAutofit/>
          </a:bodyPr>
          <a:lstStyle/>
          <a:p>
            <a:pPr marL="0" indent="0" algn="just">
              <a:buNone/>
            </a:pPr>
            <a:r>
              <a:rPr lang="en-US" sz="2400" dirty="0"/>
              <a:t>Healthcare providers often face challenges in referring patients to the right hospital during emergencies due to differences in medical specialties, treatment facilities, resource availability, and patient conditions. This project proposes an </a:t>
            </a:r>
            <a:r>
              <a:rPr lang="en-US" sz="2400" b="1" dirty="0"/>
              <a:t>AI-Based</a:t>
            </a:r>
            <a:r>
              <a:rPr lang="en-US" sz="2400" dirty="0"/>
              <a:t> </a:t>
            </a:r>
            <a:r>
              <a:rPr lang="en-US" sz="2400" b="1" dirty="0"/>
              <a:t>Smart Patient Referral and Hospital Selection System </a:t>
            </a:r>
            <a:r>
              <a:rPr lang="en-US" sz="2400" dirty="0"/>
              <a:t>that uses classical AI techniques to analyze patient symptoms, identify healthcare requirements, and recommend the most suitable hospital based on specialist availability, medical facilities, resource availability, and travel distance. By applying knowledge-based reasoning, Best-First Search, and Constraint Satisfaction, the system aims to improve referral accuracy, reduce treatment delays, and support efficient and explainable healthcare decision-making.</a:t>
            </a:r>
          </a:p>
        </p:txBody>
      </p:sp>
      <p:sp>
        <p:nvSpPr>
          <p:cNvPr id="4" name="Footer Placeholder 3">
            <a:extLst>
              <a:ext uri="{FF2B5EF4-FFF2-40B4-BE49-F238E27FC236}">
                <a16:creationId xmlns:a16="http://schemas.microsoft.com/office/drawing/2014/main" id="{8C253352-E09F-4AB3-90E5-A8680AC6D6F3}"/>
              </a:ext>
            </a:extLst>
          </p:cNvPr>
          <p:cNvSpPr>
            <a:spLocks noGrp="1"/>
          </p:cNvSpPr>
          <p:nvPr>
            <p:ph type="ftr" sz="quarter" idx="11"/>
          </p:nvPr>
        </p:nvSpPr>
        <p:spPr/>
        <p:txBody>
          <a:bodyPr/>
          <a:lstStyle/>
          <a:p>
            <a:r>
              <a:rPr lang="en-US" dirty="0"/>
              <a:t>Rajalakshmi Engineering </a:t>
            </a:r>
            <a:r>
              <a:rPr lang="en-US" dirty="0" err="1"/>
              <a:t>College,Department</a:t>
            </a:r>
            <a:r>
              <a:rPr lang="en-US" dirty="0"/>
              <a:t> of Cyber Security</a:t>
            </a:r>
            <a:endParaRPr lang="en-IN" dirty="0"/>
          </a:p>
        </p:txBody>
      </p:sp>
    </p:spTree>
    <p:extLst>
      <p:ext uri="{BB962C8B-B14F-4D97-AF65-F5344CB8AC3E}">
        <p14:creationId xmlns:p14="http://schemas.microsoft.com/office/powerpoint/2010/main" val="411113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5A73F-58BE-494C-9E37-463BBF53F79A}"/>
              </a:ext>
            </a:extLst>
          </p:cNvPr>
          <p:cNvSpPr>
            <a:spLocks noGrp="1"/>
          </p:cNvSpPr>
          <p:nvPr>
            <p:ph type="title"/>
          </p:nvPr>
        </p:nvSpPr>
        <p:spPr/>
        <p:txBody>
          <a:bodyPr/>
          <a:lstStyle/>
          <a:p>
            <a:pPr algn="ctr"/>
            <a:r>
              <a:rPr lang="en-US" b="1" dirty="0">
                <a:solidFill>
                  <a:schemeClr val="accent1">
                    <a:lumMod val="50000"/>
                  </a:schemeClr>
                </a:solidFill>
              </a:rPr>
              <a:t>OBJECTIVE</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CAFE6CE6-DDFD-4A02-805E-98888285608C}"/>
              </a:ext>
            </a:extLst>
          </p:cNvPr>
          <p:cNvSpPr>
            <a:spLocks noGrp="1"/>
          </p:cNvSpPr>
          <p:nvPr>
            <p:ph idx="1"/>
          </p:nvPr>
        </p:nvSpPr>
        <p:spPr/>
        <p:txBody>
          <a:bodyPr>
            <a:normAutofit/>
          </a:bodyPr>
          <a:lstStyle/>
          <a:p>
            <a:r>
              <a:rPr lang="en-US" sz="2400" dirty="0"/>
              <a:t>Develop an </a:t>
            </a:r>
            <a:r>
              <a:rPr lang="en-US" sz="2400" b="1" dirty="0"/>
              <a:t>AI-based patient referral system.</a:t>
            </a:r>
          </a:p>
          <a:p>
            <a:r>
              <a:rPr lang="en-US" sz="2400" dirty="0"/>
              <a:t>Analyze patient symptoms and healthcare requirements.</a:t>
            </a:r>
          </a:p>
          <a:p>
            <a:r>
              <a:rPr lang="en-US" sz="2400" dirty="0"/>
              <a:t>Identify the required medical specialty.</a:t>
            </a:r>
          </a:p>
          <a:p>
            <a:r>
              <a:rPr lang="en-US" sz="2400" dirty="0"/>
              <a:t>Recommend the most suitable hospital.</a:t>
            </a:r>
          </a:p>
          <a:p>
            <a:r>
              <a:rPr lang="en-US" sz="2400" dirty="0"/>
              <a:t>Reduce patient referral delays.</a:t>
            </a:r>
          </a:p>
          <a:p>
            <a:r>
              <a:rPr lang="en-US" sz="2400" dirty="0"/>
              <a:t>Optimize healthcare resource utilization</a:t>
            </a:r>
            <a:endParaRPr lang="en-IN" sz="2400" dirty="0"/>
          </a:p>
        </p:txBody>
      </p:sp>
      <p:sp>
        <p:nvSpPr>
          <p:cNvPr id="4" name="Footer Placeholder 3">
            <a:extLst>
              <a:ext uri="{FF2B5EF4-FFF2-40B4-BE49-F238E27FC236}">
                <a16:creationId xmlns:a16="http://schemas.microsoft.com/office/drawing/2014/main" id="{18E4B311-0D66-420D-91AF-1DC9BBF4EC96}"/>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540813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021B0-8A61-4C94-955E-EB6F2E038627}"/>
              </a:ext>
            </a:extLst>
          </p:cNvPr>
          <p:cNvSpPr>
            <a:spLocks noGrp="1"/>
          </p:cNvSpPr>
          <p:nvPr>
            <p:ph type="title"/>
          </p:nvPr>
        </p:nvSpPr>
        <p:spPr/>
        <p:txBody>
          <a:bodyPr/>
          <a:lstStyle/>
          <a:p>
            <a:pPr algn="ctr"/>
            <a:r>
              <a:rPr lang="en-IN" spc="-1" dirty="0">
                <a:solidFill>
                  <a:schemeClr val="accent1">
                    <a:lumMod val="50000"/>
                  </a:schemeClr>
                </a:solidFill>
                <a:latin typeface="Times New Roman"/>
              </a:rPr>
              <a:t>Literature Survey</a:t>
            </a:r>
            <a:endParaRPr lang="en-IN" dirty="0">
              <a:solidFill>
                <a:schemeClr val="accent1">
                  <a:lumMod val="50000"/>
                </a:schemeClr>
              </a:solidFill>
            </a:endParaRPr>
          </a:p>
        </p:txBody>
      </p:sp>
      <p:graphicFrame>
        <p:nvGraphicFramePr>
          <p:cNvPr id="4" name="Content Placeholder 3">
            <a:extLst>
              <a:ext uri="{FF2B5EF4-FFF2-40B4-BE49-F238E27FC236}">
                <a16:creationId xmlns:a16="http://schemas.microsoft.com/office/drawing/2014/main" id="{94AD0D87-7379-47F8-8088-D1CC07223467}"/>
              </a:ext>
            </a:extLst>
          </p:cNvPr>
          <p:cNvGraphicFramePr>
            <a:graphicFrameLocks noGrp="1"/>
          </p:cNvGraphicFramePr>
          <p:nvPr>
            <p:ph idx="1"/>
            <p:extLst>
              <p:ext uri="{D42A27DB-BD31-4B8C-83A1-F6EECF244321}">
                <p14:modId xmlns:p14="http://schemas.microsoft.com/office/powerpoint/2010/main" val="2194846366"/>
              </p:ext>
            </p:extLst>
          </p:nvPr>
        </p:nvGraphicFramePr>
        <p:xfrm>
          <a:off x="986116" y="1488055"/>
          <a:ext cx="10367684" cy="4944829"/>
        </p:xfrm>
        <a:graphic>
          <a:graphicData uri="http://schemas.openxmlformats.org/drawingml/2006/table">
            <a:tbl>
              <a:tblPr firstRow="1" bandRow="1">
                <a:tableStyleId>{5C22544A-7EE6-4342-B048-85BDC9FD1C3A}</a:tableStyleId>
              </a:tblPr>
              <a:tblGrid>
                <a:gridCol w="2591921">
                  <a:extLst>
                    <a:ext uri="{9D8B030D-6E8A-4147-A177-3AD203B41FA5}">
                      <a16:colId xmlns:a16="http://schemas.microsoft.com/office/drawing/2014/main" val="211445039"/>
                    </a:ext>
                  </a:extLst>
                </a:gridCol>
                <a:gridCol w="2591921">
                  <a:extLst>
                    <a:ext uri="{9D8B030D-6E8A-4147-A177-3AD203B41FA5}">
                      <a16:colId xmlns:a16="http://schemas.microsoft.com/office/drawing/2014/main" val="2379671661"/>
                    </a:ext>
                  </a:extLst>
                </a:gridCol>
                <a:gridCol w="2591921">
                  <a:extLst>
                    <a:ext uri="{9D8B030D-6E8A-4147-A177-3AD203B41FA5}">
                      <a16:colId xmlns:a16="http://schemas.microsoft.com/office/drawing/2014/main" val="1466785847"/>
                    </a:ext>
                  </a:extLst>
                </a:gridCol>
                <a:gridCol w="2591921">
                  <a:extLst>
                    <a:ext uri="{9D8B030D-6E8A-4147-A177-3AD203B41FA5}">
                      <a16:colId xmlns:a16="http://schemas.microsoft.com/office/drawing/2014/main" val="1579054086"/>
                    </a:ext>
                  </a:extLst>
                </a:gridCol>
              </a:tblGrid>
              <a:tr h="830029">
                <a:tc>
                  <a:txBody>
                    <a:bodyPr/>
                    <a:lstStyle/>
                    <a:p>
                      <a:pPr algn="ctr"/>
                      <a:r>
                        <a:rPr lang="en-US" sz="2800" dirty="0"/>
                        <a:t>TITLE</a:t>
                      </a:r>
                      <a:endParaRPr lang="en-IN" sz="2800" dirty="0"/>
                    </a:p>
                  </a:txBody>
                  <a:tcPr/>
                </a:tc>
                <a:tc>
                  <a:txBody>
                    <a:bodyPr/>
                    <a:lstStyle/>
                    <a:p>
                      <a:pPr algn="ctr"/>
                      <a:r>
                        <a:rPr lang="en-US" sz="2800"/>
                        <a:t>YEAR</a:t>
                      </a:r>
                      <a:endParaRPr lang="en-IN" sz="2800" dirty="0"/>
                    </a:p>
                  </a:txBody>
                  <a:tcPr/>
                </a:tc>
                <a:tc>
                  <a:txBody>
                    <a:bodyPr/>
                    <a:lstStyle/>
                    <a:p>
                      <a:pPr algn="ctr"/>
                      <a:r>
                        <a:rPr lang="en-US" sz="2800"/>
                        <a:t>AUTHOR</a:t>
                      </a:r>
                      <a:endParaRPr lang="en-IN" sz="2800" dirty="0"/>
                    </a:p>
                  </a:txBody>
                  <a:tcPr/>
                </a:tc>
                <a:tc>
                  <a:txBody>
                    <a:bodyPr/>
                    <a:lstStyle/>
                    <a:p>
                      <a:pPr algn="ctr"/>
                      <a:r>
                        <a:rPr lang="en-US" sz="2800"/>
                        <a:t>TECHNIQUE</a:t>
                      </a:r>
                      <a:endParaRPr lang="en-IN" sz="2800" dirty="0"/>
                    </a:p>
                  </a:txBody>
                  <a:tcPr/>
                </a:tc>
                <a:extLst>
                  <a:ext uri="{0D108BD9-81ED-4DB2-BD59-A6C34878D82A}">
                    <a16:rowId xmlns:a16="http://schemas.microsoft.com/office/drawing/2014/main" val="2693069419"/>
                  </a:ext>
                </a:extLst>
              </a:tr>
              <a:tr h="830029">
                <a:tc>
                  <a:txBody>
                    <a:bodyPr/>
                    <a:lstStyle/>
                    <a:p>
                      <a:pPr algn="just"/>
                      <a:r>
                        <a:rPr lang="en-US" dirty="0"/>
                        <a:t>Building a Hospital Referral Expert System with a Prediction and Optimization-Based Decision Support System Algorithm</a:t>
                      </a:r>
                      <a:endParaRPr lang="en-IN" dirty="0"/>
                    </a:p>
                  </a:txBody>
                  <a:tcPr/>
                </a:tc>
                <a:tc>
                  <a:txBody>
                    <a:bodyPr/>
                    <a:lstStyle/>
                    <a:p>
                      <a:pPr algn="ctr"/>
                      <a:r>
                        <a:rPr lang="en-US" dirty="0"/>
                        <a:t>2008</a:t>
                      </a:r>
                      <a:endParaRPr lang="en-IN" dirty="0"/>
                    </a:p>
                  </a:txBody>
                  <a:tcPr/>
                </a:tc>
                <a:tc>
                  <a:txBody>
                    <a:bodyPr/>
                    <a:lstStyle/>
                    <a:p>
                      <a:r>
                        <a:rPr lang="en-IN"/>
                        <a:t>Chih-Lin Chi, W. Nick Street, Marcia M. Ward</a:t>
                      </a:r>
                      <a:endParaRPr lang="en-IN" dirty="0"/>
                    </a:p>
                  </a:txBody>
                  <a:tcPr/>
                </a:tc>
                <a:tc>
                  <a:txBody>
                    <a:bodyPr/>
                    <a:lstStyle/>
                    <a:p>
                      <a:r>
                        <a:rPr lang="en-IN"/>
                        <a:t>Expert System, Decision Support</a:t>
                      </a:r>
                      <a:endParaRPr lang="en-IN" dirty="0"/>
                    </a:p>
                  </a:txBody>
                  <a:tcPr/>
                </a:tc>
                <a:extLst>
                  <a:ext uri="{0D108BD9-81ED-4DB2-BD59-A6C34878D82A}">
                    <a16:rowId xmlns:a16="http://schemas.microsoft.com/office/drawing/2014/main" val="2101231002"/>
                  </a:ext>
                </a:extLst>
              </a:tr>
              <a:tr h="830029">
                <a:tc>
                  <a:txBody>
                    <a:bodyPr/>
                    <a:lstStyle/>
                    <a:p>
                      <a:pPr algn="just"/>
                      <a:r>
                        <a:rPr lang="en-US" dirty="0"/>
                        <a:t>Artificial Intelligence in Medical Referrals Triage Based on Clinical Prioritization Criteria</a:t>
                      </a:r>
                      <a:endParaRPr lang="en-IN" dirty="0"/>
                    </a:p>
                  </a:txBody>
                  <a:tcPr/>
                </a:tc>
                <a:tc>
                  <a:txBody>
                    <a:bodyPr/>
                    <a:lstStyle/>
                    <a:p>
                      <a:pPr algn="ctr"/>
                      <a:r>
                        <a:rPr lang="en-US"/>
                        <a:t>2023</a:t>
                      </a:r>
                      <a:endParaRPr lang="en-IN" dirty="0"/>
                    </a:p>
                  </a:txBody>
                  <a:tcPr/>
                </a:tc>
                <a:tc>
                  <a:txBody>
                    <a:bodyPr/>
                    <a:lstStyle/>
                    <a:p>
                      <a:r>
                        <a:rPr lang="en-US"/>
                        <a:t>Abdel-Hafez et al.</a:t>
                      </a:r>
                      <a:endParaRPr lang="en-IN" dirty="0"/>
                    </a:p>
                  </a:txBody>
                  <a:tcPr/>
                </a:tc>
                <a:tc>
                  <a:txBody>
                    <a:bodyPr/>
                    <a:lstStyle/>
                    <a:p>
                      <a:r>
                        <a:rPr lang="en-US" dirty="0"/>
                        <a:t>AI-Based Referral Triage</a:t>
                      </a:r>
                      <a:endParaRPr lang="en-IN" dirty="0"/>
                    </a:p>
                  </a:txBody>
                  <a:tcPr/>
                </a:tc>
                <a:extLst>
                  <a:ext uri="{0D108BD9-81ED-4DB2-BD59-A6C34878D82A}">
                    <a16:rowId xmlns:a16="http://schemas.microsoft.com/office/drawing/2014/main" val="3550106974"/>
                  </a:ext>
                </a:extLst>
              </a:tr>
              <a:tr h="830029">
                <a:tc>
                  <a:txBody>
                    <a:bodyPr/>
                    <a:lstStyle/>
                    <a:p>
                      <a:pPr algn="just"/>
                      <a:r>
                        <a:rPr lang="en-US" dirty="0"/>
                        <a:t>Diagnostic Performance, Triage Safety, and Usability of a Clinical Decision Support System</a:t>
                      </a:r>
                      <a:endParaRPr lang="en-IN" dirty="0"/>
                    </a:p>
                  </a:txBody>
                  <a:tcPr/>
                </a:tc>
                <a:tc>
                  <a:txBody>
                    <a:bodyPr/>
                    <a:lstStyle/>
                    <a:p>
                      <a:pPr algn="ctr"/>
                      <a:r>
                        <a:rPr lang="en-US"/>
                        <a:t>2023</a:t>
                      </a:r>
                      <a:endParaRPr lang="en-IN" dirty="0"/>
                    </a:p>
                  </a:txBody>
                  <a:tcPr/>
                </a:tc>
                <a:tc>
                  <a:txBody>
                    <a:bodyPr/>
                    <a:lstStyle/>
                    <a:p>
                      <a:r>
                        <a:rPr lang="en-IN" dirty="0"/>
                        <a:t>Juhani Määttä et al.</a:t>
                      </a:r>
                    </a:p>
                  </a:txBody>
                  <a:tcPr/>
                </a:tc>
                <a:tc>
                  <a:txBody>
                    <a:bodyPr/>
                    <a:lstStyle/>
                    <a:p>
                      <a:r>
                        <a:rPr lang="en-US" dirty="0"/>
                        <a:t>Clinical Decision Support System</a:t>
                      </a:r>
                      <a:endParaRPr lang="en-IN" dirty="0"/>
                    </a:p>
                  </a:txBody>
                  <a:tcPr/>
                </a:tc>
                <a:extLst>
                  <a:ext uri="{0D108BD9-81ED-4DB2-BD59-A6C34878D82A}">
                    <a16:rowId xmlns:a16="http://schemas.microsoft.com/office/drawing/2014/main" val="2759713615"/>
                  </a:ext>
                </a:extLst>
              </a:tr>
            </a:tbl>
          </a:graphicData>
        </a:graphic>
      </p:graphicFrame>
      <p:sp>
        <p:nvSpPr>
          <p:cNvPr id="5" name="Footer Placeholder 4">
            <a:extLst>
              <a:ext uri="{FF2B5EF4-FFF2-40B4-BE49-F238E27FC236}">
                <a16:creationId xmlns:a16="http://schemas.microsoft.com/office/drawing/2014/main" id="{1B883424-B635-4198-810C-92D50E39AF1D}"/>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1808432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04C7A-54D8-44AC-8481-E79F9A0AB8BB}"/>
              </a:ext>
            </a:extLst>
          </p:cNvPr>
          <p:cNvSpPr>
            <a:spLocks noGrp="1"/>
          </p:cNvSpPr>
          <p:nvPr>
            <p:ph type="title"/>
          </p:nvPr>
        </p:nvSpPr>
        <p:spPr/>
        <p:txBody>
          <a:bodyPr/>
          <a:lstStyle/>
          <a:p>
            <a:pPr algn="ctr"/>
            <a:r>
              <a:rPr lang="en-US" b="1" dirty="0">
                <a:solidFill>
                  <a:schemeClr val="accent1">
                    <a:lumMod val="50000"/>
                  </a:schemeClr>
                </a:solidFill>
              </a:rPr>
              <a:t>EXISTING SYSTEM</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1CB5B631-2B4C-4BA3-8942-6B33D4775DF9}"/>
              </a:ext>
            </a:extLst>
          </p:cNvPr>
          <p:cNvSpPr>
            <a:spLocks noGrp="1"/>
          </p:cNvSpPr>
          <p:nvPr>
            <p:ph idx="1"/>
          </p:nvPr>
        </p:nvSpPr>
        <p:spPr/>
        <p:txBody>
          <a:bodyPr>
            <a:normAutofit/>
          </a:bodyPr>
          <a:lstStyle/>
          <a:p>
            <a:r>
              <a:rPr lang="en-US" sz="2400" dirty="0"/>
              <a:t>Manual patient referral process.</a:t>
            </a:r>
          </a:p>
          <a:p>
            <a:r>
              <a:rPr lang="en-US" sz="2400" dirty="0"/>
              <a:t>Referral decisions rely on physician experience.</a:t>
            </a:r>
          </a:p>
          <a:p>
            <a:r>
              <a:rPr lang="en-US" sz="2400" dirty="0"/>
              <a:t>No intelligent hospital recommendation mechanism.</a:t>
            </a:r>
          </a:p>
          <a:p>
            <a:r>
              <a:rPr lang="en-US" sz="2400" dirty="0"/>
              <a:t>Resource availability is not considered effectively.</a:t>
            </a:r>
          </a:p>
          <a:p>
            <a:r>
              <a:rPr lang="en-US" sz="2400" dirty="0"/>
              <a:t>Treatment delays during emergency referrals.</a:t>
            </a:r>
          </a:p>
          <a:p>
            <a:r>
              <a:rPr lang="en-US" sz="2400" dirty="0"/>
              <a:t>Limited evaluation of hospital facilities and specialists.</a:t>
            </a:r>
          </a:p>
          <a:p>
            <a:r>
              <a:rPr lang="en-US" sz="2400" dirty="0"/>
              <a:t>Lack of transparency in referral decisions</a:t>
            </a:r>
            <a:endParaRPr lang="en-IN" sz="2400" dirty="0"/>
          </a:p>
        </p:txBody>
      </p:sp>
      <p:sp>
        <p:nvSpPr>
          <p:cNvPr id="4" name="Footer Placeholder 3">
            <a:extLst>
              <a:ext uri="{FF2B5EF4-FFF2-40B4-BE49-F238E27FC236}">
                <a16:creationId xmlns:a16="http://schemas.microsoft.com/office/drawing/2014/main" id="{9E2DA2FF-5972-46F4-AABC-25976B756840}"/>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262058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2F28B-DC07-4D8C-925B-B394652D503D}"/>
              </a:ext>
            </a:extLst>
          </p:cNvPr>
          <p:cNvSpPr>
            <a:spLocks noGrp="1"/>
          </p:cNvSpPr>
          <p:nvPr>
            <p:ph type="title"/>
          </p:nvPr>
        </p:nvSpPr>
        <p:spPr/>
        <p:txBody>
          <a:bodyPr/>
          <a:lstStyle/>
          <a:p>
            <a:pPr algn="ctr"/>
            <a:r>
              <a:rPr lang="en-US" b="1" dirty="0">
                <a:solidFill>
                  <a:schemeClr val="accent1">
                    <a:lumMod val="50000"/>
                  </a:schemeClr>
                </a:solidFill>
              </a:rPr>
              <a:t>PROPOSED SYSTEM</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BCA172C8-9EE9-4B51-8A7A-63583EB3DAEF}"/>
              </a:ext>
            </a:extLst>
          </p:cNvPr>
          <p:cNvSpPr>
            <a:spLocks noGrp="1"/>
          </p:cNvSpPr>
          <p:nvPr>
            <p:ph idx="1"/>
          </p:nvPr>
        </p:nvSpPr>
        <p:spPr/>
        <p:txBody>
          <a:bodyPr/>
          <a:lstStyle/>
          <a:p>
            <a:r>
              <a:rPr lang="en-US" sz="2400" dirty="0"/>
              <a:t>AI-based patient referral decision support system.</a:t>
            </a:r>
          </a:p>
          <a:p>
            <a:r>
              <a:rPr lang="en-US" sz="2400" dirty="0"/>
              <a:t>Uses Knowledge-Based Agent with logical reasoning.</a:t>
            </a:r>
          </a:p>
          <a:p>
            <a:r>
              <a:rPr lang="en-US" sz="2400" dirty="0"/>
              <a:t>Applies Forward &amp; Backward Chaining for inference.</a:t>
            </a:r>
          </a:p>
          <a:p>
            <a:r>
              <a:rPr lang="en-US" sz="2400" dirty="0"/>
              <a:t>Uses Best-First Search for hospital selection.</a:t>
            </a:r>
          </a:p>
          <a:p>
            <a:r>
              <a:rPr lang="en-US" sz="2400" dirty="0"/>
              <a:t>Evaluates hospitals using Search Algorithms.</a:t>
            </a:r>
          </a:p>
          <a:p>
            <a:r>
              <a:rPr lang="en-US" sz="2400" dirty="0"/>
              <a:t>Uses Constraint Satisfaction for optimal selection.</a:t>
            </a:r>
          </a:p>
          <a:p>
            <a:r>
              <a:rPr lang="en-US" sz="2400" dirty="0"/>
              <a:t>Recommends the most suitable hospital with explainable decisions</a:t>
            </a:r>
            <a:r>
              <a:rPr lang="en-US" dirty="0"/>
              <a:t>.</a:t>
            </a:r>
          </a:p>
        </p:txBody>
      </p:sp>
      <p:sp>
        <p:nvSpPr>
          <p:cNvPr id="4" name="Footer Placeholder 3">
            <a:extLst>
              <a:ext uri="{FF2B5EF4-FFF2-40B4-BE49-F238E27FC236}">
                <a16:creationId xmlns:a16="http://schemas.microsoft.com/office/drawing/2014/main" id="{5255CFC0-E255-4A4E-B66F-160696CEF4E8}"/>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85456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D9B68-97AE-4226-8DFD-BC9913C5FEFB}"/>
              </a:ext>
            </a:extLst>
          </p:cNvPr>
          <p:cNvSpPr>
            <a:spLocks noGrp="1"/>
          </p:cNvSpPr>
          <p:nvPr>
            <p:ph type="title"/>
          </p:nvPr>
        </p:nvSpPr>
        <p:spPr/>
        <p:txBody>
          <a:bodyPr/>
          <a:lstStyle/>
          <a:p>
            <a:pPr algn="ctr"/>
            <a:r>
              <a:rPr lang="en-US" spc="-1" dirty="0">
                <a:solidFill>
                  <a:schemeClr val="accent1">
                    <a:lumMod val="50000"/>
                  </a:schemeClr>
                </a:solidFill>
                <a:latin typeface="Times New Roman"/>
              </a:rPr>
              <a:t>Novelty in Proposed System</a:t>
            </a:r>
            <a:endParaRPr lang="en-IN" dirty="0">
              <a:solidFill>
                <a:schemeClr val="accent1">
                  <a:lumMod val="50000"/>
                </a:schemeClr>
              </a:solidFill>
            </a:endParaRPr>
          </a:p>
        </p:txBody>
      </p:sp>
      <p:sp>
        <p:nvSpPr>
          <p:cNvPr id="3" name="Content Placeholder 2">
            <a:extLst>
              <a:ext uri="{FF2B5EF4-FFF2-40B4-BE49-F238E27FC236}">
                <a16:creationId xmlns:a16="http://schemas.microsoft.com/office/drawing/2014/main" id="{37167FFA-CAE8-419B-8A9F-2AE13407034A}"/>
              </a:ext>
            </a:extLst>
          </p:cNvPr>
          <p:cNvSpPr>
            <a:spLocks noGrp="1"/>
          </p:cNvSpPr>
          <p:nvPr>
            <p:ph idx="1"/>
          </p:nvPr>
        </p:nvSpPr>
        <p:spPr/>
        <p:txBody>
          <a:bodyPr>
            <a:normAutofit/>
          </a:bodyPr>
          <a:lstStyle/>
          <a:p>
            <a:r>
              <a:rPr lang="en-US" sz="2400" dirty="0"/>
              <a:t>Integrates </a:t>
            </a:r>
            <a:r>
              <a:rPr lang="en-US" sz="2400" b="1" dirty="0"/>
              <a:t>patient triage and hospital selection</a:t>
            </a:r>
            <a:r>
              <a:rPr lang="en-US" sz="2400" dirty="0"/>
              <a:t> in a single system.</a:t>
            </a:r>
          </a:p>
          <a:p>
            <a:r>
              <a:rPr lang="en-US" sz="2400" dirty="0"/>
              <a:t>Uses </a:t>
            </a:r>
            <a:r>
              <a:rPr lang="en-US" sz="2400" b="1" dirty="0"/>
              <a:t>Knowledge-Based Agent</a:t>
            </a:r>
            <a:r>
              <a:rPr lang="en-US" sz="2400" dirty="0"/>
              <a:t> with Forward &amp; Backward Chaining.</a:t>
            </a:r>
          </a:p>
          <a:p>
            <a:r>
              <a:rPr lang="en-US" sz="2400" dirty="0"/>
              <a:t>Applies </a:t>
            </a:r>
            <a:r>
              <a:rPr lang="en-US" sz="2400" b="1" dirty="0"/>
              <a:t>Best-First Search</a:t>
            </a:r>
            <a:r>
              <a:rPr lang="en-US" sz="2400" dirty="0"/>
              <a:t> for intelligent hospital selection.</a:t>
            </a:r>
          </a:p>
          <a:p>
            <a:r>
              <a:rPr lang="en-US" sz="2400" dirty="0"/>
              <a:t>Uses </a:t>
            </a:r>
            <a:r>
              <a:rPr lang="en-US" sz="2400" b="1" dirty="0"/>
              <a:t>Constraint Satisfaction</a:t>
            </a:r>
            <a:r>
              <a:rPr lang="en-US" sz="2400" dirty="0"/>
              <a:t> to verify medical and resource constraints.</a:t>
            </a:r>
          </a:p>
          <a:p>
            <a:r>
              <a:rPr lang="en-IN" sz="2400" dirty="0"/>
              <a:t>Provides </a:t>
            </a:r>
            <a:r>
              <a:rPr lang="en-IN" sz="2400" b="1" dirty="0"/>
              <a:t>explainable referral recommendations.</a:t>
            </a:r>
          </a:p>
          <a:p>
            <a:r>
              <a:rPr lang="en-US" sz="2400" dirty="0"/>
              <a:t>Considers </a:t>
            </a:r>
            <a:r>
              <a:rPr lang="en-US" sz="2400" b="1" dirty="0"/>
              <a:t>specialist availability, facilities, resources, and travel distance</a:t>
            </a:r>
            <a:r>
              <a:rPr lang="en-US" sz="2400" dirty="0"/>
              <a:t> simultaneously.</a:t>
            </a:r>
            <a:endParaRPr lang="en-IN" sz="2400" dirty="0"/>
          </a:p>
        </p:txBody>
      </p:sp>
      <p:sp>
        <p:nvSpPr>
          <p:cNvPr id="4" name="Footer Placeholder 3">
            <a:extLst>
              <a:ext uri="{FF2B5EF4-FFF2-40B4-BE49-F238E27FC236}">
                <a16:creationId xmlns:a16="http://schemas.microsoft.com/office/drawing/2014/main" id="{269D1BA5-F138-46F4-BDD0-6FDDA78C082C}"/>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503244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72CB-375E-42B3-BAD3-3348ABA4F8F5}"/>
              </a:ext>
            </a:extLst>
          </p:cNvPr>
          <p:cNvSpPr>
            <a:spLocks noGrp="1"/>
          </p:cNvSpPr>
          <p:nvPr>
            <p:ph type="title"/>
          </p:nvPr>
        </p:nvSpPr>
        <p:spPr>
          <a:xfrm>
            <a:off x="2911151" y="365125"/>
            <a:ext cx="6671388" cy="847855"/>
          </a:xfrm>
        </p:spPr>
        <p:txBody>
          <a:bodyPr/>
          <a:lstStyle/>
          <a:p>
            <a:pPr algn="ctr"/>
            <a:endParaRPr lang="en-IN" b="1" dirty="0">
              <a:solidFill>
                <a:schemeClr val="accent1">
                  <a:lumMod val="50000"/>
                </a:schemeClr>
              </a:solidFill>
            </a:endParaRPr>
          </a:p>
        </p:txBody>
      </p:sp>
      <p:sp>
        <p:nvSpPr>
          <p:cNvPr id="4" name="Footer Placeholder 3">
            <a:extLst>
              <a:ext uri="{FF2B5EF4-FFF2-40B4-BE49-F238E27FC236}">
                <a16:creationId xmlns:a16="http://schemas.microsoft.com/office/drawing/2014/main" id="{93D343F2-D48F-4E59-8D97-DA60556C44C7}"/>
              </a:ext>
            </a:extLst>
          </p:cNvPr>
          <p:cNvSpPr>
            <a:spLocks noGrp="1"/>
          </p:cNvSpPr>
          <p:nvPr>
            <p:ph type="ftr" sz="quarter" idx="11"/>
          </p:nvPr>
        </p:nvSpPr>
        <p:spPr/>
        <p:txBody>
          <a:bodyPr/>
          <a:lstStyle/>
          <a:p>
            <a:r>
              <a:rPr lang="en-US"/>
              <a:t>Rajalakshmi Engineering College,Department of Cyber Security</a:t>
            </a:r>
            <a:endParaRPr lang="en-IN"/>
          </a:p>
        </p:txBody>
      </p:sp>
      <p:pic>
        <p:nvPicPr>
          <p:cNvPr id="8" name="Content Placeholder 7" descr="A diagram of a medical system&#10;&#10;AI-generated content may be incorrect.">
            <a:extLst>
              <a:ext uri="{FF2B5EF4-FFF2-40B4-BE49-F238E27FC236}">
                <a16:creationId xmlns:a16="http://schemas.microsoft.com/office/drawing/2014/main" id="{05FEE191-9CE2-BDE2-C239-C1F66027B0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6644" y="242595"/>
            <a:ext cx="10268448" cy="5895549"/>
          </a:xfrm>
        </p:spPr>
      </p:pic>
    </p:spTree>
    <p:extLst>
      <p:ext uri="{BB962C8B-B14F-4D97-AF65-F5344CB8AC3E}">
        <p14:creationId xmlns:p14="http://schemas.microsoft.com/office/powerpoint/2010/main" val="2353434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CEDF5-B9F7-4B91-858D-BB211B1C5149}"/>
              </a:ext>
            </a:extLst>
          </p:cNvPr>
          <p:cNvSpPr>
            <a:spLocks noGrp="1"/>
          </p:cNvSpPr>
          <p:nvPr>
            <p:ph type="title"/>
          </p:nvPr>
        </p:nvSpPr>
        <p:spPr/>
        <p:txBody>
          <a:bodyPr/>
          <a:lstStyle/>
          <a:p>
            <a:pPr algn="ctr"/>
            <a:r>
              <a:rPr lang="en-US" b="1" dirty="0">
                <a:solidFill>
                  <a:schemeClr val="accent1">
                    <a:lumMod val="50000"/>
                  </a:schemeClr>
                </a:solidFill>
              </a:rPr>
              <a:t>Hardware/Software Requirements</a:t>
            </a:r>
            <a:endParaRPr lang="en-IN" b="1" dirty="0">
              <a:solidFill>
                <a:schemeClr val="accent1">
                  <a:lumMod val="50000"/>
                </a:schemeClr>
              </a:solidFill>
            </a:endParaRPr>
          </a:p>
        </p:txBody>
      </p:sp>
      <p:sp>
        <p:nvSpPr>
          <p:cNvPr id="4" name="Footer Placeholder 3">
            <a:extLst>
              <a:ext uri="{FF2B5EF4-FFF2-40B4-BE49-F238E27FC236}">
                <a16:creationId xmlns:a16="http://schemas.microsoft.com/office/drawing/2014/main" id="{9EDB36B0-5247-44F3-9298-2B524976B6D3}"/>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Content Placeholder 5">
            <a:extLst>
              <a:ext uri="{FF2B5EF4-FFF2-40B4-BE49-F238E27FC236}">
                <a16:creationId xmlns:a16="http://schemas.microsoft.com/office/drawing/2014/main" id="{D0421C77-B33D-6E7A-8FD7-6C5B55D87065}"/>
              </a:ext>
            </a:extLst>
          </p:cNvPr>
          <p:cNvSpPr>
            <a:spLocks noGrp="1"/>
          </p:cNvSpPr>
          <p:nvPr>
            <p:ph idx="1"/>
          </p:nvPr>
        </p:nvSpPr>
        <p:spPr>
          <a:xfrm>
            <a:off x="838200" y="1411704"/>
            <a:ext cx="10515600" cy="4944645"/>
          </a:xfrm>
        </p:spPr>
        <p:txBody>
          <a:bodyPr>
            <a:normAutofit fontScale="77500" lnSpcReduction="20000"/>
          </a:bodyPr>
          <a:lstStyle/>
          <a:p>
            <a:pPr marL="0" indent="0">
              <a:buNone/>
            </a:pPr>
            <a:r>
              <a:rPr lang="en-IN" sz="3100" b="1" dirty="0"/>
              <a:t>Hardware Requirement</a:t>
            </a:r>
          </a:p>
          <a:p>
            <a:r>
              <a:rPr lang="en-US" sz="2400" b="1" dirty="0"/>
              <a:t>Processor:</a:t>
            </a:r>
            <a:r>
              <a:rPr lang="en-US" sz="2400" dirty="0"/>
              <a:t> Intel Core i3 / equivalent or above</a:t>
            </a:r>
          </a:p>
          <a:p>
            <a:r>
              <a:rPr lang="en-IN" sz="2400" b="1" dirty="0"/>
              <a:t>RAM:</a:t>
            </a:r>
            <a:r>
              <a:rPr lang="en-IN" sz="2400" dirty="0"/>
              <a:t> 4 GB minimum</a:t>
            </a:r>
          </a:p>
          <a:p>
            <a:r>
              <a:rPr lang="en-IN" sz="2400" b="1" dirty="0"/>
              <a:t>Storage:</a:t>
            </a:r>
            <a:r>
              <a:rPr lang="en-IN" sz="2400" dirty="0"/>
              <a:t> 500 MB available</a:t>
            </a:r>
          </a:p>
          <a:p>
            <a:r>
              <a:rPr lang="en-IN" sz="2400" b="1" dirty="0"/>
              <a:t>Display:</a:t>
            </a:r>
            <a:r>
              <a:rPr lang="en-IN" sz="2400" dirty="0"/>
              <a:t> Standard monitor</a:t>
            </a:r>
          </a:p>
          <a:p>
            <a:r>
              <a:rPr lang="en-US" sz="2400" b="1" dirty="0"/>
              <a:t>Internet:</a:t>
            </a:r>
            <a:r>
              <a:rPr lang="en-US" sz="2400" dirty="0"/>
              <a:t> Stable internet connection (optional, if using online hospital data)</a:t>
            </a:r>
          </a:p>
          <a:p>
            <a:pPr marL="0" indent="0">
              <a:buNone/>
            </a:pPr>
            <a:endParaRPr lang="en-US" sz="2400" dirty="0"/>
          </a:p>
          <a:p>
            <a:pPr marL="0" indent="0">
              <a:buNone/>
            </a:pPr>
            <a:r>
              <a:rPr lang="en-IN" sz="3100" b="1" dirty="0"/>
              <a:t>Software Requirement</a:t>
            </a:r>
          </a:p>
          <a:p>
            <a:r>
              <a:rPr lang="en-IN" sz="2400" b="1" dirty="0"/>
              <a:t>Operating System:</a:t>
            </a:r>
            <a:r>
              <a:rPr lang="en-IN" sz="2400" dirty="0"/>
              <a:t> Windows / Linux</a:t>
            </a:r>
          </a:p>
          <a:p>
            <a:r>
              <a:rPr lang="en-IN" sz="2400" b="1" dirty="0"/>
              <a:t>Programming Language:</a:t>
            </a:r>
            <a:r>
              <a:rPr lang="en-IN" sz="2400" dirty="0"/>
              <a:t> Python</a:t>
            </a:r>
          </a:p>
          <a:p>
            <a:r>
              <a:rPr lang="fr-FR" sz="2400" b="1" dirty="0" err="1"/>
              <a:t>Development</a:t>
            </a:r>
            <a:r>
              <a:rPr lang="fr-FR" sz="2400" b="1" dirty="0"/>
              <a:t> </a:t>
            </a:r>
            <a:r>
              <a:rPr lang="fr-FR" sz="2400" b="1" dirty="0" err="1"/>
              <a:t>Environment</a:t>
            </a:r>
            <a:r>
              <a:rPr lang="fr-FR" sz="2400" b="1" dirty="0"/>
              <a:t>:</a:t>
            </a:r>
            <a:r>
              <a:rPr lang="fr-FR" sz="2400" dirty="0"/>
              <a:t> Visual Studio Code (VS Code)</a:t>
            </a:r>
          </a:p>
          <a:p>
            <a:r>
              <a:rPr lang="en-IN" sz="2400" b="1" dirty="0"/>
              <a:t>Database:</a:t>
            </a:r>
            <a:r>
              <a:rPr lang="en-IN" sz="2400" dirty="0"/>
              <a:t> MySQL / SQLite</a:t>
            </a:r>
          </a:p>
          <a:p>
            <a:r>
              <a:rPr lang="en-IN" sz="2400" b="1" dirty="0"/>
              <a:t>Libraries:</a:t>
            </a:r>
            <a:r>
              <a:rPr lang="en-IN" sz="2400" dirty="0"/>
              <a:t> </a:t>
            </a:r>
            <a:r>
              <a:rPr lang="en-IN" sz="2400" dirty="0" err="1"/>
              <a:t>Tkinter</a:t>
            </a:r>
            <a:r>
              <a:rPr lang="en-IN" sz="2400" dirty="0"/>
              <a:t>, Pandas</a:t>
            </a:r>
          </a:p>
          <a:p>
            <a:r>
              <a:rPr lang="en-US" sz="2400" b="1" dirty="0"/>
              <a:t>AI Techniques:</a:t>
            </a:r>
            <a:r>
              <a:rPr lang="en-US" sz="2400" dirty="0"/>
              <a:t> Knowledge-Based Agent, Forward Chaining, Backward Chaining, Best-First Search, Constraint Satisfaction</a:t>
            </a:r>
            <a:endParaRPr lang="en-IN" sz="2400" dirty="0"/>
          </a:p>
          <a:p>
            <a:pPr marL="0" indent="0">
              <a:buNone/>
            </a:pPr>
            <a:endParaRPr lang="en-IN" dirty="0"/>
          </a:p>
        </p:txBody>
      </p:sp>
    </p:spTree>
    <p:extLst>
      <p:ext uri="{BB962C8B-B14F-4D97-AF65-F5344CB8AC3E}">
        <p14:creationId xmlns:p14="http://schemas.microsoft.com/office/powerpoint/2010/main" val="3081286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855B-EB5E-4D53-95D3-8E1DF5D65A1F}"/>
              </a:ext>
            </a:extLst>
          </p:cNvPr>
          <p:cNvSpPr>
            <a:spLocks noGrp="1"/>
          </p:cNvSpPr>
          <p:nvPr>
            <p:ph type="title"/>
          </p:nvPr>
        </p:nvSpPr>
        <p:spPr/>
        <p:txBody>
          <a:bodyPr/>
          <a:lstStyle/>
          <a:p>
            <a:pPr algn="ctr"/>
            <a:r>
              <a:rPr lang="en-US" spc="-1" dirty="0">
                <a:solidFill>
                  <a:schemeClr val="accent1">
                    <a:lumMod val="50000"/>
                  </a:schemeClr>
                </a:solidFill>
                <a:latin typeface="Times New Roman"/>
              </a:rPr>
              <a:t>References</a:t>
            </a:r>
            <a:endParaRPr lang="en-IN" dirty="0">
              <a:solidFill>
                <a:schemeClr val="accent1">
                  <a:lumMod val="50000"/>
                </a:schemeClr>
              </a:solidFill>
            </a:endParaRPr>
          </a:p>
        </p:txBody>
      </p:sp>
      <p:sp>
        <p:nvSpPr>
          <p:cNvPr id="3" name="Content Placeholder 2">
            <a:extLst>
              <a:ext uri="{FF2B5EF4-FFF2-40B4-BE49-F238E27FC236}">
                <a16:creationId xmlns:a16="http://schemas.microsoft.com/office/drawing/2014/main" id="{C549F23D-2C1E-4B8F-BC11-10828DB19119}"/>
              </a:ext>
            </a:extLst>
          </p:cNvPr>
          <p:cNvSpPr>
            <a:spLocks noGrp="1"/>
          </p:cNvSpPr>
          <p:nvPr>
            <p:ph idx="1"/>
          </p:nvPr>
        </p:nvSpPr>
        <p:spPr/>
        <p:txBody>
          <a:bodyPr>
            <a:normAutofit/>
          </a:bodyPr>
          <a:lstStyle/>
          <a:p>
            <a:pPr marL="0" indent="0" algn="just">
              <a:buNone/>
            </a:pPr>
            <a:r>
              <a:rPr lang="en-US" sz="2400" dirty="0"/>
              <a:t>[1] Chi, C.-L., Street, W. N., &amp; Ward, M. M. (2008). </a:t>
            </a:r>
            <a:r>
              <a:rPr lang="en-US" sz="2400" i="1" dirty="0"/>
              <a:t>Building a Hospital Referral Expert System with a Prediction and Optimization-Based Decision Support System Algorithm</a:t>
            </a:r>
            <a:r>
              <a:rPr lang="en-US" sz="2400" dirty="0"/>
              <a:t>. </a:t>
            </a:r>
            <a:r>
              <a:rPr lang="en-US" sz="2400" b="1" dirty="0"/>
              <a:t>Decision Support Systems, 46</a:t>
            </a:r>
            <a:r>
              <a:rPr lang="en-US" sz="2400" dirty="0"/>
              <a:t>(3), 727–739. </a:t>
            </a:r>
            <a:r>
              <a:rPr lang="en-US" sz="2400" dirty="0">
                <a:hlinkClick r:id="rId2"/>
              </a:rPr>
              <a:t>https://doi.org/10.1016/j.dss.2008.10.001</a:t>
            </a:r>
            <a:endParaRPr lang="en-US" sz="2400" dirty="0"/>
          </a:p>
          <a:p>
            <a:pPr marL="0" indent="0" algn="just">
              <a:buNone/>
            </a:pPr>
            <a:r>
              <a:rPr lang="en-US" sz="2400" dirty="0"/>
              <a:t>[2] Abdel-Hafez, A., et al. (2023). </a:t>
            </a:r>
            <a:r>
              <a:rPr lang="en-US" sz="2400" i="1" dirty="0"/>
              <a:t>Artificial Intelligence in Medical Referrals Triage Based on Clinical Prioritization Criteria</a:t>
            </a:r>
            <a:r>
              <a:rPr lang="en-US" sz="2400" dirty="0"/>
              <a:t>. </a:t>
            </a:r>
            <a:r>
              <a:rPr lang="en-US" sz="2400" b="1" dirty="0"/>
              <a:t>Frontiers in Digital Health, 5</a:t>
            </a:r>
            <a:r>
              <a:rPr lang="en-US" sz="2400" dirty="0"/>
              <a:t>, Article 1192975. </a:t>
            </a:r>
            <a:r>
              <a:rPr lang="en-US" sz="2400" dirty="0">
                <a:hlinkClick r:id="rId3"/>
              </a:rPr>
              <a:t>https://doi.org/10.3389/fdgth.2023.1192975</a:t>
            </a:r>
            <a:endParaRPr lang="en-US" sz="2400" dirty="0"/>
          </a:p>
          <a:p>
            <a:pPr marL="0" indent="0" algn="just">
              <a:buNone/>
            </a:pPr>
            <a:r>
              <a:rPr lang="en-US" sz="2400" dirty="0"/>
              <a:t>[3] Määttä, J., et al. (2023). </a:t>
            </a:r>
            <a:r>
              <a:rPr lang="en-US" sz="2400" i="1" dirty="0"/>
              <a:t>Diagnostic Performance, Triage Safety, and Usability of a Clinical Decision Support System</a:t>
            </a:r>
            <a:r>
              <a:rPr lang="en-US" sz="2400" dirty="0"/>
              <a:t>. </a:t>
            </a:r>
            <a:r>
              <a:rPr lang="en-US" sz="2400" b="1" dirty="0"/>
              <a:t>JMIR Medical Informatics, 11</a:t>
            </a:r>
            <a:r>
              <a:rPr lang="en-US" sz="2400" dirty="0"/>
              <a:t>, e46760. </a:t>
            </a:r>
            <a:r>
              <a:rPr lang="en-US" sz="2400" dirty="0">
                <a:hlinkClick r:id="rId4"/>
              </a:rPr>
              <a:t>https://doi.org/10.2196/46760</a:t>
            </a:r>
            <a:endParaRPr lang="en-IN" sz="2400" dirty="0"/>
          </a:p>
        </p:txBody>
      </p:sp>
      <p:sp>
        <p:nvSpPr>
          <p:cNvPr id="4" name="Footer Placeholder 3">
            <a:extLst>
              <a:ext uri="{FF2B5EF4-FFF2-40B4-BE49-F238E27FC236}">
                <a16:creationId xmlns:a16="http://schemas.microsoft.com/office/drawing/2014/main" id="{D2376813-C5D5-412F-BEE4-270486186E54}"/>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109157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813</Words>
  <Application>Microsoft Office PowerPoint</Application>
  <PresentationFormat>Widescreen</PresentationFormat>
  <Paragraphs>102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OUTLINE</vt:lpstr>
      <vt:lpstr>ABSTRACT</vt:lpstr>
      <vt:lpstr>OBJECTIVE</vt:lpstr>
      <vt:lpstr>Literature Survey</vt:lpstr>
      <vt:lpstr>EXISTING SYSTEM</vt:lpstr>
      <vt:lpstr>PROPOSED SYSTEM</vt:lpstr>
      <vt:lpstr>Novelty in Proposed System</vt:lpstr>
      <vt:lpstr>PowerPoint Presentation</vt:lpstr>
      <vt:lpstr>Hardware/Software Requirements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dhanalakshmi01102025@outlook.com</cp:lastModifiedBy>
  <cp:revision>15</cp:revision>
  <dcterms:created xsi:type="dcterms:W3CDTF">2026-07-28T13:30:13Z</dcterms:created>
  <dcterms:modified xsi:type="dcterms:W3CDTF">2026-08-05T14:17:07Z</dcterms:modified>
</cp:coreProperties>
</file>