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8" roundtripDataSignature="AMtx7mj1v/HKI46ePwLbtvEZy7GwLmJk0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8955E039-45C4-4950-AEFE-B0455A08227F}">
  <a:tblStyle styleId="{8955E039-45C4-4950-AEFE-B0455A08227F}"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BF5"/>
          </a:solidFill>
        </a:fill>
      </a:tcStyle>
    </a:wholeTbl>
    <a:band1H>
      <a:tcTxStyle/>
      <a:tcStyle>
        <a:tcBdr/>
        <a:fill>
          <a:solidFill>
            <a:srgbClr val="CDD4EA"/>
          </a:solidFill>
        </a:fill>
      </a:tcStyle>
    </a:band1H>
    <a:band2H>
      <a:tcTxStyle/>
      <a:tcStyle>
        <a:tcBdr/>
      </a:tcStyle>
    </a:band2H>
    <a:band1V>
      <a:tcTxStyle/>
      <a:tcStyle>
        <a:tcBdr/>
        <a:fill>
          <a:solidFill>
            <a:srgbClr val="CDD4EA"/>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8" d="100"/>
          <a:sy n="78" d="100"/>
        </p:scale>
        <p:origin x="850"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customschemas.google.com/relationships/presentationmetadata" Target="metadata"/><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2" Type="http://schemas.openxmlformats.org/officeDocument/2006/relationships/slide" Target="slides/slide1.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p:cNvGrpSpPr/>
        <p:nvPr/>
      </p:nvGrpSpPr>
      <p:grpSpPr>
        <a:xfrm>
          <a:off x="0" y="0"/>
          <a:ext cx="0" cy="0"/>
          <a:chOff x="0" y="0"/>
          <a:chExt cx="0" cy="0"/>
        </a:xfrm>
      </p:grpSpPr>
      <p:sp>
        <p:nvSpPr>
          <p:cNvPr id="92" name="Google Shape;92;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3" name="Google Shape;93;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7"/>
        <p:cNvGrpSpPr/>
        <p:nvPr/>
      </p:nvGrpSpPr>
      <p:grpSpPr>
        <a:xfrm>
          <a:off x="0" y="0"/>
          <a:ext cx="0" cy="0"/>
          <a:chOff x="0" y="0"/>
          <a:chExt cx="0" cy="0"/>
        </a:xfrm>
      </p:grpSpPr>
      <p:sp>
        <p:nvSpPr>
          <p:cNvPr id="108" name="Google Shape;108;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9" name="Google Shape;109;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p:cNvGrpSpPr/>
        <p:nvPr/>
      </p:nvGrpSpPr>
      <p:grpSpPr>
        <a:xfrm>
          <a:off x="0" y="0"/>
          <a:ext cx="0" cy="0"/>
          <a:chOff x="0" y="0"/>
          <a:chExt cx="0" cy="0"/>
        </a:xfrm>
      </p:grpSpPr>
      <p:sp>
        <p:nvSpPr>
          <p:cNvPr id="115" name="Google Shape;115;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6" name="Google Shape;116;p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
        <p:cNvGrpSpPr/>
        <p:nvPr/>
      </p:nvGrpSpPr>
      <p:grpSpPr>
        <a:xfrm>
          <a:off x="0" y="0"/>
          <a:ext cx="0" cy="0"/>
          <a:chOff x="0" y="0"/>
          <a:chExt cx="0" cy="0"/>
        </a:xfrm>
      </p:grpSpPr>
      <p:sp>
        <p:nvSpPr>
          <p:cNvPr id="122" name="Google Shape;122;p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3" name="Google Shape;123;p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p:cNvGrpSpPr/>
        <p:nvPr/>
      </p:nvGrpSpPr>
      <p:grpSpPr>
        <a:xfrm>
          <a:off x="0" y="0"/>
          <a:ext cx="0" cy="0"/>
          <a:chOff x="0" y="0"/>
          <a:chExt cx="0" cy="0"/>
        </a:xfrm>
      </p:grpSpPr>
      <p:sp>
        <p:nvSpPr>
          <p:cNvPr id="129" name="Google Shape;129;p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0" name="Google Shape;130;p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5"/>
        <p:cNvGrpSpPr/>
        <p:nvPr/>
      </p:nvGrpSpPr>
      <p:grpSpPr>
        <a:xfrm>
          <a:off x="0" y="0"/>
          <a:ext cx="0" cy="0"/>
          <a:chOff x="0" y="0"/>
          <a:chExt cx="0" cy="0"/>
        </a:xfrm>
      </p:grpSpPr>
      <p:sp>
        <p:nvSpPr>
          <p:cNvPr id="136" name="Google Shape;136;p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7" name="Google Shape;137;p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
        <p:cNvGrpSpPr/>
        <p:nvPr/>
      </p:nvGrpSpPr>
      <p:grpSpPr>
        <a:xfrm>
          <a:off x="0" y="0"/>
          <a:ext cx="0" cy="0"/>
          <a:chOff x="0" y="0"/>
          <a:chExt cx="0" cy="0"/>
        </a:xfrm>
      </p:grpSpPr>
      <p:sp>
        <p:nvSpPr>
          <p:cNvPr id="143" name="Google Shape;143;p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44" name="Google Shape;144;p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p1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1" name="Google Shape;151;p1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p1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8" name="Google Shape;158;p1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3"/>
        <p:cNvGrpSpPr/>
        <p:nvPr/>
      </p:nvGrpSpPr>
      <p:grpSpPr>
        <a:xfrm>
          <a:off x="0" y="0"/>
          <a:ext cx="0" cy="0"/>
          <a:chOff x="0" y="0"/>
          <a:chExt cx="0" cy="0"/>
        </a:xfrm>
      </p:grpSpPr>
      <p:sp>
        <p:nvSpPr>
          <p:cNvPr id="164" name="Google Shape;164;p1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65" name="Google Shape;165;p1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7" name="Google Shape;17;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8" name="Google Shape;18;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1" name="Google Shape;21;p15"/>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 name="Google Shape;23;p1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4" name="Google Shape;24;p1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25"/>
        <p:cNvGrpSpPr/>
        <p:nvPr/>
      </p:nvGrpSpPr>
      <p:grpSpPr>
        <a:xfrm>
          <a:off x="0" y="0"/>
          <a:ext cx="0" cy="0"/>
          <a:chOff x="0" y="0"/>
          <a:chExt cx="0" cy="0"/>
        </a:xfrm>
      </p:grpSpPr>
      <p:sp>
        <p:nvSpPr>
          <p:cNvPr id="26" name="Google Shape;26;p16"/>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7" name="Google Shape;27;p16"/>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28" name="Google Shape;28;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 name="Google Shape;29;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0" name="Google Shape;30;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31"/>
        <p:cNvGrpSpPr/>
        <p:nvPr/>
      </p:nvGrpSpPr>
      <p:grpSpPr>
        <a:xfrm>
          <a:off x="0" y="0"/>
          <a:ext cx="0" cy="0"/>
          <a:chOff x="0" y="0"/>
          <a:chExt cx="0" cy="0"/>
        </a:xfrm>
      </p:grpSpPr>
      <p:sp>
        <p:nvSpPr>
          <p:cNvPr id="32" name="Google Shape;32;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3" name="Google Shape;33;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34" name="Google Shape;34;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6" name="Google Shape;36;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7"/>
        <p:cNvGrpSpPr/>
        <p:nvPr/>
      </p:nvGrpSpPr>
      <p:grpSpPr>
        <a:xfrm>
          <a:off x="0" y="0"/>
          <a:ext cx="0" cy="0"/>
          <a:chOff x="0" y="0"/>
          <a:chExt cx="0" cy="0"/>
        </a:xfrm>
      </p:grpSpPr>
      <p:sp>
        <p:nvSpPr>
          <p:cNvPr id="38" name="Google Shape;38;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9" name="Google Shape;39;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1" name="Google Shape;41;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2" name="Google Shape;42;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4"/>
        <p:cNvGrpSpPr/>
        <p:nvPr/>
      </p:nvGrpSpPr>
      <p:grpSpPr>
        <a:xfrm>
          <a:off x="0" y="0"/>
          <a:ext cx="0" cy="0"/>
          <a:chOff x="0" y="0"/>
          <a:chExt cx="0" cy="0"/>
        </a:xfrm>
      </p:grpSpPr>
      <p:sp>
        <p:nvSpPr>
          <p:cNvPr id="45" name="Google Shape;45;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6" name="Google Shape;46;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7" name="Google Shape;47;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8" name="Google Shape;48;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9" name="Google Shape;49;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0" name="Google Shape;50;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1" name="Google Shape;51;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53"/>
        <p:cNvGrpSpPr/>
        <p:nvPr/>
      </p:nvGrpSpPr>
      <p:grpSpPr>
        <a:xfrm>
          <a:off x="0" y="0"/>
          <a:ext cx="0" cy="0"/>
          <a:chOff x="0" y="0"/>
          <a:chExt cx="0" cy="0"/>
        </a:xfrm>
      </p:grpSpPr>
      <p:sp>
        <p:nvSpPr>
          <p:cNvPr id="54" name="Google Shape;54;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5" name="Google Shape;55;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6" name="Google Shape;56;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7" name="Google Shape;57;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21"/>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0" name="Google Shape;60;p21"/>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61" name="Google Shape;61;p21"/>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2" name="Google Shape;62;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3" name="Google Shape;63;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4" name="Google Shape;64;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7" name="Google Shape;67;p22"/>
          <p:cNvSpPr>
            <a:spLocks noGrp="1"/>
          </p:cNvSpPr>
          <p:nvPr>
            <p:ph type="pic" idx="2"/>
          </p:nvPr>
        </p:nvSpPr>
        <p:spPr>
          <a:xfrm>
            <a:off x="5183188" y="987425"/>
            <a:ext cx="6172200" cy="4873625"/>
          </a:xfrm>
          <a:prstGeom prst="rect">
            <a:avLst/>
          </a:prstGeom>
          <a:noFill/>
          <a:ln>
            <a:noFill/>
          </a:ln>
        </p:spPr>
      </p:sp>
      <p:sp>
        <p:nvSpPr>
          <p:cNvPr id="68" name="Google Shape;68;p22"/>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9" name="Google Shape;69;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0" name="Google Shape;70;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1" name="Google Shape;71;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4" name="Google Shape;74;p23"/>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6" name="Google Shape;76;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7" name="Google Shape;77;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24"/>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0" name="Google Shape;80;p24"/>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1" name="Google Shape;81;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2" name="Google Shape;82;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3" name="Google Shape;83;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hyperlink" Target="https://doi.org/10.1016/j.jbi.2007.10.002" TargetMode="External"/><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hyperlink" Target="https://doi.org/10.2196/46760" TargetMode="External"/><Relationship Id="rId4" Type="http://schemas.openxmlformats.org/officeDocument/2006/relationships/hyperlink" Target="https://doi.org/10.3389/fdgth.2023.1192975"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pic>
        <p:nvPicPr>
          <p:cNvPr id="88" name="Google Shape;88;p1" descr="Home | Rajalakshmi Engineering College (REC)"/>
          <p:cNvPicPr preferRelativeResize="0"/>
          <p:nvPr/>
        </p:nvPicPr>
        <p:blipFill rotWithShape="1">
          <a:blip r:embed="rId3">
            <a:alphaModFix/>
          </a:blip>
          <a:srcRect/>
          <a:stretch/>
        </p:blipFill>
        <p:spPr>
          <a:xfrm>
            <a:off x="4305720" y="497541"/>
            <a:ext cx="3580560" cy="1155960"/>
          </a:xfrm>
          <a:prstGeom prst="rect">
            <a:avLst/>
          </a:prstGeom>
          <a:noFill/>
          <a:ln>
            <a:noFill/>
          </a:ln>
        </p:spPr>
      </p:pic>
      <p:sp>
        <p:nvSpPr>
          <p:cNvPr id="89" name="Google Shape;89;p1"/>
          <p:cNvSpPr txBox="1"/>
          <p:nvPr/>
        </p:nvSpPr>
        <p:spPr>
          <a:xfrm>
            <a:off x="1488141" y="1653501"/>
            <a:ext cx="9601199" cy="3931511"/>
          </a:xfrm>
          <a:prstGeom prst="rect">
            <a:avLst/>
          </a:prstGeom>
          <a:noFill/>
          <a:ln>
            <a:noFill/>
          </a:ln>
        </p:spPr>
        <p:txBody>
          <a:bodyPr spcFirstLastPara="1" wrap="square" lIns="91425" tIns="45700" rIns="91425" bIns="45700" anchor="t" anchorCtr="0">
            <a:normAutofit/>
          </a:bodyPr>
          <a:lstStyle/>
          <a:p>
            <a:pPr marL="228600" marR="0" lvl="0" indent="0" algn="l" rtl="0">
              <a:lnSpc>
                <a:spcPct val="100000"/>
              </a:lnSpc>
              <a:spcBef>
                <a:spcPts val="0"/>
              </a:spcBef>
              <a:spcAft>
                <a:spcPts val="0"/>
              </a:spcAft>
              <a:buClr>
                <a:schemeClr val="dk1"/>
              </a:buClr>
              <a:buSzPts val="3200"/>
              <a:buFont typeface="Arial"/>
              <a:buNone/>
            </a:pPr>
            <a:r>
              <a:rPr lang="en-US" sz="3200" b="0" i="0" u="none" strike="noStrike" cap="none">
                <a:solidFill>
                  <a:schemeClr val="dk1"/>
                </a:solidFill>
                <a:latin typeface="Calibri"/>
                <a:ea typeface="Calibri"/>
                <a:cs typeface="Calibri"/>
                <a:sym typeface="Calibri"/>
              </a:rPr>
              <a:t>              </a:t>
            </a:r>
            <a:r>
              <a:rPr lang="en-US" sz="4000" b="0" i="0" u="none" strike="noStrike" cap="none">
                <a:solidFill>
                  <a:schemeClr val="dk1"/>
                </a:solidFill>
                <a:latin typeface="Times New Roman"/>
                <a:ea typeface="Times New Roman"/>
                <a:cs typeface="Times New Roman"/>
                <a:sym typeface="Times New Roman"/>
              </a:rPr>
              <a:t>Department of Cyber Security</a:t>
            </a:r>
            <a:endParaRPr sz="4000" b="0" i="0" u="none" strike="noStrike" cap="none">
              <a:solidFill>
                <a:srgbClr val="000000"/>
              </a:solidFill>
              <a:latin typeface="Arial"/>
              <a:ea typeface="Arial"/>
              <a:cs typeface="Arial"/>
              <a:sym typeface="Arial"/>
            </a:endParaRPr>
          </a:p>
          <a:p>
            <a:pPr marL="228600" marR="0" lvl="0" indent="0" algn="l" rtl="0">
              <a:lnSpc>
                <a:spcPct val="100000"/>
              </a:lnSpc>
              <a:spcBef>
                <a:spcPts val="641"/>
              </a:spcBef>
              <a:spcAft>
                <a:spcPts val="0"/>
              </a:spcAft>
              <a:buClr>
                <a:schemeClr val="dk1"/>
              </a:buClr>
              <a:buSzPts val="4000"/>
              <a:buFont typeface="Arial"/>
              <a:buNone/>
            </a:pPr>
            <a:r>
              <a:rPr lang="en-US" sz="4000" b="0" i="0" u="none" strike="noStrike" cap="none">
                <a:solidFill>
                  <a:schemeClr val="dk1"/>
                </a:solidFill>
                <a:latin typeface="Times New Roman"/>
                <a:ea typeface="Times New Roman"/>
                <a:cs typeface="Times New Roman"/>
                <a:sym typeface="Times New Roman"/>
              </a:rPr>
              <a:t>             2026-2027- Odd Semester</a:t>
            </a:r>
            <a:endParaRPr sz="4000" b="0" i="0" u="none" strike="noStrike" cap="none">
              <a:solidFill>
                <a:srgbClr val="000000"/>
              </a:solidFill>
              <a:latin typeface="Arial"/>
              <a:ea typeface="Arial"/>
              <a:cs typeface="Arial"/>
              <a:sym typeface="Arial"/>
            </a:endParaRPr>
          </a:p>
          <a:p>
            <a:pPr marL="228600" marR="0" lvl="0" indent="0" algn="l" rtl="0">
              <a:lnSpc>
                <a:spcPct val="100000"/>
              </a:lnSpc>
              <a:spcBef>
                <a:spcPts val="641"/>
              </a:spcBef>
              <a:spcAft>
                <a:spcPts val="0"/>
              </a:spcAft>
              <a:buClr>
                <a:schemeClr val="dk1"/>
              </a:buClr>
              <a:buSzPts val="4000"/>
              <a:buFont typeface="Arial"/>
              <a:buNone/>
            </a:pPr>
            <a:r>
              <a:rPr lang="en-US" sz="4000" b="0" i="0" u="none" strike="noStrike" cap="none">
                <a:solidFill>
                  <a:schemeClr val="dk1"/>
                </a:solidFill>
                <a:latin typeface="Times New Roman"/>
                <a:ea typeface="Times New Roman"/>
                <a:cs typeface="Times New Roman"/>
                <a:sym typeface="Times New Roman"/>
              </a:rPr>
              <a:t>                           III Year /V Sem</a:t>
            </a:r>
            <a:endParaRPr/>
          </a:p>
          <a:p>
            <a:pPr marL="228600" marR="0" lvl="0" indent="0" algn="l" rtl="0">
              <a:lnSpc>
                <a:spcPct val="100000"/>
              </a:lnSpc>
              <a:spcBef>
                <a:spcPts val="641"/>
              </a:spcBef>
              <a:spcAft>
                <a:spcPts val="0"/>
              </a:spcAft>
              <a:buClr>
                <a:schemeClr val="dk1"/>
              </a:buClr>
              <a:buSzPts val="2800"/>
              <a:buFont typeface="Arial"/>
              <a:buNone/>
            </a:pPr>
            <a:r>
              <a:rPr lang="en-US" sz="2800" b="1" i="0" u="none" strike="noStrike" cap="none">
                <a:solidFill>
                  <a:schemeClr val="dk1"/>
                </a:solidFill>
                <a:latin typeface="Calibri"/>
                <a:ea typeface="Calibri"/>
                <a:cs typeface="Calibri"/>
                <a:sym typeface="Calibri"/>
              </a:rPr>
              <a:t>          CS23533-FOUNDATIONS OF ARTIFICIAL INTELLIGENCE</a:t>
            </a:r>
            <a:endParaRPr sz="4000" b="0" i="0" u="none" strike="noStrike" cap="none">
              <a:solidFill>
                <a:srgbClr val="000000"/>
              </a:solidFill>
              <a:latin typeface="Arial"/>
              <a:ea typeface="Arial"/>
              <a:cs typeface="Arial"/>
              <a:sym typeface="Arial"/>
            </a:endParaRPr>
          </a:p>
          <a:p>
            <a:pPr marL="228600" marR="0" lvl="0" indent="0" algn="l" rtl="0">
              <a:lnSpc>
                <a:spcPct val="100000"/>
              </a:lnSpc>
              <a:spcBef>
                <a:spcPts val="641"/>
              </a:spcBef>
              <a:spcAft>
                <a:spcPts val="0"/>
              </a:spcAft>
              <a:buClr>
                <a:schemeClr val="dk1"/>
              </a:buClr>
              <a:buSzPts val="4000"/>
              <a:buFont typeface="Arial"/>
              <a:buNone/>
            </a:pPr>
            <a:r>
              <a:rPr lang="en-US" sz="4000" b="0" i="0" u="none" strike="noStrike" cap="none">
                <a:solidFill>
                  <a:schemeClr val="dk1"/>
                </a:solidFill>
                <a:latin typeface="Times New Roman"/>
                <a:ea typeface="Times New Roman"/>
                <a:cs typeface="Times New Roman"/>
                <a:sym typeface="Times New Roman"/>
              </a:rPr>
              <a:t>              Zeroth Review – 05.08.2026</a:t>
            </a:r>
            <a:endParaRPr sz="4000" b="0" i="0" u="none" strike="noStrike" cap="none">
              <a:solidFill>
                <a:srgbClr val="000000"/>
              </a:solidFill>
              <a:latin typeface="Arial"/>
              <a:ea typeface="Arial"/>
              <a:cs typeface="Arial"/>
              <a:sym typeface="Arial"/>
            </a:endParaRPr>
          </a:p>
        </p:txBody>
      </p:sp>
      <p:sp>
        <p:nvSpPr>
          <p:cNvPr id="90" name="Google Shape;90;p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a:t>Rajalakshmi Engineering College,Department of Cyber Security</a:t>
            </a: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4"/>
        <p:cNvGrpSpPr/>
        <p:nvPr/>
      </p:nvGrpSpPr>
      <p:grpSpPr>
        <a:xfrm>
          <a:off x="0" y="0"/>
          <a:ext cx="0" cy="0"/>
          <a:chOff x="0" y="0"/>
          <a:chExt cx="0" cy="0"/>
        </a:xfrm>
      </p:grpSpPr>
      <p:pic>
        <p:nvPicPr>
          <p:cNvPr id="95" name="Google Shape;95;p2" descr="Home | Rajalakshmi Engineering College (REC)"/>
          <p:cNvPicPr preferRelativeResize="0"/>
          <p:nvPr/>
        </p:nvPicPr>
        <p:blipFill rotWithShape="1">
          <a:blip r:embed="rId3">
            <a:alphaModFix/>
          </a:blip>
          <a:srcRect/>
          <a:stretch/>
        </p:blipFill>
        <p:spPr>
          <a:xfrm>
            <a:off x="3030071" y="497541"/>
            <a:ext cx="4856209" cy="1155960"/>
          </a:xfrm>
          <a:prstGeom prst="rect">
            <a:avLst/>
          </a:prstGeom>
          <a:noFill/>
          <a:ln>
            <a:noFill/>
          </a:ln>
        </p:spPr>
      </p:pic>
      <p:sp>
        <p:nvSpPr>
          <p:cNvPr id="96" name="Google Shape;96;p2"/>
          <p:cNvSpPr txBox="1"/>
          <p:nvPr/>
        </p:nvSpPr>
        <p:spPr>
          <a:xfrm>
            <a:off x="1295400" y="1653501"/>
            <a:ext cx="9601199" cy="1775499"/>
          </a:xfrm>
          <a:prstGeom prst="rect">
            <a:avLst/>
          </a:prstGeom>
          <a:noFill/>
          <a:ln>
            <a:noFill/>
          </a:ln>
        </p:spPr>
        <p:txBody>
          <a:bodyPr spcFirstLastPara="1" wrap="square" lIns="91425" tIns="45700" rIns="91425" bIns="45700" anchor="t" anchorCtr="0">
            <a:normAutofit/>
          </a:bodyPr>
          <a:lstStyle/>
          <a:p>
            <a:pPr marL="228600" marR="0" lvl="0" indent="0" algn="l" rtl="0">
              <a:lnSpc>
                <a:spcPct val="100000"/>
              </a:lnSpc>
              <a:spcBef>
                <a:spcPts val="0"/>
              </a:spcBef>
              <a:spcAft>
                <a:spcPts val="0"/>
              </a:spcAft>
              <a:buClr>
                <a:schemeClr val="dk1"/>
              </a:buClr>
              <a:buSzPts val="3200"/>
              <a:buFont typeface="Arial"/>
              <a:buNone/>
            </a:pPr>
            <a:r>
              <a:rPr lang="en-US" sz="3200" b="0" i="0" u="none" strike="noStrike" cap="none">
                <a:solidFill>
                  <a:schemeClr val="dk1"/>
                </a:solidFill>
                <a:latin typeface="Calibri"/>
                <a:ea typeface="Calibri"/>
                <a:cs typeface="Calibri"/>
                <a:sym typeface="Calibri"/>
              </a:rPr>
              <a:t>                                 </a:t>
            </a:r>
            <a:endParaRPr/>
          </a:p>
          <a:p>
            <a:pPr marL="228600" marR="0" lvl="0" indent="0" algn="ctr" rtl="0">
              <a:lnSpc>
                <a:spcPct val="100000"/>
              </a:lnSpc>
              <a:spcBef>
                <a:spcPts val="641"/>
              </a:spcBef>
              <a:spcAft>
                <a:spcPts val="0"/>
              </a:spcAft>
              <a:buClr>
                <a:schemeClr val="dk1"/>
              </a:buClr>
              <a:buSzPts val="3200"/>
              <a:buFont typeface="Arial"/>
              <a:buNone/>
            </a:pPr>
            <a:r>
              <a:rPr lang="en-US" sz="3200" b="1" i="0" u="none" strike="noStrike" cap="none">
                <a:solidFill>
                  <a:schemeClr val="dk1"/>
                </a:solidFill>
                <a:latin typeface="Calibri"/>
                <a:ea typeface="Calibri"/>
                <a:cs typeface="Calibri"/>
                <a:sym typeface="Calibri"/>
              </a:rPr>
              <a:t>	 AI-Based Smart Patient Referral and Hospital Selection System</a:t>
            </a:r>
            <a:endParaRPr sz="4000" b="1" i="0" u="none" strike="noStrike" cap="none">
              <a:solidFill>
                <a:srgbClr val="000000"/>
              </a:solidFill>
              <a:latin typeface="Arial"/>
              <a:ea typeface="Arial"/>
              <a:cs typeface="Arial"/>
              <a:sym typeface="Arial"/>
            </a:endParaRPr>
          </a:p>
        </p:txBody>
      </p:sp>
      <p:sp>
        <p:nvSpPr>
          <p:cNvPr id="97" name="Google Shape;97;p2"/>
          <p:cNvSpPr txBox="1"/>
          <p:nvPr/>
        </p:nvSpPr>
        <p:spPr>
          <a:xfrm>
            <a:off x="1698355" y="3764071"/>
            <a:ext cx="5476886" cy="1925619"/>
          </a:xfrm>
          <a:prstGeom prst="rect">
            <a:avLst/>
          </a:prstGeom>
          <a:noFill/>
          <a:ln>
            <a:noFill/>
          </a:ln>
        </p:spPr>
        <p:txBody>
          <a:bodyPr spcFirstLastPara="1" wrap="square" lIns="91425" tIns="45700" rIns="91425" bIns="45700" anchor="t" anchorCtr="0">
            <a:normAutofit/>
          </a:bodyPr>
          <a:lstStyle/>
          <a:p>
            <a:pPr marL="228600" marR="0" lvl="0" indent="0" algn="l" rtl="0">
              <a:lnSpc>
                <a:spcPct val="100000"/>
              </a:lnSpc>
              <a:spcBef>
                <a:spcPts val="0"/>
              </a:spcBef>
              <a:spcAft>
                <a:spcPts val="0"/>
              </a:spcAft>
              <a:buClr>
                <a:schemeClr val="dk1"/>
              </a:buClr>
              <a:buSzPts val="2400"/>
              <a:buFont typeface="Arial"/>
              <a:buNone/>
            </a:pPr>
            <a:r>
              <a:rPr lang="en-US" sz="2400" b="1" i="0" u="none" strike="noStrike" cap="none">
                <a:solidFill>
                  <a:schemeClr val="dk1"/>
                </a:solidFill>
                <a:latin typeface="Times New Roman"/>
                <a:ea typeface="Times New Roman"/>
                <a:cs typeface="Times New Roman"/>
                <a:sym typeface="Times New Roman"/>
              </a:rPr>
              <a:t>Batch Members :</a:t>
            </a:r>
            <a:endParaRPr/>
          </a:p>
          <a:p>
            <a:pPr marL="228600" marR="0" lvl="0" indent="0" algn="l" rtl="0">
              <a:lnSpc>
                <a:spcPct val="100000"/>
              </a:lnSpc>
              <a:spcBef>
                <a:spcPts val="400"/>
              </a:spcBef>
              <a:spcAft>
                <a:spcPts val="0"/>
              </a:spcAft>
              <a:buClr>
                <a:schemeClr val="dk1"/>
              </a:buClr>
              <a:buSzPts val="2400"/>
              <a:buFont typeface="Arial"/>
              <a:buNone/>
            </a:pPr>
            <a:r>
              <a:rPr lang="en-US" sz="2400" b="1" i="0" u="none" strike="noStrike" cap="none">
                <a:solidFill>
                  <a:schemeClr val="dk1"/>
                </a:solidFill>
                <a:latin typeface="Times New Roman"/>
                <a:ea typeface="Times New Roman"/>
                <a:cs typeface="Times New Roman"/>
                <a:sym typeface="Times New Roman"/>
              </a:rPr>
              <a:t>1. Name: Dhanalakshmi C   241901023</a:t>
            </a:r>
            <a:endParaRPr/>
          </a:p>
          <a:p>
            <a:pPr marL="228600" marR="0" lvl="0" indent="0" algn="l" rtl="0">
              <a:lnSpc>
                <a:spcPct val="100000"/>
              </a:lnSpc>
              <a:spcBef>
                <a:spcPts val="400"/>
              </a:spcBef>
              <a:spcAft>
                <a:spcPts val="0"/>
              </a:spcAft>
              <a:buClr>
                <a:schemeClr val="dk1"/>
              </a:buClr>
              <a:buSzPts val="2400"/>
              <a:buFont typeface="Arial"/>
              <a:buNone/>
            </a:pPr>
            <a:r>
              <a:rPr lang="en-US" sz="2400" b="1" i="0" u="none" strike="noStrike" cap="none">
                <a:solidFill>
                  <a:schemeClr val="dk1"/>
                </a:solidFill>
                <a:latin typeface="Times New Roman"/>
                <a:ea typeface="Times New Roman"/>
                <a:cs typeface="Times New Roman"/>
                <a:sym typeface="Times New Roman"/>
              </a:rPr>
              <a:t>2. Name: Bharath V              241901018</a:t>
            </a:r>
            <a:endParaRPr sz="2400" b="0" i="0" u="none" strike="noStrike" cap="none">
              <a:solidFill>
                <a:srgbClr val="000000"/>
              </a:solidFill>
              <a:latin typeface="Arial"/>
              <a:ea typeface="Arial"/>
              <a:cs typeface="Arial"/>
              <a:sym typeface="Arial"/>
            </a:endParaRPr>
          </a:p>
          <a:p>
            <a:pPr marL="228600" marR="0" lvl="0" indent="0" algn="l" rtl="0">
              <a:lnSpc>
                <a:spcPct val="100000"/>
              </a:lnSpc>
              <a:spcBef>
                <a:spcPts val="400"/>
              </a:spcBef>
              <a:spcAft>
                <a:spcPts val="0"/>
              </a:spcAft>
              <a:buClr>
                <a:schemeClr val="dk1"/>
              </a:buClr>
              <a:buSzPts val="2000"/>
              <a:buFont typeface="Arial"/>
              <a:buNone/>
            </a:pPr>
            <a:endParaRPr sz="2000" b="0" i="0" u="none" strike="noStrike" cap="none">
              <a:solidFill>
                <a:srgbClr val="000000"/>
              </a:solidFill>
              <a:latin typeface="Arial"/>
              <a:ea typeface="Arial"/>
              <a:cs typeface="Arial"/>
              <a:sym typeface="Arial"/>
            </a:endParaRPr>
          </a:p>
          <a:p>
            <a:pPr marL="228600" marR="0" lvl="0" indent="0" algn="l" rtl="0">
              <a:lnSpc>
                <a:spcPct val="100000"/>
              </a:lnSpc>
              <a:spcBef>
                <a:spcPts val="360"/>
              </a:spcBef>
              <a:spcAft>
                <a:spcPts val="0"/>
              </a:spcAft>
              <a:buClr>
                <a:schemeClr val="dk1"/>
              </a:buClr>
              <a:buSzPts val="1800"/>
              <a:buFont typeface="Arial"/>
              <a:buNone/>
            </a:pPr>
            <a:endParaRPr sz="1800" b="0" i="0" u="none" strike="noStrike" cap="none">
              <a:solidFill>
                <a:srgbClr val="000000"/>
              </a:solidFill>
              <a:latin typeface="Arial"/>
              <a:ea typeface="Arial"/>
              <a:cs typeface="Arial"/>
              <a:sym typeface="Arial"/>
            </a:endParaRPr>
          </a:p>
        </p:txBody>
      </p:sp>
      <p:sp>
        <p:nvSpPr>
          <p:cNvPr id="98" name="Google Shape;98;p2"/>
          <p:cNvSpPr txBox="1"/>
          <p:nvPr/>
        </p:nvSpPr>
        <p:spPr>
          <a:xfrm>
            <a:off x="7585788" y="3764071"/>
            <a:ext cx="4387046" cy="1610711"/>
          </a:xfrm>
          <a:prstGeom prst="rect">
            <a:avLst/>
          </a:prstGeom>
          <a:noFill/>
          <a:ln>
            <a:noFill/>
          </a:ln>
        </p:spPr>
        <p:txBody>
          <a:bodyPr spcFirstLastPara="1" wrap="square" lIns="91425" tIns="45700" rIns="91425" bIns="45700" anchor="t" anchorCtr="0">
            <a:normAutofit/>
          </a:bodyPr>
          <a:lstStyle/>
          <a:p>
            <a:pPr marL="0" marR="0" lvl="0" indent="0" algn="l" rtl="0">
              <a:lnSpc>
                <a:spcPct val="100000"/>
              </a:lnSpc>
              <a:spcBef>
                <a:spcPts val="0"/>
              </a:spcBef>
              <a:spcAft>
                <a:spcPts val="0"/>
              </a:spcAft>
              <a:buClr>
                <a:schemeClr val="dk1"/>
              </a:buClr>
              <a:buSzPts val="2400"/>
              <a:buFont typeface="Arial"/>
              <a:buNone/>
            </a:pPr>
            <a:r>
              <a:rPr lang="en-US" sz="2400" b="1" i="0" u="none" strike="noStrike" cap="none">
                <a:solidFill>
                  <a:schemeClr val="dk1"/>
                </a:solidFill>
                <a:latin typeface="Times New Roman"/>
                <a:ea typeface="Times New Roman"/>
                <a:cs typeface="Times New Roman"/>
                <a:sym typeface="Times New Roman"/>
              </a:rPr>
              <a:t>Supervisor:</a:t>
            </a:r>
            <a:endParaRPr sz="2400" b="0" i="0" u="none" strike="noStrike" cap="none">
              <a:solidFill>
                <a:srgbClr val="000000"/>
              </a:solidFill>
              <a:latin typeface="Arial"/>
              <a:ea typeface="Arial"/>
              <a:cs typeface="Arial"/>
              <a:sym typeface="Arial"/>
            </a:endParaRPr>
          </a:p>
          <a:p>
            <a:pPr marL="0" marR="0" lvl="0" indent="0" algn="l" rtl="0">
              <a:lnSpc>
                <a:spcPct val="100000"/>
              </a:lnSpc>
              <a:spcBef>
                <a:spcPts val="1000"/>
              </a:spcBef>
              <a:spcAft>
                <a:spcPts val="0"/>
              </a:spcAft>
              <a:buClr>
                <a:schemeClr val="dk1"/>
              </a:buClr>
              <a:buSzPts val="2400"/>
              <a:buFont typeface="Arial"/>
              <a:buNone/>
            </a:pPr>
            <a:r>
              <a:rPr lang="en-US" sz="2400" b="1" i="0" u="none" strike="noStrike" cap="none">
                <a:solidFill>
                  <a:schemeClr val="dk1"/>
                </a:solidFill>
                <a:latin typeface="Times New Roman"/>
                <a:ea typeface="Times New Roman"/>
                <a:cs typeface="Times New Roman"/>
                <a:sym typeface="Times New Roman"/>
              </a:rPr>
              <a:t>Dr. S.Bhuvana</a:t>
            </a:r>
            <a:endParaRPr sz="2400" b="0" i="0" u="none" strike="noStrike" cap="none">
              <a:solidFill>
                <a:srgbClr val="000000"/>
              </a:solidFill>
              <a:latin typeface="Arial"/>
              <a:ea typeface="Arial"/>
              <a:cs typeface="Arial"/>
              <a:sym typeface="Arial"/>
            </a:endParaRPr>
          </a:p>
          <a:p>
            <a:pPr marL="0" marR="0" lvl="0" indent="0" algn="l" rtl="0">
              <a:lnSpc>
                <a:spcPct val="100000"/>
              </a:lnSpc>
              <a:spcBef>
                <a:spcPts val="1000"/>
              </a:spcBef>
              <a:spcAft>
                <a:spcPts val="0"/>
              </a:spcAft>
              <a:buClr>
                <a:schemeClr val="dk1"/>
              </a:buClr>
              <a:buSzPts val="3200"/>
              <a:buFont typeface="Arial"/>
              <a:buNone/>
            </a:pPr>
            <a:r>
              <a:rPr lang="en-US" sz="3200" b="1" i="0" u="none" strike="noStrike" cap="none" baseline="30000">
                <a:solidFill>
                  <a:schemeClr val="dk1"/>
                </a:solidFill>
                <a:latin typeface="Times New Roman"/>
                <a:ea typeface="Times New Roman"/>
                <a:cs typeface="Times New Roman"/>
                <a:sym typeface="Times New Roman"/>
              </a:rPr>
              <a:t>Assistant Professor[SG]</a:t>
            </a:r>
            <a:endParaRPr sz="3200" b="0" i="0" u="none" strike="noStrike" cap="none">
              <a:solidFill>
                <a:srgbClr val="000000"/>
              </a:solidFill>
              <a:latin typeface="Arial"/>
              <a:ea typeface="Arial"/>
              <a:cs typeface="Arial"/>
              <a:sym typeface="Arial"/>
            </a:endParaRPr>
          </a:p>
          <a:p>
            <a:pPr marL="228600" marR="0" lvl="0" indent="0" algn="l" rtl="0">
              <a:lnSpc>
                <a:spcPct val="100000"/>
              </a:lnSpc>
              <a:spcBef>
                <a:spcPts val="360"/>
              </a:spcBef>
              <a:spcAft>
                <a:spcPts val="0"/>
              </a:spcAft>
              <a:buClr>
                <a:schemeClr val="dk1"/>
              </a:buClr>
              <a:buSzPts val="1800"/>
              <a:buFont typeface="Arial"/>
              <a:buNone/>
            </a:pPr>
            <a:endParaRPr sz="1800" b="0" i="0" u="none" strike="noStrike" cap="none">
              <a:solidFill>
                <a:srgbClr val="000000"/>
              </a:solidFill>
              <a:latin typeface="Arial"/>
              <a:ea typeface="Arial"/>
              <a:cs typeface="Arial"/>
              <a:sym typeface="Arial"/>
            </a:endParaRPr>
          </a:p>
        </p:txBody>
      </p:sp>
      <p:sp>
        <p:nvSpPr>
          <p:cNvPr id="99" name="Google Shape;99;p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a:t>Rajalakshmi Engineering College,Department of Cyber Security</a:t>
            </a: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3"/>
        <p:cNvGrpSpPr/>
        <p:nvPr/>
      </p:nvGrpSpPr>
      <p:grpSpPr>
        <a:xfrm>
          <a:off x="0" y="0"/>
          <a:ext cx="0" cy="0"/>
          <a:chOff x="0" y="0"/>
          <a:chExt cx="0" cy="0"/>
        </a:xfrm>
      </p:grpSpPr>
      <p:sp>
        <p:nvSpPr>
          <p:cNvPr id="104" name="Google Shape;104;p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ctr" rtl="0">
              <a:lnSpc>
                <a:spcPct val="90000"/>
              </a:lnSpc>
              <a:spcBef>
                <a:spcPts val="0"/>
              </a:spcBef>
              <a:spcAft>
                <a:spcPts val="0"/>
              </a:spcAft>
              <a:buClr>
                <a:srgbClr val="1F3864"/>
              </a:buClr>
              <a:buSzPts val="4400"/>
              <a:buFont typeface="Times New Roman"/>
              <a:buNone/>
            </a:pPr>
            <a:r>
              <a:rPr lang="en-US" b="1">
                <a:solidFill>
                  <a:srgbClr val="1F3864"/>
                </a:solidFill>
                <a:latin typeface="Times New Roman"/>
                <a:ea typeface="Times New Roman"/>
                <a:cs typeface="Times New Roman"/>
                <a:sym typeface="Times New Roman"/>
              </a:rPr>
              <a:t>OUTLINE</a:t>
            </a:r>
            <a:endParaRPr b="1">
              <a:solidFill>
                <a:srgbClr val="1F3864"/>
              </a:solidFill>
            </a:endParaRPr>
          </a:p>
        </p:txBody>
      </p:sp>
      <p:sp>
        <p:nvSpPr>
          <p:cNvPr id="105" name="Google Shape;105;p3"/>
          <p:cNvSpPr txBox="1">
            <a:spLocks noGrp="1"/>
          </p:cNvSpPr>
          <p:nvPr>
            <p:ph type="body" idx="1"/>
          </p:nvPr>
        </p:nvSpPr>
        <p:spPr>
          <a:xfrm>
            <a:off x="918882" y="1771837"/>
            <a:ext cx="10515600" cy="4351338"/>
          </a:xfrm>
          <a:prstGeom prst="rect">
            <a:avLst/>
          </a:prstGeom>
          <a:noFill/>
          <a:ln>
            <a:noFill/>
          </a:ln>
        </p:spPr>
        <p:txBody>
          <a:bodyPr spcFirstLastPara="1" wrap="square" lIns="91425" tIns="45700" rIns="91425" bIns="45700" anchor="t" anchorCtr="0">
            <a:normAutofit fontScale="77500" lnSpcReduction="20000"/>
          </a:bodyPr>
          <a:lstStyle/>
          <a:p>
            <a:pPr marL="343080" lvl="0" indent="-343080" algn="l" rtl="0">
              <a:lnSpc>
                <a:spcPct val="150000"/>
              </a:lnSpc>
              <a:spcBef>
                <a:spcPts val="0"/>
              </a:spcBef>
              <a:spcAft>
                <a:spcPts val="0"/>
              </a:spcAft>
              <a:buClr>
                <a:srgbClr val="000000"/>
              </a:buClr>
              <a:buSzPct val="100000"/>
              <a:buFont typeface="Arial"/>
              <a:buChar char="•"/>
            </a:pPr>
            <a:r>
              <a:rPr lang="en-US">
                <a:solidFill>
                  <a:schemeClr val="dk1"/>
                </a:solidFill>
                <a:latin typeface="Times New Roman"/>
                <a:ea typeface="Times New Roman"/>
                <a:cs typeface="Times New Roman"/>
                <a:sym typeface="Times New Roman"/>
              </a:rPr>
              <a:t>Abstract</a:t>
            </a:r>
            <a:endParaRPr>
              <a:solidFill>
                <a:srgbClr val="000000"/>
              </a:solidFill>
              <a:latin typeface="Arial"/>
              <a:ea typeface="Arial"/>
              <a:cs typeface="Arial"/>
              <a:sym typeface="Arial"/>
            </a:endParaRPr>
          </a:p>
          <a:p>
            <a:pPr marL="343080" lvl="0" indent="-343080" algn="l" rtl="0">
              <a:lnSpc>
                <a:spcPct val="150000"/>
              </a:lnSpc>
              <a:spcBef>
                <a:spcPts val="819"/>
              </a:spcBef>
              <a:spcAft>
                <a:spcPts val="0"/>
              </a:spcAft>
              <a:buClr>
                <a:srgbClr val="000000"/>
              </a:buClr>
              <a:buSzPct val="100000"/>
              <a:buFont typeface="Arial"/>
              <a:buChar char="•"/>
            </a:pPr>
            <a:r>
              <a:rPr lang="en-US">
                <a:solidFill>
                  <a:schemeClr val="dk1"/>
                </a:solidFill>
                <a:latin typeface="Times New Roman"/>
                <a:ea typeface="Times New Roman"/>
                <a:cs typeface="Times New Roman"/>
                <a:sym typeface="Times New Roman"/>
              </a:rPr>
              <a:t>Objective</a:t>
            </a:r>
            <a:endParaRPr>
              <a:solidFill>
                <a:srgbClr val="000000"/>
              </a:solidFill>
              <a:latin typeface="Arial"/>
              <a:ea typeface="Arial"/>
              <a:cs typeface="Arial"/>
              <a:sym typeface="Arial"/>
            </a:endParaRPr>
          </a:p>
          <a:p>
            <a:pPr marL="343080" lvl="0" indent="-343080" algn="l" rtl="0">
              <a:lnSpc>
                <a:spcPct val="150000"/>
              </a:lnSpc>
              <a:spcBef>
                <a:spcPts val="819"/>
              </a:spcBef>
              <a:spcAft>
                <a:spcPts val="0"/>
              </a:spcAft>
              <a:buClr>
                <a:srgbClr val="000000"/>
              </a:buClr>
              <a:buSzPct val="100000"/>
              <a:buFont typeface="Arial"/>
              <a:buChar char="•"/>
            </a:pPr>
            <a:r>
              <a:rPr lang="en-US">
                <a:solidFill>
                  <a:schemeClr val="dk1"/>
                </a:solidFill>
                <a:latin typeface="Times New Roman"/>
                <a:ea typeface="Times New Roman"/>
                <a:cs typeface="Times New Roman"/>
                <a:sym typeface="Times New Roman"/>
              </a:rPr>
              <a:t>Literature Survey</a:t>
            </a:r>
            <a:endParaRPr>
              <a:solidFill>
                <a:srgbClr val="000000"/>
              </a:solidFill>
              <a:latin typeface="Arial"/>
              <a:ea typeface="Arial"/>
              <a:cs typeface="Arial"/>
              <a:sym typeface="Arial"/>
            </a:endParaRPr>
          </a:p>
          <a:p>
            <a:pPr marL="343080" lvl="0" indent="-343080" algn="l" rtl="0">
              <a:lnSpc>
                <a:spcPct val="150000"/>
              </a:lnSpc>
              <a:spcBef>
                <a:spcPts val="819"/>
              </a:spcBef>
              <a:spcAft>
                <a:spcPts val="0"/>
              </a:spcAft>
              <a:buClr>
                <a:srgbClr val="000000"/>
              </a:buClr>
              <a:buSzPct val="100000"/>
              <a:buFont typeface="Arial"/>
              <a:buChar char="•"/>
            </a:pPr>
            <a:r>
              <a:rPr lang="en-US">
                <a:solidFill>
                  <a:schemeClr val="dk1"/>
                </a:solidFill>
                <a:latin typeface="Times New Roman"/>
                <a:ea typeface="Times New Roman"/>
                <a:cs typeface="Times New Roman"/>
                <a:sym typeface="Times New Roman"/>
              </a:rPr>
              <a:t>Summary of Literature</a:t>
            </a:r>
            <a:endParaRPr>
              <a:solidFill>
                <a:srgbClr val="000000"/>
              </a:solidFill>
              <a:latin typeface="Arial"/>
              <a:ea typeface="Arial"/>
              <a:cs typeface="Arial"/>
              <a:sym typeface="Arial"/>
            </a:endParaRPr>
          </a:p>
          <a:p>
            <a:pPr marL="343080" lvl="0" indent="-343080" algn="l" rtl="0">
              <a:lnSpc>
                <a:spcPct val="150000"/>
              </a:lnSpc>
              <a:spcBef>
                <a:spcPts val="819"/>
              </a:spcBef>
              <a:spcAft>
                <a:spcPts val="0"/>
              </a:spcAft>
              <a:buClr>
                <a:srgbClr val="000000"/>
              </a:buClr>
              <a:buSzPct val="100000"/>
              <a:buFont typeface="Arial"/>
              <a:buChar char="•"/>
            </a:pPr>
            <a:r>
              <a:rPr lang="en-US">
                <a:solidFill>
                  <a:schemeClr val="dk1"/>
                </a:solidFill>
                <a:latin typeface="Times New Roman"/>
                <a:ea typeface="Times New Roman"/>
                <a:cs typeface="Times New Roman"/>
                <a:sym typeface="Times New Roman"/>
              </a:rPr>
              <a:t>Proposed System &amp; Novelty</a:t>
            </a:r>
            <a:endParaRPr>
              <a:solidFill>
                <a:srgbClr val="000000"/>
              </a:solidFill>
              <a:latin typeface="Arial"/>
              <a:ea typeface="Arial"/>
              <a:cs typeface="Arial"/>
              <a:sym typeface="Arial"/>
            </a:endParaRPr>
          </a:p>
          <a:p>
            <a:pPr marL="343080" lvl="0" indent="-343080" algn="l" rtl="0">
              <a:lnSpc>
                <a:spcPct val="150000"/>
              </a:lnSpc>
              <a:spcBef>
                <a:spcPts val="819"/>
              </a:spcBef>
              <a:spcAft>
                <a:spcPts val="0"/>
              </a:spcAft>
              <a:buClr>
                <a:srgbClr val="000000"/>
              </a:buClr>
              <a:buSzPct val="100000"/>
              <a:buFont typeface="Arial"/>
              <a:buChar char="•"/>
            </a:pPr>
            <a:r>
              <a:rPr lang="en-US">
                <a:solidFill>
                  <a:schemeClr val="dk1"/>
                </a:solidFill>
                <a:latin typeface="Times New Roman"/>
                <a:ea typeface="Times New Roman"/>
                <a:cs typeface="Times New Roman"/>
                <a:sym typeface="Times New Roman"/>
              </a:rPr>
              <a:t>Block Diagram</a:t>
            </a:r>
            <a:endParaRPr>
              <a:solidFill>
                <a:srgbClr val="000000"/>
              </a:solidFill>
              <a:latin typeface="Arial"/>
              <a:ea typeface="Arial"/>
              <a:cs typeface="Arial"/>
              <a:sym typeface="Arial"/>
            </a:endParaRPr>
          </a:p>
          <a:p>
            <a:pPr marL="343080" lvl="0" indent="-343080" algn="l" rtl="0">
              <a:lnSpc>
                <a:spcPct val="150000"/>
              </a:lnSpc>
              <a:spcBef>
                <a:spcPts val="819"/>
              </a:spcBef>
              <a:spcAft>
                <a:spcPts val="0"/>
              </a:spcAft>
              <a:buClr>
                <a:srgbClr val="000000"/>
              </a:buClr>
              <a:buSzPct val="100000"/>
              <a:buFont typeface="Arial"/>
              <a:buChar char="•"/>
            </a:pPr>
            <a:r>
              <a:rPr lang="en-US">
                <a:solidFill>
                  <a:schemeClr val="dk1"/>
                </a:solidFill>
                <a:latin typeface="Times New Roman"/>
                <a:ea typeface="Times New Roman"/>
                <a:cs typeface="Times New Roman"/>
                <a:sym typeface="Times New Roman"/>
              </a:rPr>
              <a:t>Hardware/Software requirements</a:t>
            </a:r>
            <a:endParaRPr>
              <a:solidFill>
                <a:srgbClr val="000000"/>
              </a:solidFill>
              <a:latin typeface="Arial"/>
              <a:ea typeface="Arial"/>
              <a:cs typeface="Arial"/>
              <a:sym typeface="Arial"/>
            </a:endParaRPr>
          </a:p>
          <a:p>
            <a:pPr marL="343080" lvl="0" indent="-343080" algn="l" rtl="0">
              <a:lnSpc>
                <a:spcPct val="150000"/>
              </a:lnSpc>
              <a:spcBef>
                <a:spcPts val="819"/>
              </a:spcBef>
              <a:spcAft>
                <a:spcPts val="0"/>
              </a:spcAft>
              <a:buClr>
                <a:srgbClr val="000000"/>
              </a:buClr>
              <a:buSzPct val="100000"/>
              <a:buFont typeface="Arial"/>
              <a:buChar char="•"/>
            </a:pPr>
            <a:r>
              <a:rPr lang="en-US">
                <a:solidFill>
                  <a:schemeClr val="dk1"/>
                </a:solidFill>
                <a:latin typeface="Times New Roman"/>
                <a:ea typeface="Times New Roman"/>
                <a:cs typeface="Times New Roman"/>
                <a:sym typeface="Times New Roman"/>
              </a:rPr>
              <a:t>References</a:t>
            </a:r>
            <a:endParaRPr>
              <a:solidFill>
                <a:srgbClr val="000000"/>
              </a:solidFill>
              <a:latin typeface="Arial"/>
              <a:ea typeface="Arial"/>
              <a:cs typeface="Arial"/>
              <a:sym typeface="Arial"/>
            </a:endParaRPr>
          </a:p>
          <a:p>
            <a:pPr marL="228600" lvl="0" indent="-90805" algn="l" rtl="0">
              <a:lnSpc>
                <a:spcPct val="90000"/>
              </a:lnSpc>
              <a:spcBef>
                <a:spcPts val="1000"/>
              </a:spcBef>
              <a:spcAft>
                <a:spcPts val="0"/>
              </a:spcAft>
              <a:buClr>
                <a:schemeClr val="dk1"/>
              </a:buClr>
              <a:buSzPct val="100000"/>
              <a:buNone/>
            </a:pPr>
            <a:endParaRPr/>
          </a:p>
        </p:txBody>
      </p:sp>
      <p:sp>
        <p:nvSpPr>
          <p:cNvPr id="106" name="Google Shape;106;p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a:t>Rajalakshmi Engineering College,Department of Cyber Security</a:t>
            </a: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10"/>
        <p:cNvGrpSpPr/>
        <p:nvPr/>
      </p:nvGrpSpPr>
      <p:grpSpPr>
        <a:xfrm>
          <a:off x="0" y="0"/>
          <a:ext cx="0" cy="0"/>
          <a:chOff x="0" y="0"/>
          <a:chExt cx="0" cy="0"/>
        </a:xfrm>
      </p:grpSpPr>
      <p:sp>
        <p:nvSpPr>
          <p:cNvPr id="111" name="Google Shape;111;p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ctr" rtl="0">
              <a:lnSpc>
                <a:spcPct val="90000"/>
              </a:lnSpc>
              <a:spcBef>
                <a:spcPts val="0"/>
              </a:spcBef>
              <a:spcAft>
                <a:spcPts val="0"/>
              </a:spcAft>
              <a:buClr>
                <a:srgbClr val="1F3864"/>
              </a:buClr>
              <a:buSzPts val="4400"/>
              <a:buFont typeface="Calibri"/>
              <a:buNone/>
            </a:pPr>
            <a:r>
              <a:rPr lang="en-US" b="1">
                <a:solidFill>
                  <a:srgbClr val="1F3864"/>
                </a:solidFill>
              </a:rPr>
              <a:t>ABSTRACT</a:t>
            </a:r>
            <a:endParaRPr b="1">
              <a:solidFill>
                <a:srgbClr val="1F3864"/>
              </a:solidFill>
            </a:endParaRPr>
          </a:p>
        </p:txBody>
      </p:sp>
      <p:sp>
        <p:nvSpPr>
          <p:cNvPr id="112" name="Google Shape;112;p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p>
            <a:pPr marL="0" lvl="0" indent="0" algn="just" rtl="0">
              <a:lnSpc>
                <a:spcPct val="90000"/>
              </a:lnSpc>
              <a:spcBef>
                <a:spcPts val="0"/>
              </a:spcBef>
              <a:spcAft>
                <a:spcPts val="0"/>
              </a:spcAft>
              <a:buClr>
                <a:schemeClr val="dk1"/>
              </a:buClr>
              <a:buSzPts val="2400"/>
              <a:buNone/>
            </a:pPr>
            <a:r>
              <a:rPr lang="en-US" sz="2400"/>
              <a:t>Healthcare providers often face challenges in referring patients to the right hospital during emergencies due to differences in medical specialties, treatment facilities, resource availability, and patient conditions. This project proposes an </a:t>
            </a:r>
            <a:r>
              <a:rPr lang="en-US" sz="2400" b="1"/>
              <a:t>AI-Based</a:t>
            </a:r>
            <a:r>
              <a:rPr lang="en-US" sz="2400"/>
              <a:t> </a:t>
            </a:r>
            <a:r>
              <a:rPr lang="en-US" sz="2400" b="1"/>
              <a:t>Smart Patient Referral and Hospital Selection System </a:t>
            </a:r>
            <a:r>
              <a:rPr lang="en-US" sz="2400"/>
              <a:t>that uses classical AI techniques to analyze patient symptoms, identify healthcare requirements, and recommend the most suitable hospital based on specialist availability, medical facilities, resource availability, and travel distance. By applying knowledge-based reasoning, Best-First Search, and Constraint Satisfaction, the system aims to improve referral accuracy, reduce treatment delays, and support efficient and explainable healthcare decision-making.</a:t>
            </a:r>
            <a:endParaRPr/>
          </a:p>
        </p:txBody>
      </p:sp>
      <p:sp>
        <p:nvSpPr>
          <p:cNvPr id="113" name="Google Shape;113;p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a:t>Rajalakshmi Engineering College,Department of Cyber Security</a:t>
            </a:r>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p:cNvGrpSpPr/>
        <p:nvPr/>
      </p:nvGrpSpPr>
      <p:grpSpPr>
        <a:xfrm>
          <a:off x="0" y="0"/>
          <a:ext cx="0" cy="0"/>
          <a:chOff x="0" y="0"/>
          <a:chExt cx="0" cy="0"/>
        </a:xfrm>
      </p:grpSpPr>
      <p:sp>
        <p:nvSpPr>
          <p:cNvPr id="118" name="Google Shape;118;p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ctr" rtl="0">
              <a:lnSpc>
                <a:spcPct val="90000"/>
              </a:lnSpc>
              <a:spcBef>
                <a:spcPts val="0"/>
              </a:spcBef>
              <a:spcAft>
                <a:spcPts val="0"/>
              </a:spcAft>
              <a:buClr>
                <a:srgbClr val="1F3864"/>
              </a:buClr>
              <a:buSzPts val="4400"/>
              <a:buFont typeface="Calibri"/>
              <a:buNone/>
            </a:pPr>
            <a:r>
              <a:rPr lang="en-US" b="1">
                <a:solidFill>
                  <a:srgbClr val="1F3864"/>
                </a:solidFill>
              </a:rPr>
              <a:t>OBJECTIVE</a:t>
            </a:r>
            <a:endParaRPr b="1">
              <a:solidFill>
                <a:srgbClr val="1F3864"/>
              </a:solidFill>
            </a:endParaRPr>
          </a:p>
        </p:txBody>
      </p:sp>
      <p:sp>
        <p:nvSpPr>
          <p:cNvPr id="119" name="Google Shape;119;p5"/>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400"/>
              <a:buChar char="•"/>
            </a:pPr>
            <a:r>
              <a:rPr lang="en-US" sz="2400"/>
              <a:t>Develop an </a:t>
            </a:r>
            <a:r>
              <a:rPr lang="en-US" sz="2400" b="1"/>
              <a:t>AI-based patient referral system.</a:t>
            </a:r>
            <a:endParaRPr/>
          </a:p>
          <a:p>
            <a:pPr marL="228600" lvl="0" indent="-228600" algn="l" rtl="0">
              <a:lnSpc>
                <a:spcPct val="90000"/>
              </a:lnSpc>
              <a:spcBef>
                <a:spcPts val="1000"/>
              </a:spcBef>
              <a:spcAft>
                <a:spcPts val="0"/>
              </a:spcAft>
              <a:buClr>
                <a:schemeClr val="dk1"/>
              </a:buClr>
              <a:buSzPts val="2400"/>
              <a:buChar char="•"/>
            </a:pPr>
            <a:r>
              <a:rPr lang="en-US" sz="2400"/>
              <a:t>Analyze patient symptoms and healthcare requirements.</a:t>
            </a:r>
            <a:endParaRPr/>
          </a:p>
          <a:p>
            <a:pPr marL="228600" lvl="0" indent="-228600" algn="l" rtl="0">
              <a:lnSpc>
                <a:spcPct val="90000"/>
              </a:lnSpc>
              <a:spcBef>
                <a:spcPts val="1000"/>
              </a:spcBef>
              <a:spcAft>
                <a:spcPts val="0"/>
              </a:spcAft>
              <a:buClr>
                <a:schemeClr val="dk1"/>
              </a:buClr>
              <a:buSzPts val="2400"/>
              <a:buChar char="•"/>
            </a:pPr>
            <a:r>
              <a:rPr lang="en-US" sz="2400"/>
              <a:t>Identify the required medical specialty.</a:t>
            </a:r>
            <a:endParaRPr/>
          </a:p>
          <a:p>
            <a:pPr marL="228600" lvl="0" indent="-228600" algn="l" rtl="0">
              <a:lnSpc>
                <a:spcPct val="90000"/>
              </a:lnSpc>
              <a:spcBef>
                <a:spcPts val="1000"/>
              </a:spcBef>
              <a:spcAft>
                <a:spcPts val="0"/>
              </a:spcAft>
              <a:buClr>
                <a:schemeClr val="dk1"/>
              </a:buClr>
              <a:buSzPts val="2400"/>
              <a:buChar char="•"/>
            </a:pPr>
            <a:r>
              <a:rPr lang="en-US" sz="2400"/>
              <a:t>Recommend the most suitable hospital.</a:t>
            </a:r>
            <a:endParaRPr/>
          </a:p>
          <a:p>
            <a:pPr marL="228600" lvl="0" indent="-228600" algn="l" rtl="0">
              <a:lnSpc>
                <a:spcPct val="90000"/>
              </a:lnSpc>
              <a:spcBef>
                <a:spcPts val="1000"/>
              </a:spcBef>
              <a:spcAft>
                <a:spcPts val="0"/>
              </a:spcAft>
              <a:buClr>
                <a:schemeClr val="dk1"/>
              </a:buClr>
              <a:buSzPts val="2400"/>
              <a:buChar char="•"/>
            </a:pPr>
            <a:r>
              <a:rPr lang="en-US" sz="2400"/>
              <a:t>Reduce patient referral delays.</a:t>
            </a:r>
            <a:endParaRPr/>
          </a:p>
          <a:p>
            <a:pPr marL="228600" lvl="0" indent="-228600" algn="l" rtl="0">
              <a:lnSpc>
                <a:spcPct val="90000"/>
              </a:lnSpc>
              <a:spcBef>
                <a:spcPts val="1000"/>
              </a:spcBef>
              <a:spcAft>
                <a:spcPts val="0"/>
              </a:spcAft>
              <a:buClr>
                <a:schemeClr val="dk1"/>
              </a:buClr>
              <a:buSzPts val="2400"/>
              <a:buChar char="•"/>
            </a:pPr>
            <a:r>
              <a:rPr lang="en-US" sz="2400"/>
              <a:t>Optimize healthcare resource utilization</a:t>
            </a:r>
            <a:endParaRPr sz="2400"/>
          </a:p>
        </p:txBody>
      </p:sp>
      <p:sp>
        <p:nvSpPr>
          <p:cNvPr id="120" name="Google Shape;120;p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a:t>Rajalakshmi Engineering College,Department of Cyber Security</a:t>
            </a: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24"/>
        <p:cNvGrpSpPr/>
        <p:nvPr/>
      </p:nvGrpSpPr>
      <p:grpSpPr>
        <a:xfrm>
          <a:off x="0" y="0"/>
          <a:ext cx="0" cy="0"/>
          <a:chOff x="0" y="0"/>
          <a:chExt cx="0" cy="0"/>
        </a:xfrm>
      </p:grpSpPr>
      <p:sp>
        <p:nvSpPr>
          <p:cNvPr id="125" name="Google Shape;125;p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ctr" rtl="0">
              <a:lnSpc>
                <a:spcPct val="90000"/>
              </a:lnSpc>
              <a:spcBef>
                <a:spcPts val="0"/>
              </a:spcBef>
              <a:spcAft>
                <a:spcPts val="0"/>
              </a:spcAft>
              <a:buClr>
                <a:srgbClr val="1F3864"/>
              </a:buClr>
              <a:buSzPts val="4400"/>
              <a:buFont typeface="Times New Roman"/>
              <a:buNone/>
            </a:pPr>
            <a:r>
              <a:rPr lang="en-US">
                <a:solidFill>
                  <a:srgbClr val="1F3864"/>
                </a:solidFill>
                <a:latin typeface="Times New Roman"/>
                <a:ea typeface="Times New Roman"/>
                <a:cs typeface="Times New Roman"/>
                <a:sym typeface="Times New Roman"/>
              </a:rPr>
              <a:t>Literature Survey</a:t>
            </a:r>
            <a:endParaRPr>
              <a:solidFill>
                <a:srgbClr val="1F3864"/>
              </a:solidFill>
            </a:endParaRPr>
          </a:p>
        </p:txBody>
      </p:sp>
      <p:graphicFrame>
        <p:nvGraphicFramePr>
          <p:cNvPr id="126" name="Google Shape;126;p6"/>
          <p:cNvGraphicFramePr/>
          <p:nvPr/>
        </p:nvGraphicFramePr>
        <p:xfrm>
          <a:off x="986116" y="1488055"/>
          <a:ext cx="3000000" cy="3000000"/>
        </p:xfrm>
        <a:graphic>
          <a:graphicData uri="http://schemas.openxmlformats.org/drawingml/2006/table">
            <a:tbl>
              <a:tblPr firstRow="1" bandRow="1">
                <a:noFill/>
                <a:tableStyleId>{8955E039-45C4-4950-AEFE-B0455A08227F}</a:tableStyleId>
              </a:tblPr>
              <a:tblGrid>
                <a:gridCol w="2591925">
                  <a:extLst>
                    <a:ext uri="{9D8B030D-6E8A-4147-A177-3AD203B41FA5}">
                      <a16:colId xmlns:a16="http://schemas.microsoft.com/office/drawing/2014/main" val="20000"/>
                    </a:ext>
                  </a:extLst>
                </a:gridCol>
                <a:gridCol w="2591925">
                  <a:extLst>
                    <a:ext uri="{9D8B030D-6E8A-4147-A177-3AD203B41FA5}">
                      <a16:colId xmlns:a16="http://schemas.microsoft.com/office/drawing/2014/main" val="20001"/>
                    </a:ext>
                  </a:extLst>
                </a:gridCol>
                <a:gridCol w="2591925">
                  <a:extLst>
                    <a:ext uri="{9D8B030D-6E8A-4147-A177-3AD203B41FA5}">
                      <a16:colId xmlns:a16="http://schemas.microsoft.com/office/drawing/2014/main" val="20002"/>
                    </a:ext>
                  </a:extLst>
                </a:gridCol>
                <a:gridCol w="2591925">
                  <a:extLst>
                    <a:ext uri="{9D8B030D-6E8A-4147-A177-3AD203B41FA5}">
                      <a16:colId xmlns:a16="http://schemas.microsoft.com/office/drawing/2014/main" val="20003"/>
                    </a:ext>
                  </a:extLst>
                </a:gridCol>
              </a:tblGrid>
              <a:tr h="830025">
                <a:tc>
                  <a:txBody>
                    <a:bodyPr/>
                    <a:lstStyle/>
                    <a:p>
                      <a:pPr marL="0" marR="0" lvl="0" indent="0" algn="ctr" rtl="0">
                        <a:spcBef>
                          <a:spcPts val="0"/>
                        </a:spcBef>
                        <a:spcAft>
                          <a:spcPts val="0"/>
                        </a:spcAft>
                        <a:buNone/>
                      </a:pPr>
                      <a:r>
                        <a:rPr lang="en-US" sz="2800" u="none" strike="noStrike" cap="none"/>
                        <a:t>TITLE</a:t>
                      </a:r>
                      <a:endParaRPr sz="2800" u="none" strike="noStrike" cap="none"/>
                    </a:p>
                  </a:txBody>
                  <a:tcPr marL="91450" marR="91450" marT="45725" marB="45725"/>
                </a:tc>
                <a:tc>
                  <a:txBody>
                    <a:bodyPr/>
                    <a:lstStyle/>
                    <a:p>
                      <a:pPr marL="0" marR="0" lvl="0" indent="0" algn="ctr" rtl="0">
                        <a:spcBef>
                          <a:spcPts val="0"/>
                        </a:spcBef>
                        <a:spcAft>
                          <a:spcPts val="0"/>
                        </a:spcAft>
                        <a:buNone/>
                      </a:pPr>
                      <a:r>
                        <a:rPr lang="en-US" sz="2800" u="none" strike="noStrike" cap="none"/>
                        <a:t>YEAR</a:t>
                      </a:r>
                      <a:endParaRPr sz="2800" u="none" strike="noStrike" cap="none"/>
                    </a:p>
                  </a:txBody>
                  <a:tcPr marL="91450" marR="91450" marT="45725" marB="45725"/>
                </a:tc>
                <a:tc>
                  <a:txBody>
                    <a:bodyPr/>
                    <a:lstStyle/>
                    <a:p>
                      <a:pPr marL="0" marR="0" lvl="0" indent="0" algn="ctr" rtl="0">
                        <a:spcBef>
                          <a:spcPts val="0"/>
                        </a:spcBef>
                        <a:spcAft>
                          <a:spcPts val="0"/>
                        </a:spcAft>
                        <a:buNone/>
                      </a:pPr>
                      <a:r>
                        <a:rPr lang="en-US" sz="2800" u="none" strike="noStrike" cap="none"/>
                        <a:t>AUTHOR</a:t>
                      </a:r>
                      <a:endParaRPr sz="2800" u="none" strike="noStrike" cap="none"/>
                    </a:p>
                  </a:txBody>
                  <a:tcPr marL="91450" marR="91450" marT="45725" marB="45725"/>
                </a:tc>
                <a:tc>
                  <a:txBody>
                    <a:bodyPr/>
                    <a:lstStyle/>
                    <a:p>
                      <a:pPr marL="0" marR="0" lvl="0" indent="0" algn="ctr" rtl="0">
                        <a:spcBef>
                          <a:spcPts val="0"/>
                        </a:spcBef>
                        <a:spcAft>
                          <a:spcPts val="0"/>
                        </a:spcAft>
                        <a:buNone/>
                      </a:pPr>
                      <a:r>
                        <a:rPr lang="en-US" sz="2800" u="none" strike="noStrike" cap="none"/>
                        <a:t>TECHNIQUE</a:t>
                      </a:r>
                      <a:endParaRPr sz="2800" u="none" strike="noStrike" cap="none"/>
                    </a:p>
                  </a:txBody>
                  <a:tcPr marL="91450" marR="91450" marT="45725" marB="45725"/>
                </a:tc>
                <a:extLst>
                  <a:ext uri="{0D108BD9-81ED-4DB2-BD59-A6C34878D82A}">
                    <a16:rowId xmlns:a16="http://schemas.microsoft.com/office/drawing/2014/main" val="10000"/>
                  </a:ext>
                </a:extLst>
              </a:tr>
              <a:tr h="830025">
                <a:tc>
                  <a:txBody>
                    <a:bodyPr/>
                    <a:lstStyle/>
                    <a:p>
                      <a:pPr marL="0" marR="0" lvl="0" indent="0" algn="just" rtl="0">
                        <a:spcBef>
                          <a:spcPts val="0"/>
                        </a:spcBef>
                        <a:spcAft>
                          <a:spcPts val="0"/>
                        </a:spcAft>
                        <a:buNone/>
                      </a:pPr>
                      <a:r>
                        <a:rPr lang="en-US" sz="1800" u="none" strike="noStrike" cap="none"/>
                        <a:t>Building a Hospital Referral Expert System with a Prediction and Optimization-Based Decision Support System Algorithm</a:t>
                      </a:r>
                      <a:endParaRPr sz="1800" u="none" strike="noStrike" cap="none"/>
                    </a:p>
                  </a:txBody>
                  <a:tcPr marL="91450" marR="91450" marT="45725" marB="45725"/>
                </a:tc>
                <a:tc>
                  <a:txBody>
                    <a:bodyPr/>
                    <a:lstStyle/>
                    <a:p>
                      <a:pPr marL="0" marR="0" lvl="0" indent="0" algn="ctr" rtl="0">
                        <a:spcBef>
                          <a:spcPts val="0"/>
                        </a:spcBef>
                        <a:spcAft>
                          <a:spcPts val="0"/>
                        </a:spcAft>
                        <a:buNone/>
                      </a:pPr>
                      <a:r>
                        <a:rPr lang="en-US" sz="1800" u="none" strike="noStrike" cap="none"/>
                        <a:t>2008</a:t>
                      </a:r>
                      <a:endParaRPr sz="1800" u="none" strike="noStrike" cap="none"/>
                    </a:p>
                  </a:txBody>
                  <a:tcPr marL="91450" marR="91450" marT="45725" marB="45725"/>
                </a:tc>
                <a:tc>
                  <a:txBody>
                    <a:bodyPr/>
                    <a:lstStyle/>
                    <a:p>
                      <a:pPr marL="0" marR="0" lvl="0" indent="0" algn="l" rtl="0">
                        <a:spcBef>
                          <a:spcPts val="0"/>
                        </a:spcBef>
                        <a:spcAft>
                          <a:spcPts val="0"/>
                        </a:spcAft>
                        <a:buNone/>
                      </a:pPr>
                      <a:r>
                        <a:rPr lang="en-US" sz="1800" u="none" strike="noStrike" cap="none"/>
                        <a:t>Chih-Lin Chi, W. Nick Street, Marcia M. Ward</a:t>
                      </a:r>
                      <a:endParaRPr sz="1800"/>
                    </a:p>
                  </a:txBody>
                  <a:tcPr marL="91450" marR="91450" marT="45725" marB="45725"/>
                </a:tc>
                <a:tc>
                  <a:txBody>
                    <a:bodyPr/>
                    <a:lstStyle/>
                    <a:p>
                      <a:pPr marL="0" marR="0" lvl="0" indent="0" algn="l" rtl="0">
                        <a:spcBef>
                          <a:spcPts val="0"/>
                        </a:spcBef>
                        <a:spcAft>
                          <a:spcPts val="0"/>
                        </a:spcAft>
                        <a:buNone/>
                      </a:pPr>
                      <a:r>
                        <a:rPr lang="en-US" sz="1800"/>
                        <a:t>Expert System, Decision Support</a:t>
                      </a:r>
                      <a:endParaRPr sz="1800"/>
                    </a:p>
                  </a:txBody>
                  <a:tcPr marL="91450" marR="91450" marT="45725" marB="45725"/>
                </a:tc>
                <a:extLst>
                  <a:ext uri="{0D108BD9-81ED-4DB2-BD59-A6C34878D82A}">
                    <a16:rowId xmlns:a16="http://schemas.microsoft.com/office/drawing/2014/main" val="10001"/>
                  </a:ext>
                </a:extLst>
              </a:tr>
              <a:tr h="830025">
                <a:tc>
                  <a:txBody>
                    <a:bodyPr/>
                    <a:lstStyle/>
                    <a:p>
                      <a:pPr marL="0" marR="0" lvl="0" indent="0" algn="just" rtl="0">
                        <a:spcBef>
                          <a:spcPts val="0"/>
                        </a:spcBef>
                        <a:spcAft>
                          <a:spcPts val="0"/>
                        </a:spcAft>
                        <a:buNone/>
                      </a:pPr>
                      <a:r>
                        <a:rPr lang="en-US" sz="1800"/>
                        <a:t>Artificial Intelligence in Medical Referrals Triage Based on Clinical Prioritization Criteria</a:t>
                      </a:r>
                      <a:endParaRPr sz="1800"/>
                    </a:p>
                  </a:txBody>
                  <a:tcPr marL="91450" marR="91450" marT="45725" marB="45725"/>
                </a:tc>
                <a:tc>
                  <a:txBody>
                    <a:bodyPr/>
                    <a:lstStyle/>
                    <a:p>
                      <a:pPr marL="0" marR="0" lvl="0" indent="0" algn="ctr" rtl="0">
                        <a:spcBef>
                          <a:spcPts val="0"/>
                        </a:spcBef>
                        <a:spcAft>
                          <a:spcPts val="0"/>
                        </a:spcAft>
                        <a:buNone/>
                      </a:pPr>
                      <a:r>
                        <a:rPr lang="en-US" sz="1800"/>
                        <a:t>2023</a:t>
                      </a:r>
                      <a:endParaRPr sz="1800"/>
                    </a:p>
                  </a:txBody>
                  <a:tcPr marL="91450" marR="91450" marT="45725" marB="45725"/>
                </a:tc>
                <a:tc>
                  <a:txBody>
                    <a:bodyPr/>
                    <a:lstStyle/>
                    <a:p>
                      <a:pPr marL="0" marR="0" lvl="0" indent="0" algn="l" rtl="0">
                        <a:spcBef>
                          <a:spcPts val="0"/>
                        </a:spcBef>
                        <a:spcAft>
                          <a:spcPts val="0"/>
                        </a:spcAft>
                        <a:buNone/>
                      </a:pPr>
                      <a:r>
                        <a:rPr lang="en-US" sz="1800"/>
                        <a:t>Abdel-Hafez et al.</a:t>
                      </a:r>
                      <a:endParaRPr sz="1800"/>
                    </a:p>
                  </a:txBody>
                  <a:tcPr marL="91450" marR="91450" marT="45725" marB="45725"/>
                </a:tc>
                <a:tc>
                  <a:txBody>
                    <a:bodyPr/>
                    <a:lstStyle/>
                    <a:p>
                      <a:pPr marL="0" marR="0" lvl="0" indent="0" algn="l" rtl="0">
                        <a:spcBef>
                          <a:spcPts val="0"/>
                        </a:spcBef>
                        <a:spcAft>
                          <a:spcPts val="0"/>
                        </a:spcAft>
                        <a:buNone/>
                      </a:pPr>
                      <a:r>
                        <a:rPr lang="en-US" sz="1800"/>
                        <a:t>AI-Based Referral Triage</a:t>
                      </a:r>
                      <a:endParaRPr sz="1800"/>
                    </a:p>
                  </a:txBody>
                  <a:tcPr marL="91450" marR="91450" marT="45725" marB="45725"/>
                </a:tc>
                <a:extLst>
                  <a:ext uri="{0D108BD9-81ED-4DB2-BD59-A6C34878D82A}">
                    <a16:rowId xmlns:a16="http://schemas.microsoft.com/office/drawing/2014/main" val="10002"/>
                  </a:ext>
                </a:extLst>
              </a:tr>
              <a:tr h="830025">
                <a:tc>
                  <a:txBody>
                    <a:bodyPr/>
                    <a:lstStyle/>
                    <a:p>
                      <a:pPr marL="0" marR="0" lvl="0" indent="0" algn="just" rtl="0">
                        <a:spcBef>
                          <a:spcPts val="0"/>
                        </a:spcBef>
                        <a:spcAft>
                          <a:spcPts val="0"/>
                        </a:spcAft>
                        <a:buNone/>
                      </a:pPr>
                      <a:r>
                        <a:rPr lang="en-US" sz="1800"/>
                        <a:t>Diagnostic Performance, Triage Safety, and Usability of a Clinical Decision Support System</a:t>
                      </a:r>
                      <a:endParaRPr sz="1800"/>
                    </a:p>
                  </a:txBody>
                  <a:tcPr marL="91450" marR="91450" marT="45725" marB="45725"/>
                </a:tc>
                <a:tc>
                  <a:txBody>
                    <a:bodyPr/>
                    <a:lstStyle/>
                    <a:p>
                      <a:pPr marL="0" marR="0" lvl="0" indent="0" algn="ctr" rtl="0">
                        <a:spcBef>
                          <a:spcPts val="0"/>
                        </a:spcBef>
                        <a:spcAft>
                          <a:spcPts val="0"/>
                        </a:spcAft>
                        <a:buNone/>
                      </a:pPr>
                      <a:r>
                        <a:rPr lang="en-US" sz="1800"/>
                        <a:t>2023</a:t>
                      </a:r>
                      <a:endParaRPr sz="1800"/>
                    </a:p>
                  </a:txBody>
                  <a:tcPr marL="91450" marR="91450" marT="45725" marB="45725"/>
                </a:tc>
                <a:tc>
                  <a:txBody>
                    <a:bodyPr/>
                    <a:lstStyle/>
                    <a:p>
                      <a:pPr marL="0" marR="0" lvl="0" indent="0" algn="l" rtl="0">
                        <a:spcBef>
                          <a:spcPts val="0"/>
                        </a:spcBef>
                        <a:spcAft>
                          <a:spcPts val="0"/>
                        </a:spcAft>
                        <a:buNone/>
                      </a:pPr>
                      <a:r>
                        <a:rPr lang="en-US" sz="1800"/>
                        <a:t>Juhani Määttä et al.</a:t>
                      </a:r>
                      <a:endParaRPr/>
                    </a:p>
                  </a:txBody>
                  <a:tcPr marL="91450" marR="91450" marT="45725" marB="45725"/>
                </a:tc>
                <a:tc>
                  <a:txBody>
                    <a:bodyPr/>
                    <a:lstStyle/>
                    <a:p>
                      <a:pPr marL="0" marR="0" lvl="0" indent="0" algn="l" rtl="0">
                        <a:spcBef>
                          <a:spcPts val="0"/>
                        </a:spcBef>
                        <a:spcAft>
                          <a:spcPts val="0"/>
                        </a:spcAft>
                        <a:buNone/>
                      </a:pPr>
                      <a:r>
                        <a:rPr lang="en-US" sz="1800"/>
                        <a:t>Clinical Decision Support System</a:t>
                      </a:r>
                      <a:endParaRPr sz="1800"/>
                    </a:p>
                  </a:txBody>
                  <a:tcPr marL="91450" marR="91450" marT="45725" marB="45725"/>
                </a:tc>
                <a:extLst>
                  <a:ext uri="{0D108BD9-81ED-4DB2-BD59-A6C34878D82A}">
                    <a16:rowId xmlns:a16="http://schemas.microsoft.com/office/drawing/2014/main" val="10003"/>
                  </a:ext>
                </a:extLst>
              </a:tr>
            </a:tbl>
          </a:graphicData>
        </a:graphic>
      </p:graphicFrame>
      <p:sp>
        <p:nvSpPr>
          <p:cNvPr id="127" name="Google Shape;127;p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a:t>Rajalakshmi Engineering College,Department of Cyber Security</a:t>
            </a: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31"/>
        <p:cNvGrpSpPr/>
        <p:nvPr/>
      </p:nvGrpSpPr>
      <p:grpSpPr>
        <a:xfrm>
          <a:off x="0" y="0"/>
          <a:ext cx="0" cy="0"/>
          <a:chOff x="0" y="0"/>
          <a:chExt cx="0" cy="0"/>
        </a:xfrm>
      </p:grpSpPr>
      <p:sp>
        <p:nvSpPr>
          <p:cNvPr id="132" name="Google Shape;132;p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ctr" rtl="0">
              <a:lnSpc>
                <a:spcPct val="90000"/>
              </a:lnSpc>
              <a:spcBef>
                <a:spcPts val="0"/>
              </a:spcBef>
              <a:spcAft>
                <a:spcPts val="0"/>
              </a:spcAft>
              <a:buClr>
                <a:srgbClr val="1F3864"/>
              </a:buClr>
              <a:buSzPts val="4400"/>
              <a:buFont typeface="Calibri"/>
              <a:buNone/>
            </a:pPr>
            <a:r>
              <a:rPr lang="en-US" b="1">
                <a:solidFill>
                  <a:srgbClr val="1F3864"/>
                </a:solidFill>
              </a:rPr>
              <a:t>EXISTING SYSTEM</a:t>
            </a:r>
            <a:endParaRPr b="1">
              <a:solidFill>
                <a:srgbClr val="1F3864"/>
              </a:solidFill>
            </a:endParaRPr>
          </a:p>
        </p:txBody>
      </p:sp>
      <p:sp>
        <p:nvSpPr>
          <p:cNvPr id="133" name="Google Shape;133;p7"/>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400"/>
              <a:buChar char="•"/>
            </a:pPr>
            <a:r>
              <a:rPr lang="en-US" sz="2400"/>
              <a:t>Manual patient referral process.</a:t>
            </a:r>
            <a:endParaRPr/>
          </a:p>
          <a:p>
            <a:pPr marL="228600" lvl="0" indent="-228600" algn="l" rtl="0">
              <a:lnSpc>
                <a:spcPct val="90000"/>
              </a:lnSpc>
              <a:spcBef>
                <a:spcPts val="1000"/>
              </a:spcBef>
              <a:spcAft>
                <a:spcPts val="0"/>
              </a:spcAft>
              <a:buClr>
                <a:schemeClr val="dk1"/>
              </a:buClr>
              <a:buSzPts val="2400"/>
              <a:buChar char="•"/>
            </a:pPr>
            <a:r>
              <a:rPr lang="en-US" sz="2400"/>
              <a:t>Referral decisions rely on physician experience.</a:t>
            </a:r>
            <a:endParaRPr/>
          </a:p>
          <a:p>
            <a:pPr marL="228600" lvl="0" indent="-228600" algn="l" rtl="0">
              <a:lnSpc>
                <a:spcPct val="90000"/>
              </a:lnSpc>
              <a:spcBef>
                <a:spcPts val="1000"/>
              </a:spcBef>
              <a:spcAft>
                <a:spcPts val="0"/>
              </a:spcAft>
              <a:buClr>
                <a:schemeClr val="dk1"/>
              </a:buClr>
              <a:buSzPts val="2400"/>
              <a:buChar char="•"/>
            </a:pPr>
            <a:r>
              <a:rPr lang="en-US" sz="2400"/>
              <a:t>No intelligent hospital recommendation mechanism.</a:t>
            </a:r>
            <a:endParaRPr/>
          </a:p>
          <a:p>
            <a:pPr marL="228600" lvl="0" indent="-228600" algn="l" rtl="0">
              <a:lnSpc>
                <a:spcPct val="90000"/>
              </a:lnSpc>
              <a:spcBef>
                <a:spcPts val="1000"/>
              </a:spcBef>
              <a:spcAft>
                <a:spcPts val="0"/>
              </a:spcAft>
              <a:buClr>
                <a:schemeClr val="dk1"/>
              </a:buClr>
              <a:buSzPts val="2400"/>
              <a:buChar char="•"/>
            </a:pPr>
            <a:r>
              <a:rPr lang="en-US" sz="2400"/>
              <a:t>Resource availability is not considered effectively.</a:t>
            </a:r>
            <a:endParaRPr/>
          </a:p>
          <a:p>
            <a:pPr marL="228600" lvl="0" indent="-228600" algn="l" rtl="0">
              <a:lnSpc>
                <a:spcPct val="90000"/>
              </a:lnSpc>
              <a:spcBef>
                <a:spcPts val="1000"/>
              </a:spcBef>
              <a:spcAft>
                <a:spcPts val="0"/>
              </a:spcAft>
              <a:buClr>
                <a:schemeClr val="dk1"/>
              </a:buClr>
              <a:buSzPts val="2400"/>
              <a:buChar char="•"/>
            </a:pPr>
            <a:r>
              <a:rPr lang="en-US" sz="2400"/>
              <a:t>Treatment delays during emergency referrals.</a:t>
            </a:r>
            <a:endParaRPr/>
          </a:p>
          <a:p>
            <a:pPr marL="228600" lvl="0" indent="-228600" algn="l" rtl="0">
              <a:lnSpc>
                <a:spcPct val="90000"/>
              </a:lnSpc>
              <a:spcBef>
                <a:spcPts val="1000"/>
              </a:spcBef>
              <a:spcAft>
                <a:spcPts val="0"/>
              </a:spcAft>
              <a:buClr>
                <a:schemeClr val="dk1"/>
              </a:buClr>
              <a:buSzPts val="2400"/>
              <a:buChar char="•"/>
            </a:pPr>
            <a:r>
              <a:rPr lang="en-US" sz="2400"/>
              <a:t>Limited evaluation of hospital facilities and specialists.</a:t>
            </a:r>
            <a:endParaRPr/>
          </a:p>
          <a:p>
            <a:pPr marL="228600" lvl="0" indent="-228600" algn="l" rtl="0">
              <a:lnSpc>
                <a:spcPct val="90000"/>
              </a:lnSpc>
              <a:spcBef>
                <a:spcPts val="1000"/>
              </a:spcBef>
              <a:spcAft>
                <a:spcPts val="0"/>
              </a:spcAft>
              <a:buClr>
                <a:schemeClr val="dk1"/>
              </a:buClr>
              <a:buSzPts val="2400"/>
              <a:buChar char="•"/>
            </a:pPr>
            <a:r>
              <a:rPr lang="en-US" sz="2400"/>
              <a:t>Lack of transparency in referral decisions</a:t>
            </a:r>
            <a:endParaRPr sz="2400"/>
          </a:p>
        </p:txBody>
      </p:sp>
      <p:sp>
        <p:nvSpPr>
          <p:cNvPr id="134" name="Google Shape;134;p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a:t>Rajalakshmi Engineering College,Department of Cyber Security</a:t>
            </a: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38"/>
        <p:cNvGrpSpPr/>
        <p:nvPr/>
      </p:nvGrpSpPr>
      <p:grpSpPr>
        <a:xfrm>
          <a:off x="0" y="0"/>
          <a:ext cx="0" cy="0"/>
          <a:chOff x="0" y="0"/>
          <a:chExt cx="0" cy="0"/>
        </a:xfrm>
      </p:grpSpPr>
      <p:sp>
        <p:nvSpPr>
          <p:cNvPr id="139" name="Google Shape;139;p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ctr" rtl="0">
              <a:lnSpc>
                <a:spcPct val="90000"/>
              </a:lnSpc>
              <a:spcBef>
                <a:spcPts val="0"/>
              </a:spcBef>
              <a:spcAft>
                <a:spcPts val="0"/>
              </a:spcAft>
              <a:buClr>
                <a:srgbClr val="1F3864"/>
              </a:buClr>
              <a:buSzPts val="4400"/>
              <a:buFont typeface="Calibri"/>
              <a:buNone/>
            </a:pPr>
            <a:r>
              <a:rPr lang="en-US" b="1">
                <a:solidFill>
                  <a:srgbClr val="1F3864"/>
                </a:solidFill>
              </a:rPr>
              <a:t>PROPOSED SYSTEM</a:t>
            </a:r>
            <a:endParaRPr b="1">
              <a:solidFill>
                <a:srgbClr val="1F3864"/>
              </a:solidFill>
            </a:endParaRPr>
          </a:p>
        </p:txBody>
      </p:sp>
      <p:sp>
        <p:nvSpPr>
          <p:cNvPr id="140" name="Google Shape;140;p8"/>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400"/>
              <a:buChar char="•"/>
            </a:pPr>
            <a:r>
              <a:rPr lang="en-US" sz="2400"/>
              <a:t>AI-based patient referral decision support system.</a:t>
            </a:r>
            <a:endParaRPr/>
          </a:p>
          <a:p>
            <a:pPr marL="228600" lvl="0" indent="-228600" algn="l" rtl="0">
              <a:lnSpc>
                <a:spcPct val="90000"/>
              </a:lnSpc>
              <a:spcBef>
                <a:spcPts val="1000"/>
              </a:spcBef>
              <a:spcAft>
                <a:spcPts val="0"/>
              </a:spcAft>
              <a:buClr>
                <a:schemeClr val="dk1"/>
              </a:buClr>
              <a:buSzPts val="2400"/>
              <a:buChar char="•"/>
            </a:pPr>
            <a:r>
              <a:rPr lang="en-US" sz="2400"/>
              <a:t>Uses Knowledge-Based Agent with logical reasoning.</a:t>
            </a:r>
            <a:endParaRPr/>
          </a:p>
          <a:p>
            <a:pPr marL="228600" lvl="0" indent="-228600" algn="l" rtl="0">
              <a:lnSpc>
                <a:spcPct val="90000"/>
              </a:lnSpc>
              <a:spcBef>
                <a:spcPts val="1000"/>
              </a:spcBef>
              <a:spcAft>
                <a:spcPts val="0"/>
              </a:spcAft>
              <a:buClr>
                <a:schemeClr val="dk1"/>
              </a:buClr>
              <a:buSzPts val="2400"/>
              <a:buChar char="•"/>
            </a:pPr>
            <a:r>
              <a:rPr lang="en-US" sz="2400"/>
              <a:t>Applies Forward  for inference.</a:t>
            </a:r>
            <a:endParaRPr/>
          </a:p>
          <a:p>
            <a:pPr marL="228600" lvl="0" indent="-228600" algn="l" rtl="0">
              <a:lnSpc>
                <a:spcPct val="90000"/>
              </a:lnSpc>
              <a:spcBef>
                <a:spcPts val="1000"/>
              </a:spcBef>
              <a:spcAft>
                <a:spcPts val="0"/>
              </a:spcAft>
              <a:buClr>
                <a:schemeClr val="dk1"/>
              </a:buClr>
              <a:buSzPts val="2400"/>
              <a:buChar char="•"/>
            </a:pPr>
            <a:r>
              <a:rPr lang="en-US" sz="2400"/>
              <a:t>Uses Best-First Search for hospital selection.</a:t>
            </a:r>
            <a:endParaRPr/>
          </a:p>
          <a:p>
            <a:pPr marL="228600" lvl="0" indent="-228600" algn="l" rtl="0">
              <a:lnSpc>
                <a:spcPct val="90000"/>
              </a:lnSpc>
              <a:spcBef>
                <a:spcPts val="1000"/>
              </a:spcBef>
              <a:spcAft>
                <a:spcPts val="0"/>
              </a:spcAft>
              <a:buClr>
                <a:schemeClr val="dk1"/>
              </a:buClr>
              <a:buSzPts val="2400"/>
              <a:buChar char="•"/>
            </a:pPr>
            <a:r>
              <a:rPr lang="en-US" sz="2400"/>
              <a:t>Evaluates hospitals using Search Algorithms.</a:t>
            </a:r>
            <a:endParaRPr/>
          </a:p>
          <a:p>
            <a:pPr marL="228600" lvl="0" indent="-228600" algn="l" rtl="0">
              <a:lnSpc>
                <a:spcPct val="90000"/>
              </a:lnSpc>
              <a:spcBef>
                <a:spcPts val="1000"/>
              </a:spcBef>
              <a:spcAft>
                <a:spcPts val="0"/>
              </a:spcAft>
              <a:buClr>
                <a:schemeClr val="dk1"/>
              </a:buClr>
              <a:buSzPts val="2400"/>
              <a:buChar char="•"/>
            </a:pPr>
            <a:r>
              <a:rPr lang="en-US" sz="2400"/>
              <a:t>Uses Constraint Satisfaction for optimal selection.</a:t>
            </a:r>
            <a:endParaRPr/>
          </a:p>
          <a:p>
            <a:pPr marL="228600" lvl="0" indent="-228600" algn="l" rtl="0">
              <a:lnSpc>
                <a:spcPct val="90000"/>
              </a:lnSpc>
              <a:spcBef>
                <a:spcPts val="1000"/>
              </a:spcBef>
              <a:spcAft>
                <a:spcPts val="0"/>
              </a:spcAft>
              <a:buClr>
                <a:schemeClr val="dk1"/>
              </a:buClr>
              <a:buSzPts val="2400"/>
              <a:buChar char="•"/>
            </a:pPr>
            <a:r>
              <a:rPr lang="en-US" sz="2400"/>
              <a:t>Recommends the most suitable hospital with explainable decisions</a:t>
            </a:r>
            <a:r>
              <a:rPr lang="en-US"/>
              <a:t>.</a:t>
            </a:r>
            <a:endParaRPr/>
          </a:p>
        </p:txBody>
      </p:sp>
      <p:sp>
        <p:nvSpPr>
          <p:cNvPr id="141" name="Google Shape;141;p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a:t>Rajalakshmi Engineering College,Department of Cyber Security</a:t>
            </a:r>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9"/>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ctr" rtl="0">
              <a:lnSpc>
                <a:spcPct val="90000"/>
              </a:lnSpc>
              <a:spcBef>
                <a:spcPts val="0"/>
              </a:spcBef>
              <a:spcAft>
                <a:spcPts val="0"/>
              </a:spcAft>
              <a:buClr>
                <a:srgbClr val="1F3864"/>
              </a:buClr>
              <a:buSzPts val="4400"/>
              <a:buFont typeface="Times New Roman"/>
              <a:buNone/>
            </a:pPr>
            <a:r>
              <a:rPr lang="en-US">
                <a:solidFill>
                  <a:srgbClr val="1F3864"/>
                </a:solidFill>
                <a:latin typeface="Times New Roman"/>
                <a:ea typeface="Times New Roman"/>
                <a:cs typeface="Times New Roman"/>
                <a:sym typeface="Times New Roman"/>
              </a:rPr>
              <a:t>Novelty in Proposed System</a:t>
            </a:r>
            <a:endParaRPr>
              <a:solidFill>
                <a:srgbClr val="1F3864"/>
              </a:solidFill>
            </a:endParaRPr>
          </a:p>
        </p:txBody>
      </p:sp>
      <p:sp>
        <p:nvSpPr>
          <p:cNvPr id="147" name="Google Shape;147;p9"/>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400"/>
              <a:buChar char="•"/>
            </a:pPr>
            <a:r>
              <a:rPr lang="en-US" sz="2400"/>
              <a:t>Integrates </a:t>
            </a:r>
            <a:r>
              <a:rPr lang="en-US" sz="2400" b="1"/>
              <a:t>patient triage and hospital selection</a:t>
            </a:r>
            <a:r>
              <a:rPr lang="en-US" sz="2400"/>
              <a:t> in a single system.</a:t>
            </a:r>
            <a:endParaRPr/>
          </a:p>
          <a:p>
            <a:pPr marL="228600" lvl="0" indent="-228600" algn="l" rtl="0">
              <a:lnSpc>
                <a:spcPct val="90000"/>
              </a:lnSpc>
              <a:spcBef>
                <a:spcPts val="1000"/>
              </a:spcBef>
              <a:spcAft>
                <a:spcPts val="0"/>
              </a:spcAft>
              <a:buClr>
                <a:schemeClr val="dk1"/>
              </a:buClr>
              <a:buSzPts val="2400"/>
              <a:buChar char="•"/>
            </a:pPr>
            <a:r>
              <a:rPr lang="en-US" sz="2400"/>
              <a:t>Uses </a:t>
            </a:r>
            <a:r>
              <a:rPr lang="en-US" sz="2400" b="1"/>
              <a:t>Knowledge-Based Agent</a:t>
            </a:r>
            <a:r>
              <a:rPr lang="en-US" sz="2400"/>
              <a:t> with Forward &amp; Backward Chaining.</a:t>
            </a:r>
            <a:endParaRPr/>
          </a:p>
          <a:p>
            <a:pPr marL="228600" lvl="0" indent="-228600" algn="l" rtl="0">
              <a:lnSpc>
                <a:spcPct val="90000"/>
              </a:lnSpc>
              <a:spcBef>
                <a:spcPts val="1000"/>
              </a:spcBef>
              <a:spcAft>
                <a:spcPts val="0"/>
              </a:spcAft>
              <a:buClr>
                <a:schemeClr val="dk1"/>
              </a:buClr>
              <a:buSzPts val="2400"/>
              <a:buChar char="•"/>
            </a:pPr>
            <a:r>
              <a:rPr lang="en-US" sz="2400"/>
              <a:t>Applies </a:t>
            </a:r>
            <a:r>
              <a:rPr lang="en-US" sz="2400" b="1"/>
              <a:t>Best-First Search</a:t>
            </a:r>
            <a:r>
              <a:rPr lang="en-US" sz="2400"/>
              <a:t> for intelligent hospital selection.</a:t>
            </a:r>
            <a:endParaRPr/>
          </a:p>
          <a:p>
            <a:pPr marL="228600" lvl="0" indent="-228600" algn="l" rtl="0">
              <a:lnSpc>
                <a:spcPct val="90000"/>
              </a:lnSpc>
              <a:spcBef>
                <a:spcPts val="1000"/>
              </a:spcBef>
              <a:spcAft>
                <a:spcPts val="0"/>
              </a:spcAft>
              <a:buClr>
                <a:schemeClr val="dk1"/>
              </a:buClr>
              <a:buSzPts val="2400"/>
              <a:buChar char="•"/>
            </a:pPr>
            <a:r>
              <a:rPr lang="en-US" sz="2400"/>
              <a:t>Uses </a:t>
            </a:r>
            <a:r>
              <a:rPr lang="en-US" sz="2400" b="1"/>
              <a:t>Constraint Satisfaction</a:t>
            </a:r>
            <a:r>
              <a:rPr lang="en-US" sz="2400"/>
              <a:t> to verify medical and resource constraints.</a:t>
            </a:r>
            <a:endParaRPr/>
          </a:p>
          <a:p>
            <a:pPr marL="228600" lvl="0" indent="-228600" algn="l" rtl="0">
              <a:lnSpc>
                <a:spcPct val="90000"/>
              </a:lnSpc>
              <a:spcBef>
                <a:spcPts val="1000"/>
              </a:spcBef>
              <a:spcAft>
                <a:spcPts val="0"/>
              </a:spcAft>
              <a:buClr>
                <a:schemeClr val="dk1"/>
              </a:buClr>
              <a:buSzPts val="2400"/>
              <a:buChar char="•"/>
            </a:pPr>
            <a:r>
              <a:rPr lang="en-US" sz="2400"/>
              <a:t>Provides </a:t>
            </a:r>
            <a:r>
              <a:rPr lang="en-US" sz="2400" b="1"/>
              <a:t>explainable referral recommendations.</a:t>
            </a:r>
            <a:endParaRPr/>
          </a:p>
          <a:p>
            <a:pPr marL="228600" lvl="0" indent="-228600" algn="l" rtl="0">
              <a:lnSpc>
                <a:spcPct val="90000"/>
              </a:lnSpc>
              <a:spcBef>
                <a:spcPts val="1000"/>
              </a:spcBef>
              <a:spcAft>
                <a:spcPts val="0"/>
              </a:spcAft>
              <a:buClr>
                <a:schemeClr val="dk1"/>
              </a:buClr>
              <a:buSzPts val="2400"/>
              <a:buChar char="•"/>
            </a:pPr>
            <a:r>
              <a:rPr lang="en-US" sz="2400"/>
              <a:t>Considers </a:t>
            </a:r>
            <a:r>
              <a:rPr lang="en-US" sz="2400" b="1"/>
              <a:t>specialist availability, facilities, resources, and travel distance</a:t>
            </a:r>
            <a:r>
              <a:rPr lang="en-US" sz="2400"/>
              <a:t> simultaneously.</a:t>
            </a:r>
            <a:endParaRPr sz="2400"/>
          </a:p>
        </p:txBody>
      </p:sp>
      <p:sp>
        <p:nvSpPr>
          <p:cNvPr id="148" name="Google Shape;148;p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a:t>Rajalakshmi Engineering College,Department of Cyber Security</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3" name="Google Shape;153;p10"/>
          <p:cNvSpPr txBox="1">
            <a:spLocks noGrp="1"/>
          </p:cNvSpPr>
          <p:nvPr>
            <p:ph type="title"/>
          </p:nvPr>
        </p:nvSpPr>
        <p:spPr>
          <a:xfrm>
            <a:off x="2911151" y="365125"/>
            <a:ext cx="6671388" cy="847855"/>
          </a:xfrm>
          <a:prstGeom prst="rect">
            <a:avLst/>
          </a:prstGeom>
          <a:noFill/>
          <a:ln>
            <a:noFill/>
          </a:ln>
        </p:spPr>
        <p:txBody>
          <a:bodyPr spcFirstLastPara="1" wrap="square" lIns="91425" tIns="45700" rIns="91425" bIns="45700" anchor="ctr" anchorCtr="0">
            <a:normAutofit/>
          </a:bodyPr>
          <a:lstStyle/>
          <a:p>
            <a:pPr marL="0" lvl="0" indent="0" algn="ctr" rtl="0">
              <a:lnSpc>
                <a:spcPct val="90000"/>
              </a:lnSpc>
              <a:spcBef>
                <a:spcPts val="0"/>
              </a:spcBef>
              <a:spcAft>
                <a:spcPts val="0"/>
              </a:spcAft>
              <a:buClr>
                <a:schemeClr val="dk1"/>
              </a:buClr>
              <a:buSzPts val="4400"/>
              <a:buFont typeface="Calibri"/>
              <a:buNone/>
            </a:pPr>
            <a:endParaRPr b="1">
              <a:solidFill>
                <a:srgbClr val="1F3864"/>
              </a:solidFill>
            </a:endParaRPr>
          </a:p>
        </p:txBody>
      </p:sp>
      <p:sp>
        <p:nvSpPr>
          <p:cNvPr id="154" name="Google Shape;154;p1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a:t>Rajalakshmi Engineering College,Department of Cyber Security</a:t>
            </a:r>
            <a:endParaRPr/>
          </a:p>
        </p:txBody>
      </p:sp>
      <p:pic>
        <p:nvPicPr>
          <p:cNvPr id="155" name="Google Shape;155;p10" descr="A diagram of a medical system&#10;&#10;AI-generated content may be incorrect."/>
          <p:cNvPicPr preferRelativeResize="0">
            <a:picLocks noGrp="1"/>
          </p:cNvPicPr>
          <p:nvPr>
            <p:ph type="body" idx="1"/>
          </p:nvPr>
        </p:nvPicPr>
        <p:blipFill rotWithShape="1">
          <a:blip r:embed="rId3">
            <a:alphaModFix/>
          </a:blip>
          <a:srcRect/>
          <a:stretch/>
        </p:blipFill>
        <p:spPr>
          <a:xfrm>
            <a:off x="846644" y="242595"/>
            <a:ext cx="10268448" cy="58955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1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ctr" rtl="0">
              <a:lnSpc>
                <a:spcPct val="90000"/>
              </a:lnSpc>
              <a:spcBef>
                <a:spcPts val="0"/>
              </a:spcBef>
              <a:spcAft>
                <a:spcPts val="0"/>
              </a:spcAft>
              <a:buClr>
                <a:srgbClr val="1F3864"/>
              </a:buClr>
              <a:buSzPts val="4400"/>
              <a:buFont typeface="Calibri"/>
              <a:buNone/>
            </a:pPr>
            <a:r>
              <a:rPr lang="en-US" b="1">
                <a:solidFill>
                  <a:srgbClr val="1F3864"/>
                </a:solidFill>
              </a:rPr>
              <a:t>Hardware/Software Requirements</a:t>
            </a:r>
            <a:endParaRPr b="1">
              <a:solidFill>
                <a:srgbClr val="1F3864"/>
              </a:solidFill>
            </a:endParaRPr>
          </a:p>
        </p:txBody>
      </p:sp>
      <p:sp>
        <p:nvSpPr>
          <p:cNvPr id="161" name="Google Shape;161;p1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a:t>Rajalakshmi Engineering College,Department of Cyber Security</a:t>
            </a:r>
            <a:endParaRPr/>
          </a:p>
        </p:txBody>
      </p:sp>
      <p:sp>
        <p:nvSpPr>
          <p:cNvPr id="162" name="Google Shape;162;p11"/>
          <p:cNvSpPr txBox="1">
            <a:spLocks noGrp="1"/>
          </p:cNvSpPr>
          <p:nvPr>
            <p:ph type="body" idx="1"/>
          </p:nvPr>
        </p:nvSpPr>
        <p:spPr>
          <a:xfrm>
            <a:off x="838200" y="1411704"/>
            <a:ext cx="10515600" cy="4944645"/>
          </a:xfrm>
          <a:prstGeom prst="rect">
            <a:avLst/>
          </a:prstGeom>
          <a:noFill/>
          <a:ln>
            <a:noFill/>
          </a:ln>
        </p:spPr>
        <p:txBody>
          <a:bodyPr spcFirstLastPara="1" wrap="square" lIns="91425" tIns="45700" rIns="91425" bIns="45700" anchor="t" anchorCtr="0">
            <a:normAutofit fontScale="32500" lnSpcReduction="20000"/>
          </a:bodyPr>
          <a:lstStyle/>
          <a:p>
            <a:pPr marL="0" lvl="0" indent="0" algn="l" rtl="0">
              <a:lnSpc>
                <a:spcPct val="90000"/>
              </a:lnSpc>
              <a:spcBef>
                <a:spcPts val="0"/>
              </a:spcBef>
              <a:spcAft>
                <a:spcPts val="0"/>
              </a:spcAft>
              <a:buClr>
                <a:schemeClr val="dk1"/>
              </a:buClr>
              <a:buSzPct val="47718"/>
              <a:buNone/>
            </a:pPr>
            <a:r>
              <a:rPr lang="en-US" sz="6497" b="1"/>
              <a:t>Hardware Requirement</a:t>
            </a:r>
            <a:endParaRPr sz="6197"/>
          </a:p>
          <a:p>
            <a:pPr marL="228600" lvl="0" indent="-228132" algn="l" rtl="0">
              <a:lnSpc>
                <a:spcPct val="90000"/>
              </a:lnSpc>
              <a:spcBef>
                <a:spcPts val="1000"/>
              </a:spcBef>
              <a:spcAft>
                <a:spcPts val="0"/>
              </a:spcAft>
              <a:buClr>
                <a:schemeClr val="dk1"/>
              </a:buClr>
              <a:buSzPct val="100000"/>
              <a:buChar char="•"/>
            </a:pPr>
            <a:r>
              <a:rPr lang="en-US" sz="5700" b="1"/>
              <a:t>Processor:</a:t>
            </a:r>
            <a:r>
              <a:rPr lang="en-US" sz="5700"/>
              <a:t> Intel Core i3 / equivalent or above</a:t>
            </a:r>
            <a:endParaRPr sz="6100"/>
          </a:p>
          <a:p>
            <a:pPr marL="228600" lvl="0" indent="-228132" algn="l" rtl="0">
              <a:lnSpc>
                <a:spcPct val="90000"/>
              </a:lnSpc>
              <a:spcBef>
                <a:spcPts val="1000"/>
              </a:spcBef>
              <a:spcAft>
                <a:spcPts val="0"/>
              </a:spcAft>
              <a:buClr>
                <a:schemeClr val="dk1"/>
              </a:buClr>
              <a:buSzPct val="100000"/>
              <a:buChar char="•"/>
            </a:pPr>
            <a:r>
              <a:rPr lang="en-US" sz="5700" b="1"/>
              <a:t>RAM:</a:t>
            </a:r>
            <a:r>
              <a:rPr lang="en-US" sz="5700"/>
              <a:t> 4 GB minimum</a:t>
            </a:r>
            <a:endParaRPr sz="6100"/>
          </a:p>
          <a:p>
            <a:pPr marL="228600" lvl="0" indent="-228132" algn="l" rtl="0">
              <a:lnSpc>
                <a:spcPct val="90000"/>
              </a:lnSpc>
              <a:spcBef>
                <a:spcPts val="1000"/>
              </a:spcBef>
              <a:spcAft>
                <a:spcPts val="0"/>
              </a:spcAft>
              <a:buClr>
                <a:schemeClr val="dk1"/>
              </a:buClr>
              <a:buSzPct val="100000"/>
              <a:buChar char="•"/>
            </a:pPr>
            <a:r>
              <a:rPr lang="en-US" sz="5700" b="1"/>
              <a:t>Storage:</a:t>
            </a:r>
            <a:r>
              <a:rPr lang="en-US" sz="5700"/>
              <a:t> 500 MB available</a:t>
            </a:r>
            <a:endParaRPr sz="6100"/>
          </a:p>
          <a:p>
            <a:pPr marL="228600" lvl="0" indent="-228132" algn="l" rtl="0">
              <a:lnSpc>
                <a:spcPct val="90000"/>
              </a:lnSpc>
              <a:spcBef>
                <a:spcPts val="1000"/>
              </a:spcBef>
              <a:spcAft>
                <a:spcPts val="0"/>
              </a:spcAft>
              <a:buClr>
                <a:schemeClr val="dk1"/>
              </a:buClr>
              <a:buSzPct val="100000"/>
              <a:buChar char="•"/>
            </a:pPr>
            <a:r>
              <a:rPr lang="en-US" sz="5700" b="1"/>
              <a:t>Internet:</a:t>
            </a:r>
            <a:r>
              <a:rPr lang="en-US" sz="5700"/>
              <a:t> Stable internet connection (optional, if using online hospital data)</a:t>
            </a:r>
            <a:endParaRPr sz="6100"/>
          </a:p>
          <a:p>
            <a:pPr marL="0" lvl="0" indent="0" algn="l" rtl="0">
              <a:lnSpc>
                <a:spcPct val="90000"/>
              </a:lnSpc>
              <a:spcBef>
                <a:spcPts val="1000"/>
              </a:spcBef>
              <a:spcAft>
                <a:spcPts val="0"/>
              </a:spcAft>
              <a:buClr>
                <a:schemeClr val="dk1"/>
              </a:buClr>
              <a:buSzPct val="60753"/>
              <a:buNone/>
            </a:pPr>
            <a:endParaRPr sz="3950"/>
          </a:p>
          <a:p>
            <a:pPr marL="0" lvl="0" indent="0" algn="l" rtl="0">
              <a:lnSpc>
                <a:spcPct val="90000"/>
              </a:lnSpc>
              <a:spcBef>
                <a:spcPts val="1000"/>
              </a:spcBef>
              <a:spcAft>
                <a:spcPts val="0"/>
              </a:spcAft>
              <a:buClr>
                <a:schemeClr val="dk1"/>
              </a:buClr>
              <a:buSzPct val="48580"/>
              <a:buNone/>
            </a:pPr>
            <a:r>
              <a:rPr lang="en-US" sz="6381" b="1"/>
              <a:t>Software Requirement</a:t>
            </a:r>
            <a:endParaRPr sz="6081"/>
          </a:p>
          <a:p>
            <a:pPr marL="228600" lvl="0" indent="-234419" algn="l" rtl="0">
              <a:lnSpc>
                <a:spcPct val="90000"/>
              </a:lnSpc>
              <a:spcBef>
                <a:spcPts val="1000"/>
              </a:spcBef>
              <a:spcAft>
                <a:spcPts val="0"/>
              </a:spcAft>
              <a:buClr>
                <a:schemeClr val="dk1"/>
              </a:buClr>
              <a:buSzPct val="100000"/>
              <a:buChar char="•"/>
            </a:pPr>
            <a:r>
              <a:rPr lang="en-US" sz="6005" b="1"/>
              <a:t>Operating System:</a:t>
            </a:r>
            <a:r>
              <a:rPr lang="en-US" sz="6005"/>
              <a:t> Windows 10/11, macOS or Linux </a:t>
            </a:r>
            <a:endParaRPr sz="6405"/>
          </a:p>
          <a:p>
            <a:pPr marL="228600" lvl="0" indent="-234419" algn="l" rtl="0">
              <a:lnSpc>
                <a:spcPct val="90000"/>
              </a:lnSpc>
              <a:spcBef>
                <a:spcPts val="1000"/>
              </a:spcBef>
              <a:spcAft>
                <a:spcPts val="0"/>
              </a:spcAft>
              <a:buClr>
                <a:schemeClr val="dk1"/>
              </a:buClr>
              <a:buSzPct val="100000"/>
              <a:buChar char="•"/>
            </a:pPr>
            <a:r>
              <a:rPr lang="en-US" sz="6005" b="1"/>
              <a:t>Programming Language:</a:t>
            </a:r>
            <a:r>
              <a:rPr lang="en-US" sz="6005"/>
              <a:t>HTML, CSS, JavaScript </a:t>
            </a:r>
            <a:endParaRPr sz="6405"/>
          </a:p>
          <a:p>
            <a:pPr marL="228600" lvl="0" indent="-234419" algn="l" rtl="0">
              <a:lnSpc>
                <a:spcPct val="90000"/>
              </a:lnSpc>
              <a:spcBef>
                <a:spcPts val="1000"/>
              </a:spcBef>
              <a:spcAft>
                <a:spcPts val="0"/>
              </a:spcAft>
              <a:buClr>
                <a:schemeClr val="dk1"/>
              </a:buClr>
              <a:buSzPct val="100000"/>
              <a:buChar char="•"/>
            </a:pPr>
            <a:r>
              <a:rPr lang="en-US" sz="6005" b="1"/>
              <a:t>Development Environment:</a:t>
            </a:r>
            <a:r>
              <a:rPr lang="en-US" sz="6005"/>
              <a:t> Visual Studio Code (VS Code)</a:t>
            </a:r>
            <a:endParaRPr sz="6405"/>
          </a:p>
          <a:p>
            <a:pPr marL="228600" lvl="0" indent="-234419" algn="l" rtl="0">
              <a:lnSpc>
                <a:spcPct val="90000"/>
              </a:lnSpc>
              <a:spcBef>
                <a:spcPts val="1000"/>
              </a:spcBef>
              <a:spcAft>
                <a:spcPts val="0"/>
              </a:spcAft>
              <a:buClr>
                <a:schemeClr val="dk1"/>
              </a:buClr>
              <a:buSzPct val="100000"/>
              <a:buChar char="•"/>
            </a:pPr>
            <a:r>
              <a:rPr lang="en-US" sz="6005" b="1"/>
              <a:t>Database:</a:t>
            </a:r>
            <a:r>
              <a:rPr lang="en-US" sz="6005"/>
              <a:t> SQLite</a:t>
            </a:r>
            <a:endParaRPr sz="6405"/>
          </a:p>
          <a:p>
            <a:pPr marL="228600" lvl="0" indent="-234419" algn="l" rtl="0">
              <a:lnSpc>
                <a:spcPct val="90000"/>
              </a:lnSpc>
              <a:spcBef>
                <a:spcPts val="1000"/>
              </a:spcBef>
              <a:spcAft>
                <a:spcPts val="0"/>
              </a:spcAft>
              <a:buClr>
                <a:schemeClr val="dk1"/>
              </a:buClr>
              <a:buSzPct val="100000"/>
              <a:buChar char="•"/>
            </a:pPr>
            <a:r>
              <a:rPr lang="en-US" sz="6005" b="1"/>
              <a:t>Libraries:</a:t>
            </a:r>
            <a:r>
              <a:rPr lang="en-US" sz="6005"/>
              <a:t> bcryptjs, express-session, Leaflet </a:t>
            </a:r>
            <a:endParaRPr sz="6405"/>
          </a:p>
          <a:p>
            <a:pPr marL="228600" lvl="0" indent="-234419" algn="l" rtl="0">
              <a:lnSpc>
                <a:spcPct val="90000"/>
              </a:lnSpc>
              <a:spcBef>
                <a:spcPts val="1000"/>
              </a:spcBef>
              <a:spcAft>
                <a:spcPts val="0"/>
              </a:spcAft>
              <a:buClr>
                <a:schemeClr val="dk1"/>
              </a:buClr>
              <a:buSzPct val="100000"/>
              <a:buChar char="•"/>
            </a:pPr>
            <a:r>
              <a:rPr lang="en-US" sz="6005" b="1"/>
              <a:t>AI Techniques:</a:t>
            </a:r>
            <a:r>
              <a:rPr lang="en-US" sz="6005"/>
              <a:t> Rule-Based Reasoning with Forward Chaining</a:t>
            </a:r>
            <a:endParaRPr sz="6005"/>
          </a:p>
          <a:p>
            <a:pPr marL="228600" lvl="0" indent="0" algn="l" rtl="0">
              <a:spcBef>
                <a:spcPts val="1000"/>
              </a:spcBef>
              <a:spcAft>
                <a:spcPts val="0"/>
              </a:spcAft>
              <a:buNone/>
            </a:pPr>
            <a:endParaRPr sz="2400"/>
          </a:p>
          <a:p>
            <a:pPr marL="0" lvl="0" indent="0" algn="l" rtl="0">
              <a:lnSpc>
                <a:spcPct val="90000"/>
              </a:lnSpc>
              <a:spcBef>
                <a:spcPts val="1000"/>
              </a:spcBef>
              <a:spcAft>
                <a:spcPts val="0"/>
              </a:spcAft>
              <a:buClr>
                <a:schemeClr val="dk1"/>
              </a:buClr>
              <a:buSzPct val="100000"/>
              <a:buNone/>
            </a:pP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66"/>
        <p:cNvGrpSpPr/>
        <p:nvPr/>
      </p:nvGrpSpPr>
      <p:grpSpPr>
        <a:xfrm>
          <a:off x="0" y="0"/>
          <a:ext cx="0" cy="0"/>
          <a:chOff x="0" y="0"/>
          <a:chExt cx="0" cy="0"/>
        </a:xfrm>
      </p:grpSpPr>
      <p:sp>
        <p:nvSpPr>
          <p:cNvPr id="167" name="Google Shape;167;p12"/>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ctr" rtl="0">
              <a:lnSpc>
                <a:spcPct val="90000"/>
              </a:lnSpc>
              <a:spcBef>
                <a:spcPts val="0"/>
              </a:spcBef>
              <a:spcAft>
                <a:spcPts val="0"/>
              </a:spcAft>
              <a:buClr>
                <a:srgbClr val="1F3864"/>
              </a:buClr>
              <a:buSzPts val="4400"/>
              <a:buFont typeface="Times New Roman"/>
              <a:buNone/>
            </a:pPr>
            <a:r>
              <a:rPr lang="en-US" dirty="0">
                <a:solidFill>
                  <a:srgbClr val="1F3864"/>
                </a:solidFill>
                <a:latin typeface="Times New Roman"/>
                <a:ea typeface="Times New Roman"/>
                <a:cs typeface="Times New Roman"/>
                <a:sym typeface="Times New Roman"/>
              </a:rPr>
              <a:t>References</a:t>
            </a:r>
            <a:endParaRPr dirty="0">
              <a:solidFill>
                <a:srgbClr val="1F3864"/>
              </a:solidFill>
            </a:endParaRPr>
          </a:p>
        </p:txBody>
      </p:sp>
      <p:sp>
        <p:nvSpPr>
          <p:cNvPr id="168" name="Google Shape;168;p12"/>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fontScale="47500" lnSpcReduction="10000"/>
          </a:bodyPr>
          <a:lstStyle/>
          <a:p>
            <a:pPr marL="0" lvl="0" indent="0" algn="l" rtl="0">
              <a:lnSpc>
                <a:spcPct val="150000"/>
              </a:lnSpc>
              <a:spcBef>
                <a:spcPts val="0"/>
              </a:spcBef>
              <a:spcAft>
                <a:spcPts val="0"/>
              </a:spcAft>
              <a:buClr>
                <a:schemeClr val="dk1"/>
              </a:buClr>
              <a:buSzPct val="28947"/>
              <a:buNone/>
            </a:pPr>
            <a:r>
              <a:rPr lang="en-US" sz="3800" i="1" dirty="0"/>
              <a:t>[1] Chi, C.-L., Street, W. N., &amp; Ward, M. M. (2008). Building a hospital referral expert system with a prediction and optimization-based decision support system algorithm. Journal of Biomedical Informatics, 41(2), 371–386. </a:t>
            </a:r>
            <a:r>
              <a:rPr lang="en-US" sz="3800" i="1" u="sng" dirty="0">
                <a:solidFill>
                  <a:schemeClr val="hlink"/>
                </a:solidFill>
                <a:hlinkClick r:id="rId3"/>
              </a:rPr>
              <a:t>https://doi.org/10.1016/j.jbi.2007.10.002</a:t>
            </a:r>
            <a:endParaRPr sz="3800" i="1" dirty="0"/>
          </a:p>
          <a:p>
            <a:pPr marL="0" lvl="0" indent="0" algn="l" rtl="0">
              <a:lnSpc>
                <a:spcPct val="150000"/>
              </a:lnSpc>
              <a:spcBef>
                <a:spcPts val="0"/>
              </a:spcBef>
              <a:spcAft>
                <a:spcPts val="0"/>
              </a:spcAft>
              <a:buClr>
                <a:schemeClr val="dk1"/>
              </a:buClr>
              <a:buSzPct val="28947"/>
              <a:buFont typeface="Arial"/>
              <a:buNone/>
            </a:pPr>
            <a:endParaRPr sz="3800" i="1" dirty="0"/>
          </a:p>
          <a:p>
            <a:pPr marL="0" lvl="0" indent="0" algn="l" rtl="0">
              <a:lnSpc>
                <a:spcPct val="150000"/>
              </a:lnSpc>
              <a:spcBef>
                <a:spcPts val="0"/>
              </a:spcBef>
              <a:spcAft>
                <a:spcPts val="0"/>
              </a:spcAft>
              <a:buClr>
                <a:schemeClr val="dk1"/>
              </a:buClr>
              <a:buSzPct val="28947"/>
              <a:buNone/>
            </a:pPr>
            <a:r>
              <a:rPr lang="en-US" sz="3800" i="1" dirty="0"/>
              <a:t>[2] Abdel-Hafez, A., Jones, M., </a:t>
            </a:r>
            <a:r>
              <a:rPr lang="en-US" sz="3800" i="1" dirty="0" err="1"/>
              <a:t>Ebrahimabadi</a:t>
            </a:r>
            <a:r>
              <a:rPr lang="en-US" sz="3800" i="1" dirty="0"/>
              <a:t>, M., Ryan, C., Graham, S., Slee, N., &amp; Whitfield, B. (2023). Artificial intelligence in medical referrals triage based on clinical prioritization criteria. Frontiers in Digital Health, 5, Article 1192975. </a:t>
            </a:r>
            <a:r>
              <a:rPr lang="en-US" sz="3800" i="1" u="sng" dirty="0">
                <a:solidFill>
                  <a:schemeClr val="hlink"/>
                </a:solidFill>
                <a:hlinkClick r:id="rId4"/>
              </a:rPr>
              <a:t>https://doi.org/10.3389/fdgth.2023.1192975</a:t>
            </a:r>
            <a:endParaRPr sz="3800" i="1" dirty="0"/>
          </a:p>
          <a:p>
            <a:pPr marL="0" lvl="0" indent="0" algn="l" rtl="0">
              <a:lnSpc>
                <a:spcPct val="150000"/>
              </a:lnSpc>
              <a:spcBef>
                <a:spcPts val="0"/>
              </a:spcBef>
              <a:spcAft>
                <a:spcPts val="0"/>
              </a:spcAft>
              <a:buClr>
                <a:schemeClr val="dk1"/>
              </a:buClr>
              <a:buSzPct val="28947"/>
              <a:buFont typeface="Arial"/>
              <a:buNone/>
            </a:pPr>
            <a:endParaRPr sz="3800" i="1" dirty="0"/>
          </a:p>
          <a:p>
            <a:pPr marL="0" lvl="0" indent="0" algn="l" rtl="0">
              <a:lnSpc>
                <a:spcPct val="150000"/>
              </a:lnSpc>
              <a:spcBef>
                <a:spcPts val="0"/>
              </a:spcBef>
              <a:spcAft>
                <a:spcPts val="0"/>
              </a:spcAft>
              <a:buClr>
                <a:schemeClr val="dk1"/>
              </a:buClr>
              <a:buSzPct val="28947"/>
              <a:buFont typeface="Arial"/>
              <a:buNone/>
            </a:pPr>
            <a:r>
              <a:rPr lang="en-US" sz="3800" i="1" dirty="0"/>
              <a:t>[3] Määttä, J., Lindell, R., Hayward, N., Martikainen, S., Honkanen, K., </a:t>
            </a:r>
            <a:r>
              <a:rPr lang="en-US" sz="3800" i="1" dirty="0" err="1"/>
              <a:t>Inkala</a:t>
            </a:r>
            <a:r>
              <a:rPr lang="en-US" sz="3800" i="1" dirty="0"/>
              <a:t>, M., Hirvonen, P., &amp; Martikainen, T. J. (2023). Diagnostic performance, triage safety, and usability of a clinical decision support system within a university hospital emergency department: Algorithm performance and usability study. JMIR Medical Informatics, 11, e46760.</a:t>
            </a:r>
            <a:r>
              <a:rPr lang="en-US" sz="3800" i="1" dirty="0">
                <a:uFill>
                  <a:noFill/>
                </a:uFill>
                <a:hlinkClick r:id="rId5"/>
              </a:rPr>
              <a:t> </a:t>
            </a:r>
            <a:r>
              <a:rPr lang="en-US" sz="3800" i="1" u="sng" dirty="0">
                <a:solidFill>
                  <a:schemeClr val="hlink"/>
                </a:solidFill>
                <a:hlinkClick r:id="rId5"/>
              </a:rPr>
              <a:t>https://doi.org/10.2196/46760</a:t>
            </a:r>
            <a:endParaRPr sz="3800" i="1" u="sng" dirty="0">
              <a:solidFill>
                <a:schemeClr val="hlink"/>
              </a:solidFill>
            </a:endParaRPr>
          </a:p>
          <a:p>
            <a:pPr marL="0" lvl="0" indent="0" algn="just" rtl="0">
              <a:lnSpc>
                <a:spcPct val="90000"/>
              </a:lnSpc>
              <a:spcBef>
                <a:spcPts val="1000"/>
              </a:spcBef>
              <a:spcAft>
                <a:spcPts val="0"/>
              </a:spcAft>
              <a:buClr>
                <a:schemeClr val="dk1"/>
              </a:buClr>
              <a:buSzPct val="100000"/>
              <a:buNone/>
            </a:pPr>
            <a:endParaRPr sz="2400" dirty="0"/>
          </a:p>
        </p:txBody>
      </p:sp>
      <p:sp>
        <p:nvSpPr>
          <p:cNvPr id="169" name="Google Shape;169;p1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a:t>Rajalakshmi Engineering College,Department of Cyber Security</a:t>
            </a:r>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867</Words>
  <Application>Microsoft Office PowerPoint</Application>
  <PresentationFormat>Widescreen</PresentationFormat>
  <Paragraphs>103</Paragraphs>
  <Slides>12</Slides>
  <Notes>12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Arial</vt:lpstr>
      <vt:lpstr>Calibri</vt:lpstr>
      <vt:lpstr>Times New Roman</vt:lpstr>
      <vt:lpstr>Office Theme</vt:lpstr>
      <vt:lpstr>PowerPoint Presentation</vt:lpstr>
      <vt:lpstr>PowerPoint Presentation</vt:lpstr>
      <vt:lpstr>OUTLINE</vt:lpstr>
      <vt:lpstr>ABSTRACT</vt:lpstr>
      <vt:lpstr>OBJECTIVE</vt:lpstr>
      <vt:lpstr>Literature Survey</vt:lpstr>
      <vt:lpstr>EXISTING SYSTEM</vt:lpstr>
      <vt:lpstr>PROPOSED SYSTEM</vt:lpstr>
      <vt:lpstr>Novelty in Proposed System</vt:lpstr>
      <vt:lpstr>PowerPoint Presentation</vt:lpstr>
      <vt:lpstr>Hardware/Software Requirements</vt:lpstr>
      <vt:lpstr>References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HP</dc:creator>
  <cp:lastModifiedBy>Dhanalakshmi C</cp:lastModifiedBy>
  <cp:revision>1</cp:revision>
  <dcterms:created xsi:type="dcterms:W3CDTF">2026-07-28T13:30:13Z</dcterms:created>
  <dcterms:modified xsi:type="dcterms:W3CDTF">2026-10-13T16:36:14Z</dcterms:modified>
</cp:coreProperties>
</file>