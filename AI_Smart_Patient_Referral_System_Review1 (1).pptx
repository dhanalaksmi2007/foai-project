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7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0180E1-1670-4976-B093-5919358E5CA5}" v="28" dt="2026-10-13T16:07:37.5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48" d="100"/>
          <a:sy n="48" d="100"/>
        </p:scale>
        <p:origin x="53" y="7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alakshmi C" userId="10699540b09deac2" providerId="LiveId" clId="{6C312691-CDD2-470D-B557-BFBADC80900A}"/>
    <pc:docChg chg="undo custSel modSld sldOrd">
      <pc:chgData name="Dhanalakshmi C" userId="10699540b09deac2" providerId="LiveId" clId="{6C312691-CDD2-470D-B557-BFBADC80900A}" dt="2026-10-13T16:09:28.959" v="370" actId="20577"/>
      <pc:docMkLst>
        <pc:docMk/>
      </pc:docMkLst>
      <pc:sldChg chg="modSp mod">
        <pc:chgData name="Dhanalakshmi C" userId="10699540b09deac2" providerId="LiveId" clId="{6C312691-CDD2-470D-B557-BFBADC80900A}" dt="2026-10-13T15:53:23.211" v="290" actId="123"/>
        <pc:sldMkLst>
          <pc:docMk/>
          <pc:sldMk cId="0" sldId="257"/>
        </pc:sldMkLst>
        <pc:spChg chg="mod">
          <ac:chgData name="Dhanalakshmi C" userId="10699540b09deac2" providerId="LiveId" clId="{6C312691-CDD2-470D-B557-BFBADC80900A}" dt="2026-10-13T15:53:23.211" v="290" actId="123"/>
          <ac:spMkLst>
            <pc:docMk/>
            <pc:sldMk cId="0" sldId="257"/>
            <ac:spMk id="5" creationId="{00000000-0000-0000-0000-000000000000}"/>
          </ac:spMkLst>
        </pc:spChg>
      </pc:sldChg>
      <pc:sldChg chg="modSp mod">
        <pc:chgData name="Dhanalakshmi C" userId="10699540b09deac2" providerId="LiveId" clId="{6C312691-CDD2-470D-B557-BFBADC80900A}" dt="2026-10-13T16:09:05.236" v="369" actId="14100"/>
        <pc:sldMkLst>
          <pc:docMk/>
          <pc:sldMk cId="0" sldId="258"/>
        </pc:sldMkLst>
        <pc:spChg chg="mod">
          <ac:chgData name="Dhanalakshmi C" userId="10699540b09deac2" providerId="LiveId" clId="{6C312691-CDD2-470D-B557-BFBADC80900A}" dt="2026-10-13T16:09:05.236" v="369" actId="14100"/>
          <ac:spMkLst>
            <pc:docMk/>
            <pc:sldMk cId="0" sldId="258"/>
            <ac:spMk id="5" creationId="{00000000-0000-0000-0000-000000000000}"/>
          </ac:spMkLst>
        </pc:spChg>
      </pc:sldChg>
      <pc:sldChg chg="modSp mod">
        <pc:chgData name="Dhanalakshmi C" userId="10699540b09deac2" providerId="LiveId" clId="{6C312691-CDD2-470D-B557-BFBADC80900A}" dt="2026-10-13T16:00:11.906" v="339" actId="20577"/>
        <pc:sldMkLst>
          <pc:docMk/>
          <pc:sldMk cId="0" sldId="260"/>
        </pc:sldMkLst>
        <pc:spChg chg="mod">
          <ac:chgData name="Dhanalakshmi C" userId="10699540b09deac2" providerId="LiveId" clId="{6C312691-CDD2-470D-B557-BFBADC80900A}" dt="2026-10-13T16:00:11.906" v="339" actId="20577"/>
          <ac:spMkLst>
            <pc:docMk/>
            <pc:sldMk cId="0" sldId="260"/>
            <ac:spMk id="5" creationId="{00000000-0000-0000-0000-000000000000}"/>
          </ac:spMkLst>
        </pc:spChg>
      </pc:sldChg>
      <pc:sldChg chg="modSp mod">
        <pc:chgData name="Dhanalakshmi C" userId="10699540b09deac2" providerId="LiveId" clId="{6C312691-CDD2-470D-B557-BFBADC80900A}" dt="2026-10-13T16:09:28.959" v="370" actId="20577"/>
        <pc:sldMkLst>
          <pc:docMk/>
          <pc:sldMk cId="0" sldId="263"/>
        </pc:sldMkLst>
        <pc:spChg chg="mod">
          <ac:chgData name="Dhanalakshmi C" userId="10699540b09deac2" providerId="LiveId" clId="{6C312691-CDD2-470D-B557-BFBADC80900A}" dt="2026-10-13T16:09:28.959" v="370" actId="20577"/>
          <ac:spMkLst>
            <pc:docMk/>
            <pc:sldMk cId="0" sldId="263"/>
            <ac:spMk id="5" creationId="{00000000-0000-0000-0000-000000000000}"/>
          </ac:spMkLst>
        </pc:spChg>
      </pc:sldChg>
      <pc:sldChg chg="modSp mod">
        <pc:chgData name="Dhanalakshmi C" userId="10699540b09deac2" providerId="LiveId" clId="{6C312691-CDD2-470D-B557-BFBADC80900A}" dt="2026-10-13T15:28:48.803" v="55" actId="20577"/>
        <pc:sldMkLst>
          <pc:docMk/>
          <pc:sldMk cId="0" sldId="265"/>
        </pc:sldMkLst>
        <pc:spChg chg="mod">
          <ac:chgData name="Dhanalakshmi C" userId="10699540b09deac2" providerId="LiveId" clId="{6C312691-CDD2-470D-B557-BFBADC80900A}" dt="2026-10-13T15:28:48.803" v="55" actId="20577"/>
          <ac:spMkLst>
            <pc:docMk/>
            <pc:sldMk cId="0" sldId="265"/>
            <ac:spMk id="8" creationId="{00000000-0000-0000-0000-000000000000}"/>
          </ac:spMkLst>
        </pc:spChg>
      </pc:sldChg>
      <pc:sldChg chg="modSp mod">
        <pc:chgData name="Dhanalakshmi C" userId="10699540b09deac2" providerId="LiveId" clId="{6C312691-CDD2-470D-B557-BFBADC80900A}" dt="2026-10-13T16:07:49.310" v="368" actId="20577"/>
        <pc:sldMkLst>
          <pc:docMk/>
          <pc:sldMk cId="0" sldId="266"/>
        </pc:sldMkLst>
        <pc:spChg chg="mod">
          <ac:chgData name="Dhanalakshmi C" userId="10699540b09deac2" providerId="LiveId" clId="{6C312691-CDD2-470D-B557-BFBADC80900A}" dt="2026-10-13T16:07:49.310" v="368" actId="20577"/>
          <ac:spMkLst>
            <pc:docMk/>
            <pc:sldMk cId="0" sldId="266"/>
            <ac:spMk id="5" creationId="{00000000-0000-0000-0000-000000000000}"/>
          </ac:spMkLst>
        </pc:spChg>
      </pc:sldChg>
      <pc:sldChg chg="modSp mod">
        <pc:chgData name="Dhanalakshmi C" userId="10699540b09deac2" providerId="LiveId" clId="{6C312691-CDD2-470D-B557-BFBADC80900A}" dt="2026-10-13T15:35:33.043" v="135" actId="20577"/>
        <pc:sldMkLst>
          <pc:docMk/>
          <pc:sldMk cId="0" sldId="267"/>
        </pc:sldMkLst>
        <pc:spChg chg="mod">
          <ac:chgData name="Dhanalakshmi C" userId="10699540b09deac2" providerId="LiveId" clId="{6C312691-CDD2-470D-B557-BFBADC80900A}" dt="2026-10-13T15:35:06.228" v="116" actId="20577"/>
          <ac:spMkLst>
            <pc:docMk/>
            <pc:sldMk cId="0" sldId="267"/>
            <ac:spMk id="8" creationId="{00000000-0000-0000-0000-000000000000}"/>
          </ac:spMkLst>
        </pc:spChg>
        <pc:spChg chg="mod">
          <ac:chgData name="Dhanalakshmi C" userId="10699540b09deac2" providerId="LiveId" clId="{6C312691-CDD2-470D-B557-BFBADC80900A}" dt="2026-10-13T15:35:33.043" v="135" actId="20577"/>
          <ac:spMkLst>
            <pc:docMk/>
            <pc:sldMk cId="0" sldId="267"/>
            <ac:spMk id="9" creationId="{00000000-0000-0000-0000-000000000000}"/>
          </ac:spMkLst>
        </pc:spChg>
      </pc:sldChg>
      <pc:sldChg chg="addSp delSp modSp mod ord">
        <pc:chgData name="Dhanalakshmi C" userId="10699540b09deac2" providerId="LiveId" clId="{6C312691-CDD2-470D-B557-BFBADC80900A}" dt="2026-10-13T16:07:12.592" v="349" actId="20578"/>
        <pc:sldMkLst>
          <pc:docMk/>
          <pc:sldMk cId="0" sldId="268"/>
        </pc:sldMkLst>
        <pc:picChg chg="del">
          <ac:chgData name="Dhanalakshmi C" userId="10699540b09deac2" providerId="LiveId" clId="{6C312691-CDD2-470D-B557-BFBADC80900A}" dt="2026-10-13T15:24:52.914" v="0" actId="478"/>
          <ac:picMkLst>
            <pc:docMk/>
            <pc:sldMk cId="0" sldId="268"/>
            <ac:picMk id="9" creationId="{22BE05DF-A945-D113-C0CB-ED5F41E6ED73}"/>
          </ac:picMkLst>
        </pc:picChg>
        <pc:picChg chg="del">
          <ac:chgData name="Dhanalakshmi C" userId="10699540b09deac2" providerId="LiveId" clId="{6C312691-CDD2-470D-B557-BFBADC80900A}" dt="2026-10-13T15:24:56.050" v="1" actId="478"/>
          <ac:picMkLst>
            <pc:docMk/>
            <pc:sldMk cId="0" sldId="268"/>
            <ac:picMk id="10" creationId="{1A971BE2-5478-D729-5278-933B5C4F6496}"/>
          </ac:picMkLst>
        </pc:picChg>
        <pc:picChg chg="add del mod modCrop">
          <ac:chgData name="Dhanalakshmi C" userId="10699540b09deac2" providerId="LiveId" clId="{6C312691-CDD2-470D-B557-BFBADC80900A}" dt="2026-10-13T15:26:02.537" v="10" actId="14100"/>
          <ac:picMkLst>
            <pc:docMk/>
            <pc:sldMk cId="0" sldId="268"/>
            <ac:picMk id="11" creationId="{33770CE3-1FED-8B93-53B2-60A2C4A7F8CC}"/>
          </ac:picMkLst>
        </pc:picChg>
        <pc:picChg chg="add mod">
          <ac:chgData name="Dhanalakshmi C" userId="10699540b09deac2" providerId="LiveId" clId="{6C312691-CDD2-470D-B557-BFBADC80900A}" dt="2026-10-13T15:26:49.925" v="17" actId="1076"/>
          <ac:picMkLst>
            <pc:docMk/>
            <pc:sldMk cId="0" sldId="268"/>
            <ac:picMk id="13" creationId="{1BA050A9-504B-4CAA-ED8F-1DED7CEE1905}"/>
          </ac:picMkLst>
        </pc:picChg>
      </pc:sldChg>
      <pc:sldChg chg="modSp mod">
        <pc:chgData name="Dhanalakshmi C" userId="10699540b09deac2" providerId="LiveId" clId="{6C312691-CDD2-470D-B557-BFBADC80900A}" dt="2026-10-13T16:07:37.502" v="350"/>
        <pc:sldMkLst>
          <pc:docMk/>
          <pc:sldMk cId="0" sldId="272"/>
        </pc:sldMkLst>
        <pc:spChg chg="mod">
          <ac:chgData name="Dhanalakshmi C" userId="10699540b09deac2" providerId="LiveId" clId="{6C312691-CDD2-470D-B557-BFBADC80900A}" dt="2026-10-13T16:07:37.502" v="350"/>
          <ac:spMkLst>
            <pc:docMk/>
            <pc:sldMk cId="0" sldId="272"/>
            <ac:spMk id="5" creationId="{00000000-0000-0000-0000-000000000000}"/>
          </ac:spMkLst>
        </pc:spChg>
      </pc:sldChg>
      <pc:sldChg chg="modSp mod">
        <pc:chgData name="Dhanalakshmi C" userId="10699540b09deac2" providerId="LiveId" clId="{6C312691-CDD2-470D-B557-BFBADC80900A}" dt="2026-10-13T15:32:57.719" v="73" actId="20577"/>
        <pc:sldMkLst>
          <pc:docMk/>
          <pc:sldMk cId="0" sldId="273"/>
        </pc:sldMkLst>
        <pc:spChg chg="mod">
          <ac:chgData name="Dhanalakshmi C" userId="10699540b09deac2" providerId="LiveId" clId="{6C312691-CDD2-470D-B557-BFBADC80900A}" dt="2026-10-13T15:32:57.719" v="73" actId="20577"/>
          <ac:spMkLst>
            <pc:docMk/>
            <pc:sldMk cId="0" sldId="273"/>
            <ac:spMk id="5" creationId="{00000000-0000-0000-0000-000000000000}"/>
          </ac:spMkLst>
        </pc:spChg>
      </pc:sldChg>
    </pc:docChg>
  </pc:docChgLst>
  <pc:docChgLst>
    <pc:chgData name="dhanalakshmi01102025@outlook.com" userId="10699540b09deac2" providerId="LiveId" clId="{6C312691-CDD2-470D-B557-BFBADC80900A}"/>
    <pc:docChg chg="undo custSel modSld">
      <pc:chgData name="dhanalakshmi01102025@outlook.com" userId="10699540b09deac2" providerId="LiveId" clId="{6C312691-CDD2-470D-B557-BFBADC80900A}" dt="2026-09-23T09:54:16.333" v="475" actId="20577"/>
      <pc:docMkLst>
        <pc:docMk/>
      </pc:docMkLst>
      <pc:sldChg chg="addSp modSp mod">
        <pc:chgData name="dhanalakshmi01102025@outlook.com" userId="10699540b09deac2" providerId="LiveId" clId="{6C312691-CDD2-470D-B557-BFBADC80900A}" dt="2026-09-23T09:54:16.333" v="475" actId="20577"/>
        <pc:sldMkLst>
          <pc:docMk/>
          <pc:sldMk cId="0" sldId="268"/>
        </pc:sldMkLst>
        <pc:spChg chg="mod">
          <ac:chgData name="dhanalakshmi01102025@outlook.com" userId="10699540b09deac2" providerId="LiveId" clId="{6C312691-CDD2-470D-B557-BFBADC80900A}" dt="2026-09-23T09:54:16.333" v="475" actId="20577"/>
          <ac:spMkLst>
            <pc:docMk/>
            <pc:sldMk cId="0" sldId="268"/>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DA59A-BCBE-48E2-A350-FB035DDECB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5FF6DBD-B524-460B-AA44-E186583A49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14A3FC-54A1-489A-8276-92648A22A5D9}"/>
              </a:ext>
            </a:extLst>
          </p:cNvPr>
          <p:cNvSpPr>
            <a:spLocks noGrp="1"/>
          </p:cNvSpPr>
          <p:nvPr>
            <p:ph type="dt" sz="half" idx="10"/>
          </p:nvPr>
        </p:nvSpPr>
        <p:spPr/>
        <p:txBody>
          <a:bodyPr/>
          <a:lstStyle/>
          <a:p>
            <a:fld id="{AF51A6A6-A7F2-4933-9075-6FF54A45A246}" type="datetime1">
              <a:rPr lang="en-IN" smtClean="0"/>
              <a:t>13-10-2026</a:t>
            </a:fld>
            <a:endParaRPr lang="en-IN"/>
          </a:p>
        </p:txBody>
      </p:sp>
      <p:sp>
        <p:nvSpPr>
          <p:cNvPr id="5" name="Footer Placeholder 4">
            <a:extLst>
              <a:ext uri="{FF2B5EF4-FFF2-40B4-BE49-F238E27FC236}">
                <a16:creationId xmlns:a16="http://schemas.microsoft.com/office/drawing/2014/main" id="{94F8D5EB-B231-46BD-AC05-9475512F664D}"/>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795ACC44-0FA3-41D7-8827-56818F396F7A}"/>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975770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A280-D3AA-4359-82E8-23CF7F95F9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80452E-B981-494B-AF11-EEEB6CB1BC6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F6FC46-05C5-491A-98F5-67DFE9F1BD84}"/>
              </a:ext>
            </a:extLst>
          </p:cNvPr>
          <p:cNvSpPr>
            <a:spLocks noGrp="1"/>
          </p:cNvSpPr>
          <p:nvPr>
            <p:ph type="dt" sz="half" idx="10"/>
          </p:nvPr>
        </p:nvSpPr>
        <p:spPr/>
        <p:txBody>
          <a:bodyPr/>
          <a:lstStyle/>
          <a:p>
            <a:fld id="{8E93293B-E7C6-4EBD-97F1-D064646A23FC}" type="datetime1">
              <a:rPr lang="en-IN" smtClean="0"/>
              <a:t>13-10-2026</a:t>
            </a:fld>
            <a:endParaRPr lang="en-IN"/>
          </a:p>
        </p:txBody>
      </p:sp>
      <p:sp>
        <p:nvSpPr>
          <p:cNvPr id="5" name="Footer Placeholder 4">
            <a:extLst>
              <a:ext uri="{FF2B5EF4-FFF2-40B4-BE49-F238E27FC236}">
                <a16:creationId xmlns:a16="http://schemas.microsoft.com/office/drawing/2014/main" id="{25EC7F8E-CF1F-4BF8-9AB5-1D86268D62CB}"/>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609DCA77-D61D-46CC-A34B-A12DBAB35CA6}"/>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426906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E4260-F786-41D5-AA19-25971DA5A7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254B45-ABB3-43F6-A69A-330D3EEE3A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6BFBA7F-C03D-42BA-860F-C0084E058366}"/>
              </a:ext>
            </a:extLst>
          </p:cNvPr>
          <p:cNvSpPr>
            <a:spLocks noGrp="1"/>
          </p:cNvSpPr>
          <p:nvPr>
            <p:ph type="dt" sz="half" idx="10"/>
          </p:nvPr>
        </p:nvSpPr>
        <p:spPr/>
        <p:txBody>
          <a:bodyPr/>
          <a:lstStyle/>
          <a:p>
            <a:fld id="{A9C731AF-597A-4011-A47A-590DF41FF4CE}" type="datetime1">
              <a:rPr lang="en-IN" smtClean="0"/>
              <a:t>13-10-2026</a:t>
            </a:fld>
            <a:endParaRPr lang="en-IN"/>
          </a:p>
        </p:txBody>
      </p:sp>
      <p:sp>
        <p:nvSpPr>
          <p:cNvPr id="5" name="Footer Placeholder 4">
            <a:extLst>
              <a:ext uri="{FF2B5EF4-FFF2-40B4-BE49-F238E27FC236}">
                <a16:creationId xmlns:a16="http://schemas.microsoft.com/office/drawing/2014/main" id="{743C5C7F-0F76-4539-A47B-34FE706B30B2}"/>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0338696-8488-4503-B740-D2352312EA0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931257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93C4-F8EF-4CB4-90F1-A6F2C25334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A15783-F42E-4766-9BD6-9281265A44E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CDE48A-A630-45BF-BFE4-7FAE6E8FE5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F3FBA5-DF65-41CC-BAA5-E9D93CAD490F}"/>
              </a:ext>
            </a:extLst>
          </p:cNvPr>
          <p:cNvSpPr>
            <a:spLocks noGrp="1"/>
          </p:cNvSpPr>
          <p:nvPr>
            <p:ph type="dt" sz="half" idx="10"/>
          </p:nvPr>
        </p:nvSpPr>
        <p:spPr/>
        <p:txBody>
          <a:bodyPr/>
          <a:lstStyle/>
          <a:p>
            <a:fld id="{9BE8AE2A-4198-4CFC-8A3D-99793047056B}" type="datetime1">
              <a:rPr lang="en-IN" smtClean="0"/>
              <a:t>13-10-2026</a:t>
            </a:fld>
            <a:endParaRPr lang="en-IN"/>
          </a:p>
        </p:txBody>
      </p:sp>
      <p:sp>
        <p:nvSpPr>
          <p:cNvPr id="6" name="Footer Placeholder 5">
            <a:extLst>
              <a:ext uri="{FF2B5EF4-FFF2-40B4-BE49-F238E27FC236}">
                <a16:creationId xmlns:a16="http://schemas.microsoft.com/office/drawing/2014/main" id="{BD748E5F-5552-416B-BC90-C62417A3A89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3D6DDB7E-587A-4AA5-8A58-352BC20C792F}"/>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91797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7CEE-8F3F-40F1-B22D-D53F1637F0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BAEE05-D573-4122-8E24-00B78F74B0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AF22DC4-F974-49BF-B147-72208B764FB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E9CDB9-0076-4DF6-9690-182E5157AA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93C982-67D7-427B-8C3D-1FF7CC53EF8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C65A0D-D7E5-4F76-A5DC-B3A473496CA6}"/>
              </a:ext>
            </a:extLst>
          </p:cNvPr>
          <p:cNvSpPr>
            <a:spLocks noGrp="1"/>
          </p:cNvSpPr>
          <p:nvPr>
            <p:ph type="dt" sz="half" idx="10"/>
          </p:nvPr>
        </p:nvSpPr>
        <p:spPr/>
        <p:txBody>
          <a:bodyPr/>
          <a:lstStyle/>
          <a:p>
            <a:fld id="{5979E98C-4750-4DE8-AE7D-913096F33BA4}" type="datetime1">
              <a:rPr lang="en-IN" smtClean="0"/>
              <a:t>13-10-2026</a:t>
            </a:fld>
            <a:endParaRPr lang="en-IN"/>
          </a:p>
        </p:txBody>
      </p:sp>
      <p:sp>
        <p:nvSpPr>
          <p:cNvPr id="8" name="Footer Placeholder 7">
            <a:extLst>
              <a:ext uri="{FF2B5EF4-FFF2-40B4-BE49-F238E27FC236}">
                <a16:creationId xmlns:a16="http://schemas.microsoft.com/office/drawing/2014/main" id="{5224A474-160B-4E5B-B8C1-9A764A898991}"/>
              </a:ext>
            </a:extLst>
          </p:cNvPr>
          <p:cNvSpPr>
            <a:spLocks noGrp="1"/>
          </p:cNvSpPr>
          <p:nvPr>
            <p:ph type="ftr" sz="quarter" idx="11"/>
          </p:nvPr>
        </p:nvSpPr>
        <p:spPr/>
        <p:txBody>
          <a:bodyPr/>
          <a:lstStyle/>
          <a:p>
            <a:r>
              <a:rPr lang="en-US"/>
              <a:t>Rajalakshmi Engineering College,Department of Cyber Security</a:t>
            </a:r>
            <a:endParaRPr lang="en-IN"/>
          </a:p>
        </p:txBody>
      </p:sp>
      <p:sp>
        <p:nvSpPr>
          <p:cNvPr id="9" name="Slide Number Placeholder 8">
            <a:extLst>
              <a:ext uri="{FF2B5EF4-FFF2-40B4-BE49-F238E27FC236}">
                <a16:creationId xmlns:a16="http://schemas.microsoft.com/office/drawing/2014/main" id="{66B52139-45CD-4883-962C-8B58CD26A6C3}"/>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135795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0830-F074-417B-B120-745038C2D8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EC52E2-6C9D-4F48-9885-60AA29DED4E7}"/>
              </a:ext>
            </a:extLst>
          </p:cNvPr>
          <p:cNvSpPr>
            <a:spLocks noGrp="1"/>
          </p:cNvSpPr>
          <p:nvPr>
            <p:ph type="dt" sz="half" idx="10"/>
          </p:nvPr>
        </p:nvSpPr>
        <p:spPr/>
        <p:txBody>
          <a:bodyPr/>
          <a:lstStyle/>
          <a:p>
            <a:fld id="{76A4900D-B9D7-4B48-B03E-93C6BFA38FDB}" type="datetime1">
              <a:rPr lang="en-IN" smtClean="0"/>
              <a:t>13-10-2026</a:t>
            </a:fld>
            <a:endParaRPr lang="en-IN"/>
          </a:p>
        </p:txBody>
      </p:sp>
      <p:sp>
        <p:nvSpPr>
          <p:cNvPr id="4" name="Footer Placeholder 3">
            <a:extLst>
              <a:ext uri="{FF2B5EF4-FFF2-40B4-BE49-F238E27FC236}">
                <a16:creationId xmlns:a16="http://schemas.microsoft.com/office/drawing/2014/main" id="{136F0182-AF02-46DC-A005-32A72DB49D74}"/>
              </a:ext>
            </a:extLst>
          </p:cNvPr>
          <p:cNvSpPr>
            <a:spLocks noGrp="1"/>
          </p:cNvSpPr>
          <p:nvPr>
            <p:ph type="ftr" sz="quarter" idx="11"/>
          </p:nvPr>
        </p:nvSpPr>
        <p:spPr/>
        <p:txBody>
          <a:bodyPr/>
          <a:lstStyle/>
          <a:p>
            <a:r>
              <a:rPr lang="en-US"/>
              <a:t>Rajalakshmi Engineering College,Department of Cyber Security</a:t>
            </a:r>
            <a:endParaRPr lang="en-IN"/>
          </a:p>
        </p:txBody>
      </p:sp>
      <p:sp>
        <p:nvSpPr>
          <p:cNvPr id="5" name="Slide Number Placeholder 4">
            <a:extLst>
              <a:ext uri="{FF2B5EF4-FFF2-40B4-BE49-F238E27FC236}">
                <a16:creationId xmlns:a16="http://schemas.microsoft.com/office/drawing/2014/main" id="{BF89F1EB-8B71-439F-B1E9-6EA720C1B448}"/>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967785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2A6E2-8CED-468E-B9C8-63EEF92A1ACC}"/>
              </a:ext>
            </a:extLst>
          </p:cNvPr>
          <p:cNvSpPr>
            <a:spLocks noGrp="1"/>
          </p:cNvSpPr>
          <p:nvPr>
            <p:ph type="dt" sz="half" idx="10"/>
          </p:nvPr>
        </p:nvSpPr>
        <p:spPr/>
        <p:txBody>
          <a:bodyPr/>
          <a:lstStyle/>
          <a:p>
            <a:fld id="{999DD085-2496-430D-A475-FB3919DB8C97}" type="datetime1">
              <a:rPr lang="en-IN" smtClean="0"/>
              <a:t>13-10-2026</a:t>
            </a:fld>
            <a:endParaRPr lang="en-IN"/>
          </a:p>
        </p:txBody>
      </p:sp>
      <p:sp>
        <p:nvSpPr>
          <p:cNvPr id="3" name="Footer Placeholder 2">
            <a:extLst>
              <a:ext uri="{FF2B5EF4-FFF2-40B4-BE49-F238E27FC236}">
                <a16:creationId xmlns:a16="http://schemas.microsoft.com/office/drawing/2014/main" id="{BADDDBB6-47BF-4BE7-97E4-AB044897F59E}"/>
              </a:ext>
            </a:extLst>
          </p:cNvPr>
          <p:cNvSpPr>
            <a:spLocks noGrp="1"/>
          </p:cNvSpPr>
          <p:nvPr>
            <p:ph type="ftr" sz="quarter" idx="11"/>
          </p:nvPr>
        </p:nvSpPr>
        <p:spPr/>
        <p:txBody>
          <a:bodyPr/>
          <a:lstStyle/>
          <a:p>
            <a:r>
              <a:rPr lang="en-US"/>
              <a:t>Rajalakshmi Engineering College,Department of Cyber Security</a:t>
            </a:r>
            <a:endParaRPr lang="en-IN"/>
          </a:p>
        </p:txBody>
      </p:sp>
      <p:sp>
        <p:nvSpPr>
          <p:cNvPr id="4" name="Slide Number Placeholder 3">
            <a:extLst>
              <a:ext uri="{FF2B5EF4-FFF2-40B4-BE49-F238E27FC236}">
                <a16:creationId xmlns:a16="http://schemas.microsoft.com/office/drawing/2014/main" id="{7C40F90C-24D0-4C65-99B4-EADB86BE3DC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310110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65C33-D77F-42B7-969F-DE257926CF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398D13-72C5-42CB-BDE1-8AA6B32DD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435EF6E-114D-425F-BB1A-C35164117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418FDF-36DE-48DA-886F-421C220369FE}"/>
              </a:ext>
            </a:extLst>
          </p:cNvPr>
          <p:cNvSpPr>
            <a:spLocks noGrp="1"/>
          </p:cNvSpPr>
          <p:nvPr>
            <p:ph type="dt" sz="half" idx="10"/>
          </p:nvPr>
        </p:nvSpPr>
        <p:spPr/>
        <p:txBody>
          <a:bodyPr/>
          <a:lstStyle/>
          <a:p>
            <a:fld id="{76D46D8D-D6A6-4D95-BF85-9EF8F0710FA7}" type="datetime1">
              <a:rPr lang="en-IN" smtClean="0"/>
              <a:t>13-10-2026</a:t>
            </a:fld>
            <a:endParaRPr lang="en-IN"/>
          </a:p>
        </p:txBody>
      </p:sp>
      <p:sp>
        <p:nvSpPr>
          <p:cNvPr id="6" name="Footer Placeholder 5">
            <a:extLst>
              <a:ext uri="{FF2B5EF4-FFF2-40B4-BE49-F238E27FC236}">
                <a16:creationId xmlns:a16="http://schemas.microsoft.com/office/drawing/2014/main" id="{D8F1A6E3-D660-40AD-AC51-1F8805A5344F}"/>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2F190E82-A75D-48B1-B3E6-FF48ADF8056C}"/>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1649197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4577C-5B3A-48AD-9B45-4A9C9A23E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30F3EF-BF57-46A6-9EB6-2DA43D25D7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45DFA0-E5C8-4DDF-B283-4A2DD170A3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EA8042-4719-4615-8878-7A26662FBAB6}"/>
              </a:ext>
            </a:extLst>
          </p:cNvPr>
          <p:cNvSpPr>
            <a:spLocks noGrp="1"/>
          </p:cNvSpPr>
          <p:nvPr>
            <p:ph type="dt" sz="half" idx="10"/>
          </p:nvPr>
        </p:nvSpPr>
        <p:spPr/>
        <p:txBody>
          <a:bodyPr/>
          <a:lstStyle/>
          <a:p>
            <a:fld id="{08C03A52-04AE-48F7-9FCF-E17B2D2BA4E4}" type="datetime1">
              <a:rPr lang="en-IN" smtClean="0"/>
              <a:t>13-10-2026</a:t>
            </a:fld>
            <a:endParaRPr lang="en-IN"/>
          </a:p>
        </p:txBody>
      </p:sp>
      <p:sp>
        <p:nvSpPr>
          <p:cNvPr id="6" name="Footer Placeholder 5">
            <a:extLst>
              <a:ext uri="{FF2B5EF4-FFF2-40B4-BE49-F238E27FC236}">
                <a16:creationId xmlns:a16="http://schemas.microsoft.com/office/drawing/2014/main" id="{379B10D6-FDCC-4E80-9116-42BC543C5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7ECE45E7-2218-4691-9448-44DD3A1AACD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382596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F59C-24A2-4159-9380-F6AAEA13E3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2AC032-FA02-45A1-B799-75A08E88843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449FC9-D5D3-4E4A-9286-9E96B8147DBC}"/>
              </a:ext>
            </a:extLst>
          </p:cNvPr>
          <p:cNvSpPr>
            <a:spLocks noGrp="1"/>
          </p:cNvSpPr>
          <p:nvPr>
            <p:ph type="dt" sz="half" idx="10"/>
          </p:nvPr>
        </p:nvSpPr>
        <p:spPr/>
        <p:txBody>
          <a:bodyPr/>
          <a:lstStyle/>
          <a:p>
            <a:fld id="{A40E1855-FF8B-4A8F-B974-476D0BEFE359}" type="datetime1">
              <a:rPr lang="en-IN" smtClean="0"/>
              <a:t>13-10-2026</a:t>
            </a:fld>
            <a:endParaRPr lang="en-IN"/>
          </a:p>
        </p:txBody>
      </p:sp>
      <p:sp>
        <p:nvSpPr>
          <p:cNvPr id="5" name="Footer Placeholder 4">
            <a:extLst>
              <a:ext uri="{FF2B5EF4-FFF2-40B4-BE49-F238E27FC236}">
                <a16:creationId xmlns:a16="http://schemas.microsoft.com/office/drawing/2014/main" id="{B189B5AB-659C-41B0-9073-34826E629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028DCFD4-462A-4C50-9A15-A34E5BAD4101}"/>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4465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6CEE7-4472-4220-ABE7-624EBBAB35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BCA2D1-1973-4733-9AC1-AA8B41575B8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A8E509-CC9E-46C7-BCB4-B4C77706FE67}"/>
              </a:ext>
            </a:extLst>
          </p:cNvPr>
          <p:cNvSpPr>
            <a:spLocks noGrp="1"/>
          </p:cNvSpPr>
          <p:nvPr>
            <p:ph type="dt" sz="half" idx="10"/>
          </p:nvPr>
        </p:nvSpPr>
        <p:spPr/>
        <p:txBody>
          <a:bodyPr/>
          <a:lstStyle/>
          <a:p>
            <a:fld id="{29F94AA9-A825-4631-9385-0F96794CA13F}" type="datetime1">
              <a:rPr lang="en-IN" smtClean="0"/>
              <a:t>13-10-2026</a:t>
            </a:fld>
            <a:endParaRPr lang="en-IN"/>
          </a:p>
        </p:txBody>
      </p:sp>
      <p:sp>
        <p:nvSpPr>
          <p:cNvPr id="5" name="Footer Placeholder 4">
            <a:extLst>
              <a:ext uri="{FF2B5EF4-FFF2-40B4-BE49-F238E27FC236}">
                <a16:creationId xmlns:a16="http://schemas.microsoft.com/office/drawing/2014/main" id="{366ADC3E-64E9-4052-AAAA-0A77E649D2E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7B93A4B-8F28-4558-9932-5AEBAE56567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543756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61322-C13F-4F32-A9C2-A66C573C58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44B022-D55F-4115-A03E-92A7A8351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B1FBDE-AF6F-4F87-97D2-A1D19B658A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EDD9C9-F760-491D-BEB2-C9719B2DAA72}" type="datetime1">
              <a:rPr lang="en-IN" smtClean="0"/>
              <a:t>13-10-2026</a:t>
            </a:fld>
            <a:endParaRPr lang="en-IN"/>
          </a:p>
        </p:txBody>
      </p:sp>
      <p:sp>
        <p:nvSpPr>
          <p:cNvPr id="5" name="Footer Placeholder 4">
            <a:extLst>
              <a:ext uri="{FF2B5EF4-FFF2-40B4-BE49-F238E27FC236}">
                <a16:creationId xmlns:a16="http://schemas.microsoft.com/office/drawing/2014/main" id="{3105F895-F6B3-49E8-AE71-CA9D6A533B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EE01C5C0-3DE6-438F-852E-4102D3E14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CF31F-072A-420B-BD3B-3E62C5546025}" type="slidenum">
              <a:rPr lang="en-IN" smtClean="0"/>
              <a:t>‹#›</a:t>
            </a:fld>
            <a:endParaRPr lang="en-IN"/>
          </a:p>
        </p:txBody>
      </p:sp>
    </p:spTree>
    <p:extLst>
      <p:ext uri="{BB962C8B-B14F-4D97-AF65-F5344CB8AC3E}">
        <p14:creationId xmlns:p14="http://schemas.microsoft.com/office/powerpoint/2010/main" val="25224454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3389/fdgth.2023.1192975" TargetMode="External"/><Relationship Id="rId2" Type="http://schemas.openxmlformats.org/officeDocument/2006/relationships/hyperlink" Target="https://doi.org/10.1016/j.jbi.2007.10.002" TargetMode="External"/><Relationship Id="rId1" Type="http://schemas.openxmlformats.org/officeDocument/2006/relationships/slideLayout" Target="../slideLayouts/slideLayout7.xml"/><Relationship Id="rId6" Type="http://schemas.openxmlformats.org/officeDocument/2006/relationships/hyperlink" Target="https://doi.org/10.1136/bmj.h3480" TargetMode="External"/><Relationship Id="rId5" Type="http://schemas.openxmlformats.org/officeDocument/2006/relationships/hyperlink" Target="https://doi.org/10.5120/ijca2016912459" TargetMode="External"/><Relationship Id="rId4" Type="http://schemas.openxmlformats.org/officeDocument/2006/relationships/hyperlink" Target="https://doi.org/10.2196/4676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laceHolder 1">
            <a:extLst>
              <a:ext uri="{FF2B5EF4-FFF2-40B4-BE49-F238E27FC236}">
                <a16:creationId xmlns:a16="http://schemas.microsoft.com/office/drawing/2014/main" id="{06BEF5B7-F160-4818-BC4E-3751DDE221D5}"/>
              </a:ext>
            </a:extLst>
          </p:cNvPr>
          <p:cNvSpPr txBox="1">
            <a:spLocks/>
          </p:cNvSpPr>
          <p:nvPr/>
        </p:nvSpPr>
        <p:spPr>
          <a:xfrm>
            <a:off x="1488141" y="1653501"/>
            <a:ext cx="9601199" cy="39315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3200" b="0" i="0" u="none" strike="noStrike" kern="1200" cap="none" spc="-1" normalizeH="0" baseline="0" noProof="0" dirty="0">
                <a:ln>
                  <a:noFill/>
                </a:ln>
                <a:solidFill>
                  <a:prstClr val="black"/>
                </a:solidFill>
                <a:effectLst/>
                <a:uLnTx/>
                <a:uFillTx/>
                <a:latin typeface="Calibri"/>
                <a:ea typeface="+mn-ea"/>
                <a:cs typeface="+mn-cs"/>
              </a:rPr>
              <a:t>              </a:t>
            </a:r>
            <a:r>
              <a:rPr kumimoji="0" lang="en-US" sz="4000" b="0" i="0" u="none" strike="noStrike" kern="1200" cap="none" spc="-1" normalizeH="0" baseline="0" noProof="0" dirty="0">
                <a:ln>
                  <a:noFill/>
                </a:ln>
                <a:solidFill>
                  <a:prstClr val="black"/>
                </a:solidFill>
                <a:effectLst/>
                <a:uLnTx/>
                <a:uFillTx/>
                <a:latin typeface="Times New Roman"/>
                <a:ea typeface="+mn-ea"/>
                <a:cs typeface="+mn-cs"/>
              </a:rPr>
              <a:t>Department of Cyber Security</a:t>
            </a:r>
            <a:endParaRPr kumimoji="0" lang="en-IN" sz="4000" b="0" i="0" u="none" strike="noStrike" kern="1200" cap="none" spc="-1" normalizeH="0" baseline="0" noProof="0" dirty="0">
              <a:ln>
                <a:noFill/>
              </a:ln>
              <a:solidFill>
                <a:srgbClr val="000000"/>
              </a:solidFill>
              <a:effectLst/>
              <a:uLnTx/>
              <a:uFillTx/>
              <a:latin typeface="Arial"/>
              <a:ea typeface="+mn-ea"/>
              <a:cs typeface="+mn-cs"/>
            </a:endParaRPr>
          </a:p>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4000" b="0" i="0" u="none" strike="noStrike" kern="1200" cap="none" spc="-1" normalizeH="0" baseline="0" noProof="0" dirty="0">
                <a:ln>
                  <a:noFill/>
                </a:ln>
                <a:solidFill>
                  <a:prstClr val="black"/>
                </a:solidFill>
                <a:effectLst/>
                <a:uLnTx/>
                <a:uFillTx/>
                <a:latin typeface="Times New Roman"/>
                <a:ea typeface="+mn-ea"/>
                <a:cs typeface="+mn-cs"/>
              </a:rPr>
              <a:t>             2026-2027- Odd Semester</a:t>
            </a:r>
            <a:endParaRPr kumimoji="0" lang="en-IN" sz="4000" b="0" i="0" u="none" strike="noStrike" kern="1200" cap="none" spc="-1" normalizeH="0" baseline="0" noProof="0" dirty="0">
              <a:ln>
                <a:noFill/>
              </a:ln>
              <a:solidFill>
                <a:srgbClr val="000000"/>
              </a:solidFill>
              <a:effectLst/>
              <a:uLnTx/>
              <a:uFillTx/>
              <a:latin typeface="Arial"/>
              <a:ea typeface="+mn-ea"/>
              <a:cs typeface="+mn-cs"/>
            </a:endParaRPr>
          </a:p>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4000" b="0" i="0" u="none" strike="noStrike" kern="1200" cap="none" spc="-1" normalizeH="0" baseline="0" noProof="0" dirty="0">
                <a:ln>
                  <a:noFill/>
                </a:ln>
                <a:solidFill>
                  <a:prstClr val="black"/>
                </a:solidFill>
                <a:effectLst/>
                <a:uLnTx/>
                <a:uFillTx/>
                <a:latin typeface="Times New Roman"/>
                <a:ea typeface="+mn-ea"/>
                <a:cs typeface="+mn-cs"/>
              </a:rPr>
              <a:t>                        III Year /V Sem</a:t>
            </a:r>
          </a:p>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CS23533-FOUNDATIONS OF ARTIFICIAL INTELLIGENCE</a:t>
            </a:r>
            <a:endParaRPr kumimoji="0" lang="en-IN" sz="4000" b="0" i="0" u="none" strike="noStrike" kern="1200" cap="none" spc="-1" normalizeH="0" baseline="0" noProof="0" dirty="0">
              <a:ln>
                <a:noFill/>
              </a:ln>
              <a:solidFill>
                <a:srgbClr val="000000"/>
              </a:solidFill>
              <a:effectLst/>
              <a:uLnTx/>
              <a:uFillTx/>
              <a:latin typeface="Arial"/>
              <a:ea typeface="+mn-ea"/>
              <a:cs typeface="+mn-cs"/>
            </a:endParaRPr>
          </a:p>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4000" b="0" i="0" u="none" strike="noStrike" kern="1200" cap="none" spc="-1" normalizeH="0" baseline="0" noProof="0" dirty="0">
                <a:ln>
                  <a:noFill/>
                </a:ln>
                <a:solidFill>
                  <a:prstClr val="black"/>
                </a:solidFill>
                <a:effectLst/>
                <a:uLnTx/>
                <a:uFillTx/>
                <a:latin typeface="Times New Roman"/>
                <a:ea typeface="+mn-ea"/>
                <a:cs typeface="+mn-cs"/>
              </a:rPr>
              <a:t>              Review 1– </a:t>
            </a:r>
            <a:r>
              <a:rPr kumimoji="0" lang="en-US" sz="4000" b="0" i="0" u="none" strike="noStrike" kern="1200" cap="none" spc="-1" normalizeH="0" baseline="0" noProof="0" dirty="0" err="1">
                <a:ln>
                  <a:noFill/>
                </a:ln>
                <a:solidFill>
                  <a:prstClr val="black"/>
                </a:solidFill>
                <a:effectLst/>
                <a:uLnTx/>
                <a:uFillTx/>
                <a:latin typeface="Times New Roman"/>
                <a:ea typeface="+mn-ea"/>
                <a:cs typeface="+mn-cs"/>
              </a:rPr>
              <a:t>09.09.2026</a:t>
            </a:r>
            <a:endParaRPr kumimoji="0" lang="en-IN" sz="4000" b="0" i="0" u="none" strike="noStrike" kern="1200" cap="none" spc="-1" normalizeH="0" baseline="0" noProof="0" dirty="0">
              <a:ln>
                <a:noFill/>
              </a:ln>
              <a:solidFill>
                <a:srgbClr val="000000"/>
              </a:solidFill>
              <a:effectLst/>
              <a:uLnTx/>
              <a:uFillTx/>
              <a:latin typeface="Arial"/>
              <a:ea typeface="+mn-ea"/>
              <a:cs typeface="+mn-cs"/>
            </a:endParaRPr>
          </a:p>
        </p:txBody>
      </p:sp>
      <p:sp>
        <p:nvSpPr>
          <p:cNvPr id="14" name="Footer Placeholder 13">
            <a:extLst>
              <a:ext uri="{FF2B5EF4-FFF2-40B4-BE49-F238E27FC236}">
                <a16:creationId xmlns:a16="http://schemas.microsoft.com/office/drawing/2014/main" id="{9D81229B-0330-4B71-AFEC-B3C206A7C81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Rajalakshmi Engineering College,Department of Cyber Security</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9E91975D-A8B9-8184-0BE4-C771A408DB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5499" y="558709"/>
            <a:ext cx="3389184" cy="1094792"/>
          </a:xfrm>
          <a:prstGeom prst="rect">
            <a:avLst/>
          </a:prstGeom>
        </p:spPr>
      </p:pic>
    </p:spTree>
    <p:extLst>
      <p:ext uri="{BB962C8B-B14F-4D97-AF65-F5344CB8AC3E}">
        <p14:creationId xmlns:p14="http://schemas.microsoft.com/office/powerpoint/2010/main" val="22259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Introduction</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2</a:t>
            </a:r>
          </a:p>
        </p:txBody>
      </p:sp>
      <p:sp>
        <p:nvSpPr>
          <p:cNvPr id="5" name="TextBox 4"/>
          <p:cNvSpPr txBox="1"/>
          <p:nvPr/>
        </p:nvSpPr>
        <p:spPr>
          <a:xfrm>
            <a:off x="502920" y="777240"/>
            <a:ext cx="10972800" cy="5847755"/>
          </a:xfrm>
          <a:prstGeom prst="rect">
            <a:avLst/>
          </a:prstGeom>
          <a:noFill/>
        </p:spPr>
        <p:txBody>
          <a:bodyPr wrap="square">
            <a:spAutoFit/>
          </a:bodyPr>
          <a:lstStyle/>
          <a:p>
            <a:pPr algn="just"/>
            <a:r>
              <a:rPr lang="en-IN" sz="2200" dirty="0"/>
              <a:t>Healthcare referral decisions must be timely and appropriate to ensure patients reach hospitals with the required specialties, facilities, and resources. However, hospital selection often depends on outdated information, personal familiarity, or manual coordination, which can cause delays.</a:t>
            </a:r>
          </a:p>
          <a:p>
            <a:pPr algn="just"/>
            <a:endParaRPr lang="en-IN" sz="2200" dirty="0"/>
          </a:p>
          <a:p>
            <a:pPr algn="just"/>
            <a:r>
              <a:rPr lang="en-IN" sz="2200" dirty="0"/>
              <a:t>The </a:t>
            </a:r>
            <a:r>
              <a:rPr lang="en-IN" sz="2200" b="1" dirty="0"/>
              <a:t>AI-Based Smart Patient Referral and Hospital Selection System</a:t>
            </a:r>
            <a:r>
              <a:rPr lang="en-IN" sz="2200" dirty="0"/>
              <a:t> uses rule-based AI to </a:t>
            </a:r>
            <a:r>
              <a:rPr lang="en-IN" sz="2200" dirty="0" err="1"/>
              <a:t>analyze</a:t>
            </a:r>
            <a:r>
              <a:rPr lang="en-IN" sz="2200" dirty="0"/>
              <a:t> patient symptoms, identify a possible specialty and urgency level, and rank hospitals based on medical requirements and current availability.</a:t>
            </a:r>
          </a:p>
          <a:p>
            <a:pPr algn="just"/>
            <a:endParaRPr lang="en-IN" sz="2200" dirty="0"/>
          </a:p>
          <a:p>
            <a:pPr algn="just"/>
            <a:r>
              <a:rPr lang="en-IN" sz="2200" dirty="0"/>
              <a:t>The system provides transparent recommendations, explanations, and referral tracking through interfaces for patients, caretakers, hospitals, and administrators.</a:t>
            </a:r>
          </a:p>
          <a:p>
            <a:pPr algn="just"/>
            <a:r>
              <a:rPr lang="en-IN" sz="2200" b="1" dirty="0"/>
              <a:t>Human Involvement:</a:t>
            </a:r>
            <a:r>
              <a:rPr lang="en-IN" sz="2200" dirty="0"/>
              <a:t> The system provides decision support, not a diagnosis. Caretakers confirm referrals, and healthcare professionals remain responsible for clinical decisions.</a:t>
            </a:r>
          </a:p>
          <a:p>
            <a:pPr algn="just"/>
            <a:endParaRPr lang="en-IN" sz="2200" dirty="0"/>
          </a:p>
          <a:p>
            <a:pPr algn="just"/>
            <a:r>
              <a:rPr lang="en-IN" sz="2200" b="1" dirty="0"/>
              <a:t>Project Scope:</a:t>
            </a:r>
            <a:r>
              <a:rPr lang="en-IN" sz="2200" dirty="0"/>
              <a:t> A web-based prototype tested with synthetic data, designed to support hospital selection and referral coordination.</a:t>
            </a:r>
          </a:p>
          <a:p>
            <a:pPr algn="just">
              <a:spcAft>
                <a:spcPts val="1400"/>
              </a:spcAft>
              <a:defRPr sz="22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Problem Statement</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3</a:t>
            </a:r>
          </a:p>
        </p:txBody>
      </p:sp>
      <p:sp>
        <p:nvSpPr>
          <p:cNvPr id="5" name="TextBox 4"/>
          <p:cNvSpPr txBox="1"/>
          <p:nvPr/>
        </p:nvSpPr>
        <p:spPr>
          <a:xfrm>
            <a:off x="777240" y="658368"/>
            <a:ext cx="10698480" cy="5509200"/>
          </a:xfrm>
          <a:prstGeom prst="rect">
            <a:avLst/>
          </a:prstGeom>
          <a:noFill/>
        </p:spPr>
        <p:txBody>
          <a:bodyPr wrap="square">
            <a:spAutoFit/>
          </a:bodyPr>
          <a:lstStyle/>
          <a:p>
            <a:pPr lvl="0" algn="just">
              <a:lnSpc>
                <a:spcPct val="150000"/>
              </a:lnSpc>
            </a:pPr>
            <a:r>
              <a:rPr lang="en-IN" sz="2200" b="1" dirty="0"/>
              <a:t>Problem:</a:t>
            </a:r>
            <a:r>
              <a:rPr lang="en-IN" sz="2200" dirty="0"/>
              <a:t> Lack of a centralized, real-time system to match patients with suitable hospitals based on their medical needs, specialties, facilities, and resource availability.</a:t>
            </a:r>
          </a:p>
          <a:p>
            <a:pPr lvl="0" algn="just">
              <a:lnSpc>
                <a:spcPct val="150000"/>
              </a:lnSpc>
            </a:pPr>
            <a:r>
              <a:rPr lang="en-IN" sz="2200" b="1" dirty="0"/>
              <a:t>Importance:</a:t>
            </a:r>
            <a:r>
              <a:rPr lang="en-IN" sz="2200" dirty="0"/>
              <a:t> Delays, incorrect referrals, and unavailable resources can affect treatment outcomes, especially during medical emergencies.</a:t>
            </a:r>
          </a:p>
          <a:p>
            <a:pPr lvl="0" algn="just">
              <a:lnSpc>
                <a:spcPct val="150000"/>
              </a:lnSpc>
            </a:pPr>
            <a:r>
              <a:rPr lang="en-IN" sz="2200" b="1" dirty="0"/>
              <a:t>Affected Stakeholders:</a:t>
            </a:r>
            <a:r>
              <a:rPr lang="en-IN" sz="2200" dirty="0"/>
              <a:t> Patients are the primary stakeholders, as delays in hospital referrals and unavailability of required medical facilities can affect timely treatment and patient outcomes.</a:t>
            </a:r>
          </a:p>
          <a:p>
            <a:pPr lvl="0" algn="just">
              <a:lnSpc>
                <a:spcPct val="150000"/>
              </a:lnSpc>
            </a:pPr>
            <a:r>
              <a:rPr lang="en-IN" sz="2200" b="1" dirty="0"/>
              <a:t>Motivation:</a:t>
            </a:r>
            <a:r>
              <a:rPr lang="en-IN" sz="2200" dirty="0"/>
              <a:t> To develop a reliable, transparent, and explainable decision-support system that identifies the required medical specialty and urgency, evaluates hospital capabilities, and recommends the most suitable hospital using current information.</a:t>
            </a:r>
          </a:p>
          <a:p>
            <a:pPr algn="just">
              <a:spcAft>
                <a:spcPts val="1400"/>
              </a:spcAft>
              <a:defRPr sz="22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Motivation</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4</a:t>
            </a:r>
          </a:p>
        </p:txBody>
      </p:sp>
      <p:sp>
        <p:nvSpPr>
          <p:cNvPr id="5" name="TextBox 4"/>
          <p:cNvSpPr txBox="1"/>
          <p:nvPr/>
        </p:nvSpPr>
        <p:spPr>
          <a:xfrm>
            <a:off x="685800" y="1097280"/>
            <a:ext cx="10789920" cy="3339376"/>
          </a:xfrm>
          <a:prstGeom prst="rect">
            <a:avLst/>
          </a:prstGeom>
          <a:noFill/>
        </p:spPr>
        <p:txBody>
          <a:bodyPr wrap="square">
            <a:spAutoFit/>
          </a:bodyPr>
          <a:lstStyle/>
          <a:p>
            <a:pPr algn="just">
              <a:spcAft>
                <a:spcPts val="1400"/>
              </a:spcAft>
              <a:defRPr sz="2200">
                <a:solidFill>
                  <a:srgbClr val="5F6973"/>
                </a:solidFill>
              </a:defRPr>
            </a:pPr>
            <a:r>
              <a:rPr dirty="0"/>
              <a:t>Healthcare referral inefficiency is a high-stakes, real-world problem well-suited to classical AI techniques such as knowledge representation, search, and constraint satisfaction.</a:t>
            </a:r>
          </a:p>
          <a:p>
            <a:pPr algn="just">
              <a:spcAft>
                <a:spcPts val="1400"/>
              </a:spcAft>
              <a:defRPr sz="2200">
                <a:solidFill>
                  <a:srgbClr val="5F6973"/>
                </a:solidFill>
              </a:defRPr>
            </a:pPr>
            <a:r>
              <a:rPr dirty="0"/>
              <a:t>Growing interest in AI-based clinical decision-support and expert systems for patient triage in hospital networks.</a:t>
            </a:r>
          </a:p>
          <a:p>
            <a:pPr algn="just">
              <a:spcAft>
                <a:spcPts val="1400"/>
              </a:spcAft>
              <a:defRPr sz="2200">
                <a:solidFill>
                  <a:srgbClr val="5F6973"/>
                </a:solidFill>
              </a:defRPr>
            </a:pPr>
            <a:r>
              <a:rPr dirty="0"/>
              <a:t>Faster referrals, reduced treatment delay, optimal use of hospital resources, and explainable recommendations for clinicians.</a:t>
            </a:r>
          </a:p>
          <a:p>
            <a:pPr algn="just">
              <a:spcAft>
                <a:spcPts val="1400"/>
              </a:spcAft>
              <a:defRPr sz="2200">
                <a:solidFill>
                  <a:srgbClr val="5F6973"/>
                </a:solidFill>
              </a:defRPr>
            </a:pPr>
            <a:r>
              <a:rPr dirty="0"/>
              <a:t>Directly applicable to hospital networks and emergency services; demonstrates AI reasoning techniques beyond machine learning.</a:t>
            </a:r>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Objectives</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5</a:t>
            </a:r>
          </a:p>
        </p:txBody>
      </p:sp>
      <p:sp>
        <p:nvSpPr>
          <p:cNvPr id="5" name="TextBox 4"/>
          <p:cNvSpPr txBox="1"/>
          <p:nvPr/>
        </p:nvSpPr>
        <p:spPr>
          <a:xfrm>
            <a:off x="685800" y="1097280"/>
            <a:ext cx="10789920" cy="4714111"/>
          </a:xfrm>
          <a:prstGeom prst="rect">
            <a:avLst/>
          </a:prstGeom>
          <a:noFill/>
        </p:spPr>
        <p:txBody>
          <a:bodyPr wrap="square">
            <a:spAutoFit/>
          </a:bodyPr>
          <a:lstStyle/>
          <a:p>
            <a:pPr marL="342900" indent="-342900">
              <a:spcAft>
                <a:spcPts val="1400"/>
              </a:spcAft>
              <a:buFont typeface="Wingdings" panose="05000000000000000000" pitchFamily="2" charset="2"/>
              <a:buChar char="Ø"/>
              <a:defRPr sz="2200">
                <a:solidFill>
                  <a:srgbClr val="5F6973"/>
                </a:solidFill>
              </a:defRPr>
            </a:pPr>
            <a:r>
              <a:rPr lang="en-IN" sz="2200" b="1" dirty="0">
                <a:solidFill>
                  <a:srgbClr val="5F6973"/>
                </a:solidFill>
              </a:rPr>
              <a:t>Patient Analysis:</a:t>
            </a:r>
            <a:r>
              <a:rPr lang="en-IN" sz="2200" dirty="0">
                <a:solidFill>
                  <a:srgbClr val="5F6973"/>
                </a:solidFill>
              </a:rPr>
              <a:t> Collect patient details and identify specialty, urgency, and emergency warnings using rule-based reasoning.</a:t>
            </a:r>
          </a:p>
          <a:p>
            <a:pPr marL="342900" indent="-342900">
              <a:spcAft>
                <a:spcPts val="1400"/>
              </a:spcAft>
              <a:buFont typeface="Wingdings" panose="05000000000000000000" pitchFamily="2" charset="2"/>
              <a:buChar char="Ø"/>
              <a:defRPr sz="2200">
                <a:solidFill>
                  <a:srgbClr val="5F6973"/>
                </a:solidFill>
              </a:defRPr>
            </a:pPr>
            <a:r>
              <a:rPr lang="en-IN" sz="2200" b="1" dirty="0">
                <a:solidFill>
                  <a:srgbClr val="5F6973"/>
                </a:solidFill>
              </a:rPr>
              <a:t>Hospital Recommendation:</a:t>
            </a:r>
            <a:r>
              <a:rPr lang="en-IN" sz="2200" dirty="0">
                <a:solidFill>
                  <a:srgbClr val="5F6973"/>
                </a:solidFill>
              </a:rPr>
              <a:t> Rank available hospitals using a transparent score of 0–100 based on medical needs, resources, and distance.</a:t>
            </a:r>
          </a:p>
          <a:p>
            <a:pPr marL="342900" indent="-342900">
              <a:spcAft>
                <a:spcPts val="1400"/>
              </a:spcAft>
              <a:buFont typeface="Wingdings" panose="05000000000000000000" pitchFamily="2" charset="2"/>
              <a:buChar char="Ø"/>
              <a:defRPr sz="2200">
                <a:solidFill>
                  <a:srgbClr val="5F6973"/>
                </a:solidFill>
              </a:defRPr>
            </a:pPr>
            <a:r>
              <a:rPr lang="en-IN" sz="2200" b="1" dirty="0">
                <a:solidFill>
                  <a:srgbClr val="5F6973"/>
                </a:solidFill>
              </a:rPr>
              <a:t>Explainable Results:</a:t>
            </a:r>
            <a:r>
              <a:rPr lang="en-IN" sz="2200" dirty="0">
                <a:solidFill>
                  <a:srgbClr val="5F6973"/>
                </a:solidFill>
              </a:rPr>
              <a:t> Display the reasons for each recommendation and the hospital score breakdown.</a:t>
            </a:r>
          </a:p>
          <a:p>
            <a:pPr marL="342900" indent="-342900">
              <a:spcAft>
                <a:spcPts val="1400"/>
              </a:spcAft>
              <a:buFont typeface="Wingdings" panose="05000000000000000000" pitchFamily="2" charset="2"/>
              <a:buChar char="Ø"/>
              <a:defRPr sz="2200">
                <a:solidFill>
                  <a:srgbClr val="5F6973"/>
                </a:solidFill>
              </a:defRPr>
            </a:pPr>
            <a:r>
              <a:rPr lang="en-IN" sz="2200" b="1" dirty="0">
                <a:solidFill>
                  <a:srgbClr val="5F6973"/>
                </a:solidFill>
              </a:rPr>
              <a:t>Referral Tracking:</a:t>
            </a:r>
            <a:r>
              <a:rPr lang="en-IN" sz="2200" dirty="0">
                <a:solidFill>
                  <a:srgbClr val="5F6973"/>
                </a:solidFill>
              </a:rPr>
              <a:t> Record referral status from confirmation to hospital acceptance or rejection.</a:t>
            </a:r>
          </a:p>
          <a:p>
            <a:pPr marL="342900" indent="-342900">
              <a:spcAft>
                <a:spcPts val="1400"/>
              </a:spcAft>
              <a:buFont typeface="Wingdings" panose="05000000000000000000" pitchFamily="2" charset="2"/>
              <a:buChar char="Ø"/>
              <a:defRPr sz="2200">
                <a:solidFill>
                  <a:srgbClr val="5F6973"/>
                </a:solidFill>
              </a:defRPr>
            </a:pPr>
            <a:r>
              <a:rPr lang="en-IN" sz="2200" b="1" dirty="0">
                <a:solidFill>
                  <a:srgbClr val="5F6973"/>
                </a:solidFill>
              </a:rPr>
              <a:t>Live Updates:</a:t>
            </a:r>
            <a:r>
              <a:rPr lang="en-IN" sz="2200" dirty="0">
                <a:solidFill>
                  <a:srgbClr val="5F6973"/>
                </a:solidFill>
              </a:rPr>
              <a:t> Update hospital resources, specialists, and emergency availability.</a:t>
            </a:r>
          </a:p>
          <a:p>
            <a:pPr marL="342900" indent="-342900">
              <a:spcAft>
                <a:spcPts val="1400"/>
              </a:spcAft>
              <a:buFont typeface="Wingdings" panose="05000000000000000000" pitchFamily="2" charset="2"/>
              <a:buChar char="Ø"/>
              <a:defRPr sz="2200">
                <a:solidFill>
                  <a:srgbClr val="5F6973"/>
                </a:solidFill>
              </a:defRPr>
            </a:pPr>
            <a:r>
              <a:rPr lang="en-IN" sz="2200" b="1" dirty="0">
                <a:solidFill>
                  <a:srgbClr val="5F6973"/>
                </a:solidFill>
              </a:rPr>
              <a:t>Administration &amp; Navigation:</a:t>
            </a:r>
            <a:r>
              <a:rPr lang="en-IN" sz="2200" dirty="0">
                <a:solidFill>
                  <a:srgbClr val="5F6973"/>
                </a:solidFill>
              </a:rPr>
              <a:t> Manage hospital records, maintain activity logs, and display hospital routes on a map.</a:t>
            </a:r>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Literature Survey</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6</a:t>
            </a:r>
          </a:p>
        </p:txBody>
      </p:sp>
      <p:graphicFrame>
        <p:nvGraphicFramePr>
          <p:cNvPr id="5" name="Table 4"/>
          <p:cNvGraphicFramePr>
            <a:graphicFrameLocks noGrp="1"/>
          </p:cNvGraphicFramePr>
          <p:nvPr/>
        </p:nvGraphicFramePr>
        <p:xfrm>
          <a:off x="411480" y="1051560"/>
          <a:ext cx="11338560" cy="438912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tblGrid>
              <a:tr h="1097280">
                <a:tc>
                  <a:txBody>
                    <a:bodyPr/>
                    <a:lstStyle/>
                    <a:p>
                      <a:pPr>
                        <a:defRPr sz="1300" b="1">
                          <a:solidFill>
                            <a:srgbClr val="FFFFFF"/>
                          </a:solidFill>
                        </a:defRPr>
                      </a:pPr>
                      <a:r>
                        <a:t>S.No.</a:t>
                      </a:r>
                    </a:p>
                  </a:txBody>
                  <a:tcPr>
                    <a:solidFill>
                      <a:srgbClr val="1F3756"/>
                    </a:solidFill>
                  </a:tcPr>
                </a:tc>
                <a:tc>
                  <a:txBody>
                    <a:bodyPr/>
                    <a:lstStyle/>
                    <a:p>
                      <a:pPr>
                        <a:defRPr sz="1300" b="1">
                          <a:solidFill>
                            <a:srgbClr val="FFFFFF"/>
                          </a:solidFill>
                        </a:defRPr>
                      </a:pPr>
                      <a:r>
                        <a:rPr dirty="0"/>
                        <a:t>Author &amp; Year</a:t>
                      </a:r>
                    </a:p>
                  </a:txBody>
                  <a:tcPr>
                    <a:solidFill>
                      <a:srgbClr val="1F3756"/>
                    </a:solidFill>
                  </a:tcPr>
                </a:tc>
                <a:tc>
                  <a:txBody>
                    <a:bodyPr/>
                    <a:lstStyle/>
                    <a:p>
                      <a:pPr>
                        <a:defRPr sz="1300" b="1">
                          <a:solidFill>
                            <a:srgbClr val="FFFFFF"/>
                          </a:solidFill>
                        </a:defRPr>
                      </a:pPr>
                      <a:r>
                        <a:t>Method / Technique</a:t>
                      </a:r>
                    </a:p>
                  </a:txBody>
                  <a:tcPr>
                    <a:solidFill>
                      <a:srgbClr val="1F3756"/>
                    </a:solidFill>
                  </a:tcPr>
                </a:tc>
                <a:tc>
                  <a:txBody>
                    <a:bodyPr/>
                    <a:lstStyle/>
                    <a:p>
                      <a:pPr>
                        <a:defRPr sz="1300" b="1">
                          <a:solidFill>
                            <a:srgbClr val="FFFFFF"/>
                          </a:solidFill>
                        </a:defRPr>
                      </a:pPr>
                      <a:r>
                        <a:t>Key Findings</a:t>
                      </a:r>
                    </a:p>
                  </a:txBody>
                  <a:tcPr>
                    <a:solidFill>
                      <a:srgbClr val="1F3756"/>
                    </a:solidFill>
                  </a:tcPr>
                </a:tc>
                <a:tc>
                  <a:txBody>
                    <a:bodyPr/>
                    <a:lstStyle/>
                    <a:p>
                      <a:pPr>
                        <a:defRPr sz="1300" b="1">
                          <a:solidFill>
                            <a:srgbClr val="FFFFFF"/>
                          </a:solidFill>
                        </a:defRPr>
                      </a:pPr>
                      <a:r>
                        <a:t>Limitations</a:t>
                      </a:r>
                    </a:p>
                  </a:txBody>
                  <a:tcPr>
                    <a:solidFill>
                      <a:srgbClr val="1F3756"/>
                    </a:solidFill>
                  </a:tcPr>
                </a:tc>
                <a:extLst>
                  <a:ext uri="{0D108BD9-81ED-4DB2-BD59-A6C34878D82A}">
                    <a16:rowId xmlns:a16="http://schemas.microsoft.com/office/drawing/2014/main" val="10000"/>
                  </a:ext>
                </a:extLst>
              </a:tr>
              <a:tr h="1097280">
                <a:tc>
                  <a:txBody>
                    <a:bodyPr/>
                    <a:lstStyle/>
                    <a:p>
                      <a:pPr>
                        <a:defRPr sz="1200">
                          <a:solidFill>
                            <a:srgbClr val="5F6973"/>
                          </a:solidFill>
                        </a:defRPr>
                      </a:pPr>
                      <a:r>
                        <a:t>1</a:t>
                      </a:r>
                    </a:p>
                  </a:txBody>
                  <a:tcPr>
                    <a:solidFill>
                      <a:srgbClr val="F2F6FA"/>
                    </a:solidFill>
                  </a:tcPr>
                </a:tc>
                <a:tc>
                  <a:txBody>
                    <a:bodyPr/>
                    <a:lstStyle/>
                    <a:p>
                      <a:pPr>
                        <a:defRPr sz="1200">
                          <a:solidFill>
                            <a:srgbClr val="5F6973"/>
                          </a:solidFill>
                        </a:defRPr>
                      </a:pPr>
                      <a:r>
                        <a:t>Chi, Street &amp; Ward, 2008</a:t>
                      </a:r>
                    </a:p>
                  </a:txBody>
                  <a:tcPr>
                    <a:solidFill>
                      <a:srgbClr val="F2F6FA"/>
                    </a:solidFill>
                  </a:tcPr>
                </a:tc>
                <a:tc>
                  <a:txBody>
                    <a:bodyPr/>
                    <a:lstStyle/>
                    <a:p>
                      <a:pPr>
                        <a:defRPr sz="1200">
                          <a:solidFill>
                            <a:srgbClr val="5F6973"/>
                          </a:solidFill>
                        </a:defRPr>
                      </a:pPr>
                      <a:r>
                        <a:t>Expert System &amp; Decision Support optimization</a:t>
                      </a:r>
                    </a:p>
                  </a:txBody>
                  <a:tcPr>
                    <a:solidFill>
                      <a:srgbClr val="F2F6FA"/>
                    </a:solidFill>
                  </a:tcPr>
                </a:tc>
                <a:tc>
                  <a:txBody>
                    <a:bodyPr/>
                    <a:lstStyle/>
                    <a:p>
                      <a:pPr>
                        <a:defRPr sz="1200">
                          <a:solidFill>
                            <a:srgbClr val="5F6973"/>
                          </a:solidFill>
                        </a:defRPr>
                      </a:pPr>
                      <a:r>
                        <a:t>Prediction-based referral algorithm improved hospital assignment accuracy</a:t>
                      </a:r>
                    </a:p>
                  </a:txBody>
                  <a:tcPr>
                    <a:solidFill>
                      <a:srgbClr val="F2F6FA"/>
                    </a:solidFill>
                  </a:tcPr>
                </a:tc>
                <a:tc>
                  <a:txBody>
                    <a:bodyPr/>
                    <a:lstStyle/>
                    <a:p>
                      <a:pPr>
                        <a:defRPr sz="1200">
                          <a:solidFill>
                            <a:srgbClr val="5F6973"/>
                          </a:solidFill>
                        </a:defRPr>
                      </a:pPr>
                      <a:r>
                        <a:t>Relies on static rules; limited adaptability to real-time data</a:t>
                      </a:r>
                    </a:p>
                  </a:txBody>
                  <a:tcPr>
                    <a:solidFill>
                      <a:srgbClr val="F2F6FA"/>
                    </a:solidFill>
                  </a:tcPr>
                </a:tc>
                <a:extLst>
                  <a:ext uri="{0D108BD9-81ED-4DB2-BD59-A6C34878D82A}">
                    <a16:rowId xmlns:a16="http://schemas.microsoft.com/office/drawing/2014/main" val="10001"/>
                  </a:ext>
                </a:extLst>
              </a:tr>
              <a:tr h="1097280">
                <a:tc>
                  <a:txBody>
                    <a:bodyPr/>
                    <a:lstStyle/>
                    <a:p>
                      <a:pPr>
                        <a:defRPr sz="1200">
                          <a:solidFill>
                            <a:srgbClr val="5F6973"/>
                          </a:solidFill>
                        </a:defRPr>
                      </a:pPr>
                      <a:r>
                        <a:t>2</a:t>
                      </a:r>
                    </a:p>
                  </a:txBody>
                  <a:tcPr>
                    <a:solidFill>
                      <a:srgbClr val="FFFFFF"/>
                    </a:solidFill>
                  </a:tcPr>
                </a:tc>
                <a:tc>
                  <a:txBody>
                    <a:bodyPr/>
                    <a:lstStyle/>
                    <a:p>
                      <a:pPr>
                        <a:defRPr sz="1200">
                          <a:solidFill>
                            <a:srgbClr val="5F6973"/>
                          </a:solidFill>
                        </a:defRPr>
                      </a:pPr>
                      <a:r>
                        <a:t>Abdel-Hafez et al., 2023</a:t>
                      </a:r>
                    </a:p>
                  </a:txBody>
                  <a:tcPr>
                    <a:solidFill>
                      <a:srgbClr val="FFFFFF"/>
                    </a:solidFill>
                  </a:tcPr>
                </a:tc>
                <a:tc>
                  <a:txBody>
                    <a:bodyPr/>
                    <a:lstStyle/>
                    <a:p>
                      <a:pPr>
                        <a:defRPr sz="1200">
                          <a:solidFill>
                            <a:srgbClr val="5F6973"/>
                          </a:solidFill>
                        </a:defRPr>
                      </a:pPr>
                      <a:r>
                        <a:t>AI-based Referral Triage (clinical prioritization)</a:t>
                      </a:r>
                    </a:p>
                  </a:txBody>
                  <a:tcPr>
                    <a:solidFill>
                      <a:srgbClr val="FFFFFF"/>
                    </a:solidFill>
                  </a:tcPr>
                </a:tc>
                <a:tc>
                  <a:txBody>
                    <a:bodyPr/>
                    <a:lstStyle/>
                    <a:p>
                      <a:pPr>
                        <a:defRPr sz="1200">
                          <a:solidFill>
                            <a:srgbClr val="5F6973"/>
                          </a:solidFill>
                        </a:defRPr>
                      </a:pPr>
                      <a:r>
                        <a:t>Improved triage prioritization using AI-based classification</a:t>
                      </a:r>
                    </a:p>
                  </a:txBody>
                  <a:tcPr>
                    <a:solidFill>
                      <a:srgbClr val="FFFFFF"/>
                    </a:solidFill>
                  </a:tcPr>
                </a:tc>
                <a:tc>
                  <a:txBody>
                    <a:bodyPr/>
                    <a:lstStyle/>
                    <a:p>
                      <a:pPr>
                        <a:defRPr sz="1200">
                          <a:solidFill>
                            <a:srgbClr val="5F6973"/>
                          </a:solidFill>
                        </a:defRPr>
                      </a:pPr>
                      <a:r>
                        <a:t>Requires large labeled clinical datasets for training</a:t>
                      </a:r>
                    </a:p>
                  </a:txBody>
                  <a:tcPr>
                    <a:solidFill>
                      <a:srgbClr val="FFFFFF"/>
                    </a:solidFill>
                  </a:tcPr>
                </a:tc>
                <a:extLst>
                  <a:ext uri="{0D108BD9-81ED-4DB2-BD59-A6C34878D82A}">
                    <a16:rowId xmlns:a16="http://schemas.microsoft.com/office/drawing/2014/main" val="10002"/>
                  </a:ext>
                </a:extLst>
              </a:tr>
              <a:tr h="1097280">
                <a:tc>
                  <a:txBody>
                    <a:bodyPr/>
                    <a:lstStyle/>
                    <a:p>
                      <a:pPr>
                        <a:defRPr sz="1200">
                          <a:solidFill>
                            <a:srgbClr val="5F6973"/>
                          </a:solidFill>
                        </a:defRPr>
                      </a:pPr>
                      <a:r>
                        <a:t>3</a:t>
                      </a:r>
                    </a:p>
                  </a:txBody>
                  <a:tcPr>
                    <a:solidFill>
                      <a:srgbClr val="F2F6FA"/>
                    </a:solidFill>
                  </a:tcPr>
                </a:tc>
                <a:tc>
                  <a:txBody>
                    <a:bodyPr/>
                    <a:lstStyle/>
                    <a:p>
                      <a:pPr>
                        <a:defRPr sz="1200">
                          <a:solidFill>
                            <a:srgbClr val="5F6973"/>
                          </a:solidFill>
                        </a:defRPr>
                      </a:pPr>
                      <a:r>
                        <a:t>Määttä et al., 2023</a:t>
                      </a:r>
                    </a:p>
                  </a:txBody>
                  <a:tcPr>
                    <a:solidFill>
                      <a:srgbClr val="F2F6FA"/>
                    </a:solidFill>
                  </a:tcPr>
                </a:tc>
                <a:tc>
                  <a:txBody>
                    <a:bodyPr/>
                    <a:lstStyle/>
                    <a:p>
                      <a:pPr>
                        <a:defRPr sz="1200">
                          <a:solidFill>
                            <a:srgbClr val="5F6973"/>
                          </a:solidFill>
                        </a:defRPr>
                      </a:pPr>
                      <a:r>
                        <a:t>Clinical Decision Support System</a:t>
                      </a:r>
                    </a:p>
                  </a:txBody>
                  <a:tcPr>
                    <a:solidFill>
                      <a:srgbClr val="F2F6FA"/>
                    </a:solidFill>
                  </a:tcPr>
                </a:tc>
                <a:tc>
                  <a:txBody>
                    <a:bodyPr/>
                    <a:lstStyle/>
                    <a:p>
                      <a:pPr>
                        <a:defRPr sz="1200">
                          <a:solidFill>
                            <a:srgbClr val="5F6973"/>
                          </a:solidFill>
                        </a:defRPr>
                      </a:pPr>
                      <a:r>
                        <a:t>High diagnostic performance and triage safety shown in usability trials</a:t>
                      </a:r>
                    </a:p>
                  </a:txBody>
                  <a:tcPr>
                    <a:solidFill>
                      <a:srgbClr val="F2F6FA"/>
                    </a:solidFill>
                  </a:tcPr>
                </a:tc>
                <a:tc>
                  <a:txBody>
                    <a:bodyPr/>
                    <a:lstStyle/>
                    <a:p>
                      <a:pPr>
                        <a:defRPr sz="1200">
                          <a:solidFill>
                            <a:srgbClr val="5F6973"/>
                          </a:solidFill>
                        </a:defRPr>
                      </a:pPr>
                      <a:r>
                        <a:rPr dirty="0"/>
                        <a:t>Usability varies across clinical settings; limited explainability</a:t>
                      </a:r>
                    </a:p>
                  </a:txBody>
                  <a:tcPr>
                    <a:solidFill>
                      <a:srgbClr val="F2F6FA"/>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Existing System</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7</a:t>
            </a:r>
          </a:p>
        </p:txBody>
      </p:sp>
      <p:sp>
        <p:nvSpPr>
          <p:cNvPr id="5" name="TextBox 4"/>
          <p:cNvSpPr txBox="1"/>
          <p:nvPr/>
        </p:nvSpPr>
        <p:spPr>
          <a:xfrm>
            <a:off x="640080" y="1143000"/>
            <a:ext cx="5303520" cy="4389120"/>
          </a:xfrm>
          <a:prstGeom prst="rect">
            <a:avLst/>
          </a:prstGeom>
          <a:noFill/>
        </p:spPr>
        <p:txBody>
          <a:bodyPr wrap="square">
            <a:spAutoFit/>
          </a:bodyPr>
          <a:lstStyle/>
          <a:p>
            <a:pPr>
              <a:spcAft>
                <a:spcPts val="1400"/>
              </a:spcAft>
              <a:defRPr sz="2000">
                <a:solidFill>
                  <a:srgbClr val="5F6973"/>
                </a:solidFill>
              </a:defRPr>
            </a:pPr>
            <a:r>
              <a:rPr dirty="0"/>
              <a:t>Manual patient referral based on physician experience and judgement.</a:t>
            </a:r>
          </a:p>
          <a:p>
            <a:pPr>
              <a:spcAft>
                <a:spcPts val="1400"/>
              </a:spcAft>
              <a:defRPr sz="2000">
                <a:solidFill>
                  <a:srgbClr val="5F6973"/>
                </a:solidFill>
              </a:defRPr>
            </a:pPr>
            <a:r>
              <a:rPr dirty="0"/>
              <a:t>Little to no software support — at most, static hospital directories or phone-based coordination.</a:t>
            </a:r>
          </a:p>
          <a:p>
            <a:pPr>
              <a:spcAft>
                <a:spcPts val="1400"/>
              </a:spcAft>
              <a:defRPr sz="2000">
                <a:solidFill>
                  <a:srgbClr val="5F6973"/>
                </a:solidFill>
              </a:defRPr>
            </a:pPr>
            <a:r>
              <a:rPr dirty="0"/>
              <a:t>Advantages: simple, requires no technology, relies on clinical intuition</a:t>
            </a:r>
          </a:p>
          <a:p>
            <a:pPr>
              <a:spcAft>
                <a:spcPts val="1400"/>
              </a:spcAft>
              <a:defRPr sz="2000">
                <a:solidFill>
                  <a:srgbClr val="5F6973"/>
                </a:solidFill>
              </a:defRPr>
            </a:pPr>
            <a:r>
              <a:rPr dirty="0"/>
              <a:t>Limitations: slow, inconsistent, ignores facility/resource availability, prone to human error, no transparency</a:t>
            </a:r>
          </a:p>
        </p:txBody>
      </p:sp>
      <p:sp>
        <p:nvSpPr>
          <p:cNvPr id="6" name="Rounded Rectangle 5"/>
          <p:cNvSpPr/>
          <p:nvPr/>
        </p:nvSpPr>
        <p:spPr>
          <a:xfrm>
            <a:off x="6400800" y="1234440"/>
            <a:ext cx="4846320" cy="347472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lang="en-US" sz="2000" b="1" dirty="0"/>
              <a:t>PATIENT / EMERGENCY CASE</a:t>
            </a:r>
            <a:br>
              <a:rPr lang="en-US" sz="2000" b="1" dirty="0"/>
            </a:br>
            <a:r>
              <a:rPr lang="en-US" sz="2000" b="1" dirty="0"/>
              <a:t>↓</a:t>
            </a:r>
            <a:br>
              <a:rPr lang="en-US" sz="2000" b="1" dirty="0"/>
            </a:br>
            <a:r>
              <a:rPr lang="en-US" sz="2000" b="1" dirty="0"/>
              <a:t>PHYSICIAN ASSESSMENT</a:t>
            </a:r>
            <a:br>
              <a:rPr lang="en-US" sz="2000" b="1" dirty="0"/>
            </a:br>
            <a:r>
              <a:rPr lang="en-US" sz="2000" b="1" dirty="0"/>
              <a:t>↓</a:t>
            </a:r>
            <a:br>
              <a:rPr lang="en-US" sz="2000" b="1" dirty="0"/>
            </a:br>
            <a:r>
              <a:rPr lang="en-US" sz="2000" b="1" dirty="0"/>
              <a:t>MANUAL HOSPITAL SEARCH</a:t>
            </a:r>
            <a:br>
              <a:rPr lang="en-US" sz="2000" b="1" dirty="0"/>
            </a:br>
            <a:r>
              <a:rPr lang="en-US" sz="2000" b="1" dirty="0"/>
              <a:t>↓</a:t>
            </a:r>
            <a:br>
              <a:rPr lang="en-US" sz="2000" b="1" dirty="0"/>
            </a:br>
            <a:r>
              <a:rPr lang="en-US" sz="2000" b="1" dirty="0"/>
              <a:t>AVAILABILITY CHECK</a:t>
            </a:r>
            <a:br>
              <a:rPr lang="en-US" sz="2000" b="1" dirty="0"/>
            </a:br>
            <a:r>
              <a:rPr lang="en-US" sz="2000" b="1" dirty="0"/>
              <a:t>↓</a:t>
            </a:r>
            <a:br>
              <a:rPr lang="en-US" sz="2000" b="1" dirty="0"/>
            </a:br>
            <a:r>
              <a:rPr lang="en-US" sz="2000" b="1" dirty="0"/>
              <a:t>REFERRAL &amp; TRANSPORT</a:t>
            </a:r>
            <a:endParaRPr dirty="0"/>
          </a:p>
        </p:txBody>
      </p:sp>
      <p:sp>
        <p:nvSpPr>
          <p:cNvPr id="7" name="TextBox 6"/>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Proposed System</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8</a:t>
            </a:r>
          </a:p>
        </p:txBody>
      </p:sp>
      <p:sp>
        <p:nvSpPr>
          <p:cNvPr id="5" name="TextBox 4"/>
          <p:cNvSpPr txBox="1"/>
          <p:nvPr/>
        </p:nvSpPr>
        <p:spPr>
          <a:xfrm>
            <a:off x="640080" y="1143000"/>
            <a:ext cx="5303520" cy="4144724"/>
          </a:xfrm>
          <a:prstGeom prst="rect">
            <a:avLst/>
          </a:prstGeom>
          <a:noFill/>
        </p:spPr>
        <p:txBody>
          <a:bodyPr wrap="square">
            <a:spAutoFit/>
          </a:bodyPr>
          <a:lstStyle/>
          <a:p>
            <a:pPr>
              <a:spcAft>
                <a:spcPts val="1400"/>
              </a:spcAft>
              <a:defRPr sz="2000">
                <a:solidFill>
                  <a:srgbClr val="5F6973"/>
                </a:solidFill>
              </a:defRPr>
            </a:pPr>
            <a:r>
              <a:rPr lang="en-US" sz="2000" dirty="0"/>
              <a:t>The proposed system consists of five main modules: Patient Data Collection, Patient Requirement Analysis, Hospital Evaluation, Hospital Ranking, and Referral Recommendation &amp; Explanation. A separate Hospital Administrator component maintains hospital information, facilities, resources, and availability.</a:t>
            </a:r>
            <a:endParaRPr lang="en-US" dirty="0"/>
          </a:p>
          <a:p>
            <a:pPr>
              <a:spcAft>
                <a:spcPts val="1400"/>
              </a:spcAft>
              <a:defRPr sz="2000">
                <a:solidFill>
                  <a:srgbClr val="5F6973"/>
                </a:solidFill>
              </a:defRPr>
            </a:pPr>
            <a:r>
              <a:rPr dirty="0"/>
              <a:t>Knowledge-Based Agent with Forward Chaining, Best-First Search, and Constraint Satisfaction.</a:t>
            </a:r>
          </a:p>
          <a:p>
            <a:pPr>
              <a:spcAft>
                <a:spcPts val="1400"/>
              </a:spcAft>
              <a:defRPr sz="2000">
                <a:solidFill>
                  <a:srgbClr val="5F6973"/>
                </a:solidFill>
              </a:defRPr>
            </a:pPr>
            <a:r>
              <a:rPr dirty="0"/>
              <a:t>Automatically factors in specialist availability, medical facilities, resource load, and travel distance simultaneously.</a:t>
            </a:r>
          </a:p>
        </p:txBody>
      </p:sp>
      <p:sp>
        <p:nvSpPr>
          <p:cNvPr id="6" name="Rounded Rectangle 5"/>
          <p:cNvSpPr/>
          <p:nvPr/>
        </p:nvSpPr>
        <p:spPr>
          <a:xfrm>
            <a:off x="6164826" y="1162172"/>
            <a:ext cx="5387094" cy="4383221"/>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b="1" dirty="0">
                <a:solidFill>
                  <a:schemeClr val="accent1"/>
                </a:solidFill>
              </a:rPr>
              <a:t>1. PATIENT / USER INPUT</a:t>
            </a:r>
            <a:br>
              <a:rPr lang="en-IN" dirty="0">
                <a:solidFill>
                  <a:schemeClr val="accent1"/>
                </a:solidFill>
              </a:rPr>
            </a:br>
            <a:r>
              <a:rPr lang="en-IN" dirty="0">
                <a:solidFill>
                  <a:schemeClr val="accent1"/>
                </a:solidFill>
              </a:rPr>
              <a:t>Patient details &amp; symptoms</a:t>
            </a:r>
          </a:p>
          <a:p>
            <a:pPr algn="ctr"/>
            <a:r>
              <a:rPr lang="en-IN" dirty="0">
                <a:solidFill>
                  <a:schemeClr val="accent1"/>
                </a:solidFill>
              </a:rPr>
              <a:t>↓</a:t>
            </a:r>
          </a:p>
          <a:p>
            <a:pPr algn="ctr"/>
            <a:r>
              <a:rPr lang="en-IN" b="1" dirty="0">
                <a:solidFill>
                  <a:schemeClr val="accent1"/>
                </a:solidFill>
              </a:rPr>
              <a:t>2. REQUIREMENT ANALYSIS</a:t>
            </a:r>
            <a:br>
              <a:rPr lang="en-IN" dirty="0">
                <a:solidFill>
                  <a:schemeClr val="accent1"/>
                </a:solidFill>
              </a:rPr>
            </a:br>
            <a:r>
              <a:rPr lang="en-IN" dirty="0">
                <a:solidFill>
                  <a:schemeClr val="accent1"/>
                </a:solidFill>
              </a:rPr>
              <a:t>Identify specialty &amp; healthcare needs</a:t>
            </a:r>
          </a:p>
          <a:p>
            <a:pPr algn="ctr"/>
            <a:r>
              <a:rPr lang="en-IN" dirty="0">
                <a:solidFill>
                  <a:schemeClr val="accent1"/>
                </a:solidFill>
              </a:rPr>
              <a:t>↓</a:t>
            </a:r>
          </a:p>
          <a:p>
            <a:pPr algn="ctr"/>
            <a:r>
              <a:rPr lang="en-IN" b="1" dirty="0">
                <a:solidFill>
                  <a:schemeClr val="accent1"/>
                </a:solidFill>
              </a:rPr>
              <a:t>3. HOSPITAL DATABASE</a:t>
            </a:r>
            <a:br>
              <a:rPr lang="en-IN" dirty="0">
                <a:solidFill>
                  <a:schemeClr val="accent1"/>
                </a:solidFill>
              </a:rPr>
            </a:br>
            <a:r>
              <a:rPr lang="en-IN" dirty="0">
                <a:solidFill>
                  <a:schemeClr val="accent1"/>
                </a:solidFill>
              </a:rPr>
              <a:t>Facilities, resources &amp; availability</a:t>
            </a:r>
          </a:p>
          <a:p>
            <a:pPr algn="ctr"/>
            <a:r>
              <a:rPr lang="en-IN" dirty="0">
                <a:solidFill>
                  <a:schemeClr val="accent1"/>
                </a:solidFill>
              </a:rPr>
              <a:t>↓</a:t>
            </a:r>
          </a:p>
          <a:p>
            <a:pPr algn="ctr"/>
            <a:r>
              <a:rPr lang="en-IN" b="1" dirty="0">
                <a:solidFill>
                  <a:schemeClr val="accent1"/>
                </a:solidFill>
              </a:rPr>
              <a:t>4. AI-BASED HOSPITAL SELECTION</a:t>
            </a:r>
            <a:br>
              <a:rPr lang="en-IN" dirty="0">
                <a:solidFill>
                  <a:schemeClr val="accent1"/>
                </a:solidFill>
              </a:rPr>
            </a:br>
            <a:r>
              <a:rPr lang="en-IN" dirty="0">
                <a:solidFill>
                  <a:schemeClr val="accent1"/>
                </a:solidFill>
              </a:rPr>
              <a:t>Best-First Search + CSP</a:t>
            </a:r>
          </a:p>
          <a:p>
            <a:pPr algn="ctr"/>
            <a:r>
              <a:rPr lang="en-IN" dirty="0">
                <a:solidFill>
                  <a:schemeClr val="accent1"/>
                </a:solidFill>
              </a:rPr>
              <a:t>↓</a:t>
            </a:r>
          </a:p>
          <a:p>
            <a:pPr algn="ctr"/>
            <a:r>
              <a:rPr lang="en-IN" b="1" dirty="0">
                <a:solidFill>
                  <a:schemeClr val="accent1"/>
                </a:solidFill>
              </a:rPr>
              <a:t>5. REFERRAL RECOMMENDATION</a:t>
            </a:r>
            <a:br>
              <a:rPr lang="en-IN" dirty="0">
                <a:solidFill>
                  <a:schemeClr val="accent1"/>
                </a:solidFill>
              </a:rPr>
            </a:br>
            <a:r>
              <a:rPr lang="en-IN" dirty="0">
                <a:solidFill>
                  <a:schemeClr val="accent1"/>
                </a:solidFill>
              </a:rPr>
              <a:t>Ranked hospital &amp; referral decision</a:t>
            </a:r>
          </a:p>
          <a:p>
            <a:pPr algn="ctr">
              <a:defRPr sz="2000" b="1">
                <a:solidFill>
                  <a:srgbClr val="3465A4"/>
                </a:solidFill>
              </a:defRPr>
            </a:pPr>
            <a:endParaRPr dirty="0"/>
          </a:p>
        </p:txBody>
      </p:sp>
      <p:sp>
        <p:nvSpPr>
          <p:cNvPr id="7" name="TextBox 6"/>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System Architecture / Block Diagram</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9</a:t>
            </a:r>
          </a:p>
        </p:txBody>
      </p:sp>
      <p:sp>
        <p:nvSpPr>
          <p:cNvPr id="5" name="Rounded Rectangle 4"/>
          <p:cNvSpPr/>
          <p:nvPr/>
        </p:nvSpPr>
        <p:spPr>
          <a:xfrm>
            <a:off x="274320" y="2377440"/>
            <a:ext cx="1819951" cy="91440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PATIENT</a:t>
            </a:r>
            <a:r>
              <a:rPr lang="en-US" dirty="0"/>
              <a:t>/USER</a:t>
            </a:r>
            <a:r>
              <a:rPr dirty="0"/>
              <a:t> INPUT</a:t>
            </a:r>
          </a:p>
        </p:txBody>
      </p:sp>
      <p:sp>
        <p:nvSpPr>
          <p:cNvPr id="6" name="Rounded Rectangle 5"/>
          <p:cNvSpPr/>
          <p:nvPr/>
        </p:nvSpPr>
        <p:spPr>
          <a:xfrm>
            <a:off x="2389239" y="2377440"/>
            <a:ext cx="2083548" cy="91440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lang="en-US" dirty="0"/>
              <a:t>PATIENT REQUIREMENT</a:t>
            </a:r>
          </a:p>
          <a:p>
            <a:pPr algn="ctr">
              <a:defRPr sz="2000" b="1">
                <a:solidFill>
                  <a:srgbClr val="3465A4"/>
                </a:solidFill>
              </a:defRPr>
            </a:pPr>
            <a:r>
              <a:rPr dirty="0"/>
              <a:t>ANALYSIS</a:t>
            </a:r>
          </a:p>
        </p:txBody>
      </p:sp>
      <p:sp>
        <p:nvSpPr>
          <p:cNvPr id="7" name="Rounded Rectangle 6"/>
          <p:cNvSpPr/>
          <p:nvPr/>
        </p:nvSpPr>
        <p:spPr>
          <a:xfrm>
            <a:off x="4767755" y="2377440"/>
            <a:ext cx="2458955" cy="91440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KNOWLEDGE-BASED REASONING + BEST-FIRST SEARCH</a:t>
            </a:r>
          </a:p>
        </p:txBody>
      </p:sp>
      <p:sp>
        <p:nvSpPr>
          <p:cNvPr id="8" name="Rounded Rectangle 7"/>
          <p:cNvSpPr/>
          <p:nvPr/>
        </p:nvSpPr>
        <p:spPr>
          <a:xfrm>
            <a:off x="7521678" y="2377440"/>
            <a:ext cx="1919502" cy="91440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CONSTRAINT SATISFACTION</a:t>
            </a:r>
          </a:p>
        </p:txBody>
      </p:sp>
      <p:sp>
        <p:nvSpPr>
          <p:cNvPr id="9" name="Rounded Rectangle 8"/>
          <p:cNvSpPr/>
          <p:nvPr/>
        </p:nvSpPr>
        <p:spPr>
          <a:xfrm>
            <a:off x="9736148" y="2377440"/>
            <a:ext cx="1922452" cy="91440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HOSPITAL</a:t>
            </a:r>
            <a:r>
              <a:rPr lang="en-US" dirty="0"/>
              <a:t> RANKING</a:t>
            </a:r>
            <a:r>
              <a:rPr dirty="0"/>
              <a:t> &amp; REFERRAL</a:t>
            </a:r>
          </a:p>
        </p:txBody>
      </p:sp>
      <p:sp>
        <p:nvSpPr>
          <p:cNvPr id="10" name="TextBox 9"/>
          <p:cNvSpPr txBox="1"/>
          <p:nvPr/>
        </p:nvSpPr>
        <p:spPr>
          <a:xfrm>
            <a:off x="731520" y="3931920"/>
            <a:ext cx="10698480" cy="914400"/>
          </a:xfrm>
          <a:prstGeom prst="rect">
            <a:avLst/>
          </a:prstGeom>
          <a:noFill/>
        </p:spPr>
        <p:txBody>
          <a:bodyPr wrap="square">
            <a:spAutoFit/>
          </a:bodyPr>
          <a:lstStyle/>
          <a:p>
            <a:pPr>
              <a:spcAft>
                <a:spcPts val="1400"/>
              </a:spcAft>
              <a:defRPr sz="1700">
                <a:solidFill>
                  <a:srgbClr val="5F6973"/>
                </a:solidFill>
              </a:defRPr>
            </a:pPr>
            <a:r>
              <a:t>Patient details flow through symptom analysis and AI-based specialist identification into hospital matching, producing a ranked, explainable hospital recommendation.</a:t>
            </a:r>
          </a:p>
        </p:txBody>
      </p:sp>
      <p:sp>
        <p:nvSpPr>
          <p:cNvPr id="11" name="TextBox 10"/>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Methodology</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10</a:t>
            </a:r>
          </a:p>
        </p:txBody>
      </p:sp>
      <p:sp>
        <p:nvSpPr>
          <p:cNvPr id="5" name="Rounded Rectangle 4"/>
          <p:cNvSpPr/>
          <p:nvPr/>
        </p:nvSpPr>
        <p:spPr>
          <a:xfrm>
            <a:off x="640080" y="1234440"/>
            <a:ext cx="3337560" cy="1371108"/>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1. Patient details, symptoms, pain severity and emergency level entered via Module 1</a:t>
            </a:r>
          </a:p>
        </p:txBody>
      </p:sp>
      <p:sp>
        <p:nvSpPr>
          <p:cNvPr id="6" name="Rounded Rectangle 5"/>
          <p:cNvSpPr/>
          <p:nvPr/>
        </p:nvSpPr>
        <p:spPr>
          <a:xfrm>
            <a:off x="4434840" y="1234440"/>
            <a:ext cx="3337560" cy="1371108"/>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2. </a:t>
            </a:r>
            <a:r>
              <a:rPr lang="en-US" dirty="0"/>
              <a:t>Inputs are validated and symptoms are encoded for rule matching</a:t>
            </a:r>
            <a:endParaRPr dirty="0"/>
          </a:p>
        </p:txBody>
      </p:sp>
      <p:sp>
        <p:nvSpPr>
          <p:cNvPr id="7" name="Rounded Rectangle 6"/>
          <p:cNvSpPr/>
          <p:nvPr/>
        </p:nvSpPr>
        <p:spPr>
          <a:xfrm>
            <a:off x="8229600" y="1234440"/>
            <a:ext cx="3337560" cy="1371108"/>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3. Apply knowledge-base rules to map symptoms to the likely condition and specialist</a:t>
            </a:r>
          </a:p>
        </p:txBody>
      </p:sp>
      <p:sp>
        <p:nvSpPr>
          <p:cNvPr id="8" name="Rounded Rectangle 7"/>
          <p:cNvSpPr/>
          <p:nvPr/>
        </p:nvSpPr>
        <p:spPr>
          <a:xfrm>
            <a:off x="640080" y="3529781"/>
            <a:ext cx="3337560" cy="1503991"/>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4. Knowledge-Based Agent (Forward </a:t>
            </a:r>
            <a:r>
              <a:rPr lang="en-US" dirty="0"/>
              <a:t>Chaining</a:t>
            </a:r>
            <a:r>
              <a:rPr dirty="0"/>
              <a:t>) + Best-First Search for hospital ranking</a:t>
            </a:r>
          </a:p>
        </p:txBody>
      </p:sp>
      <p:sp>
        <p:nvSpPr>
          <p:cNvPr id="9" name="Rounded Rectangle 8"/>
          <p:cNvSpPr/>
          <p:nvPr/>
        </p:nvSpPr>
        <p:spPr>
          <a:xfrm>
            <a:off x="4436806" y="3529781"/>
            <a:ext cx="3337560" cy="147656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5. Constraint Satisfaction to verify specialist, facility, and resource match per hospital</a:t>
            </a:r>
          </a:p>
        </p:txBody>
      </p:sp>
      <p:sp>
        <p:nvSpPr>
          <p:cNvPr id="10" name="Rounded Rectangle 9"/>
          <p:cNvSpPr/>
          <p:nvPr/>
        </p:nvSpPr>
        <p:spPr>
          <a:xfrm>
            <a:off x="8229600" y="3529781"/>
            <a:ext cx="3429000" cy="1503991"/>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6. </a:t>
            </a:r>
            <a:r>
              <a:rPr lang="en-US" dirty="0"/>
              <a:t>The system generates a ranked hospital recommendation and provides referral confirmation</a:t>
            </a:r>
            <a:endParaRPr dirty="0"/>
          </a:p>
        </p:txBody>
      </p:sp>
      <p:sp>
        <p:nvSpPr>
          <p:cNvPr id="11" name="TextBox 10"/>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Technologies Used</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11</a:t>
            </a:r>
          </a:p>
        </p:txBody>
      </p:sp>
      <p:sp>
        <p:nvSpPr>
          <p:cNvPr id="5" name="TextBox 4"/>
          <p:cNvSpPr txBox="1"/>
          <p:nvPr/>
        </p:nvSpPr>
        <p:spPr>
          <a:xfrm>
            <a:off x="1102895" y="1074174"/>
            <a:ext cx="10515600" cy="4847481"/>
          </a:xfrm>
          <a:prstGeom prst="rect">
            <a:avLst/>
          </a:prstGeom>
          <a:noFill/>
        </p:spPr>
        <p:txBody>
          <a:bodyPr wrap="square">
            <a:spAutoFit/>
          </a:bodyPr>
          <a:lstStyle/>
          <a:p>
            <a:pPr lvl="0">
              <a:lnSpc>
                <a:spcPct val="150000"/>
              </a:lnSpc>
            </a:pPr>
            <a:r>
              <a:rPr lang="en-IN" sz="2400" b="1" dirty="0"/>
              <a:t>Languages:</a:t>
            </a:r>
            <a:r>
              <a:rPr lang="en-IN" sz="2400" dirty="0"/>
              <a:t> HTML, CSS, JavaScript</a:t>
            </a:r>
          </a:p>
          <a:p>
            <a:pPr lvl="0">
              <a:lnSpc>
                <a:spcPct val="150000"/>
              </a:lnSpc>
            </a:pPr>
            <a:r>
              <a:rPr lang="en-IN" sz="2400" b="1" dirty="0"/>
              <a:t>Backend:</a:t>
            </a:r>
            <a:r>
              <a:rPr lang="en-IN" sz="2400" dirty="0"/>
              <a:t> Node.js 22, Express.js 4</a:t>
            </a:r>
          </a:p>
          <a:p>
            <a:pPr lvl="0">
              <a:lnSpc>
                <a:spcPct val="150000"/>
              </a:lnSpc>
            </a:pPr>
            <a:r>
              <a:rPr lang="en-IN" sz="2400" b="1" dirty="0"/>
              <a:t>Database:</a:t>
            </a:r>
            <a:r>
              <a:rPr lang="en-IN" sz="2400" dirty="0"/>
              <a:t> SQLite (better-sqlite3)</a:t>
            </a:r>
          </a:p>
          <a:p>
            <a:pPr lvl="0">
              <a:lnSpc>
                <a:spcPct val="150000"/>
              </a:lnSpc>
            </a:pPr>
            <a:r>
              <a:rPr lang="en-IN" sz="2400" b="1" dirty="0"/>
              <a:t>Libraries:</a:t>
            </a:r>
            <a:r>
              <a:rPr lang="en-IN" sz="2400" dirty="0"/>
              <a:t> </a:t>
            </a:r>
            <a:r>
              <a:rPr lang="en-IN" sz="2400" dirty="0" err="1"/>
              <a:t>bcryptjs</a:t>
            </a:r>
            <a:r>
              <a:rPr lang="en-IN" sz="2400" dirty="0"/>
              <a:t>, express-session, </a:t>
            </a:r>
            <a:r>
              <a:rPr lang="en-IN" sz="2400" dirty="0" err="1"/>
              <a:t>dotenv</a:t>
            </a:r>
            <a:r>
              <a:rPr lang="en-IN" sz="2400" dirty="0"/>
              <a:t>, </a:t>
            </a:r>
            <a:r>
              <a:rPr lang="en-IN" sz="2400" dirty="0" err="1"/>
              <a:t>cors</a:t>
            </a:r>
            <a:endParaRPr lang="en-IN" sz="2400" dirty="0"/>
          </a:p>
          <a:p>
            <a:pPr lvl="0">
              <a:lnSpc>
                <a:spcPct val="150000"/>
              </a:lnSpc>
            </a:pPr>
            <a:r>
              <a:rPr lang="en-IN" sz="2400" b="1" dirty="0"/>
              <a:t>Maps:</a:t>
            </a:r>
            <a:r>
              <a:rPr lang="en-IN" sz="2400" dirty="0"/>
              <a:t> Leaflet, OpenStreetMap, OSRM</a:t>
            </a:r>
          </a:p>
          <a:p>
            <a:pPr lvl="0">
              <a:lnSpc>
                <a:spcPct val="150000"/>
              </a:lnSpc>
            </a:pPr>
            <a:r>
              <a:rPr lang="en-IN" sz="2400" b="1" dirty="0"/>
              <a:t>Development Tool:</a:t>
            </a:r>
            <a:r>
              <a:rPr lang="en-IN" sz="2400" dirty="0"/>
              <a:t> Visual Studio Code</a:t>
            </a:r>
          </a:p>
          <a:p>
            <a:pPr lvl="0">
              <a:lnSpc>
                <a:spcPct val="150000"/>
              </a:lnSpc>
            </a:pPr>
            <a:r>
              <a:rPr lang="en-IN" sz="2400" b="1" dirty="0"/>
              <a:t>Browser:</a:t>
            </a:r>
            <a:r>
              <a:rPr lang="en-IN" sz="2400" dirty="0"/>
              <a:t> Chrome, Edge or Firefox</a:t>
            </a:r>
          </a:p>
          <a:p>
            <a:pPr lvl="0">
              <a:lnSpc>
                <a:spcPct val="150000"/>
              </a:lnSpc>
            </a:pPr>
            <a:r>
              <a:rPr lang="en-IN" sz="2400" b="1" dirty="0"/>
              <a:t>Hardware:</a:t>
            </a:r>
            <a:r>
              <a:rPr lang="en-IN" sz="2400" dirty="0"/>
              <a:t> Dual-core CPU, 4 GB RAM, 500 MB storage</a:t>
            </a:r>
          </a:p>
          <a:p>
            <a:pPr>
              <a:spcAft>
                <a:spcPts val="1400"/>
              </a:spcAft>
              <a:defRPr sz="21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Module Description</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12</a:t>
            </a:r>
          </a:p>
        </p:txBody>
      </p:sp>
      <p:sp>
        <p:nvSpPr>
          <p:cNvPr id="5" name="Rounded Rectangle 4"/>
          <p:cNvSpPr/>
          <p:nvPr/>
        </p:nvSpPr>
        <p:spPr>
          <a:xfrm>
            <a:off x="731520" y="1097280"/>
            <a:ext cx="5029200"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1 – Patient </a:t>
            </a:r>
            <a:r>
              <a:rPr lang="en-US" dirty="0"/>
              <a:t>Data Collection</a:t>
            </a:r>
            <a:endParaRPr dirty="0"/>
          </a:p>
        </p:txBody>
      </p:sp>
      <p:sp>
        <p:nvSpPr>
          <p:cNvPr id="6" name="Rounded Rectangle 5"/>
          <p:cNvSpPr/>
          <p:nvPr/>
        </p:nvSpPr>
        <p:spPr>
          <a:xfrm>
            <a:off x="6309359" y="1097280"/>
            <a:ext cx="5029200"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2 –</a:t>
            </a:r>
            <a:r>
              <a:rPr lang="en-US" dirty="0"/>
              <a:t> </a:t>
            </a:r>
            <a:r>
              <a:rPr lang="en-IN" sz="2000" b="1" dirty="0"/>
              <a:t>Patient Requirement Analysis</a:t>
            </a:r>
            <a:r>
              <a:rPr dirty="0"/>
              <a:t> </a:t>
            </a:r>
          </a:p>
        </p:txBody>
      </p:sp>
      <p:sp>
        <p:nvSpPr>
          <p:cNvPr id="7" name="Rounded Rectangle 6"/>
          <p:cNvSpPr/>
          <p:nvPr/>
        </p:nvSpPr>
        <p:spPr>
          <a:xfrm>
            <a:off x="731520" y="2606039"/>
            <a:ext cx="5029200"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3 – </a:t>
            </a:r>
            <a:r>
              <a:rPr lang="en-IN" sz="2000" b="1" dirty="0"/>
              <a:t>Hospital Evaluation &amp; Ranking</a:t>
            </a:r>
            <a:br>
              <a:rPr lang="en-IN" sz="2000" b="1" dirty="0"/>
            </a:br>
            <a:endParaRPr dirty="0"/>
          </a:p>
        </p:txBody>
      </p:sp>
      <p:sp>
        <p:nvSpPr>
          <p:cNvPr id="8" name="Rounded Rectangle 7"/>
          <p:cNvSpPr/>
          <p:nvPr/>
        </p:nvSpPr>
        <p:spPr>
          <a:xfrm>
            <a:off x="6309359" y="2606039"/>
            <a:ext cx="5029200"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4 – Referral </a:t>
            </a:r>
            <a:r>
              <a:rPr lang="en-US" dirty="0"/>
              <a:t>Recommendation &amp; Explanation</a:t>
            </a:r>
            <a:endParaRPr dirty="0"/>
          </a:p>
        </p:txBody>
      </p:sp>
      <p:sp>
        <p:nvSpPr>
          <p:cNvPr id="9" name="Rounded Rectangle 8"/>
          <p:cNvSpPr/>
          <p:nvPr/>
        </p:nvSpPr>
        <p:spPr>
          <a:xfrm>
            <a:off x="731520" y="4114800"/>
            <a:ext cx="5029200"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5 – Hospital </a:t>
            </a:r>
            <a:r>
              <a:rPr lang="en-US" dirty="0"/>
              <a:t>Administration &amp; </a:t>
            </a:r>
            <a:r>
              <a:rPr dirty="0"/>
              <a:t>Database Management</a:t>
            </a:r>
          </a:p>
        </p:txBody>
      </p:sp>
      <p:sp>
        <p:nvSpPr>
          <p:cNvPr id="10" name="TextBox 9"/>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2749022" cy="477054"/>
          </a:xfrm>
          <a:prstGeom prst="rect">
            <a:avLst/>
          </a:prstGeom>
          <a:noFill/>
        </p:spPr>
        <p:txBody>
          <a:bodyPr wrap="none">
            <a:spAutoFit/>
          </a:bodyPr>
          <a:lstStyle/>
          <a:p>
            <a:pPr>
              <a:defRPr sz="2500" b="1">
                <a:solidFill>
                  <a:srgbClr val="FFFFFF"/>
                </a:solidFill>
              </a:defRPr>
            </a:pPr>
            <a:r>
              <a:rPr dirty="0"/>
              <a:t>Preliminary Results</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13</a:t>
            </a:r>
          </a:p>
        </p:txBody>
      </p:sp>
      <p:sp>
        <p:nvSpPr>
          <p:cNvPr id="5" name="Rounded Rectangle 4"/>
          <p:cNvSpPr/>
          <p:nvPr/>
        </p:nvSpPr>
        <p:spPr>
          <a:xfrm>
            <a:off x="640080" y="1143000"/>
            <a:ext cx="5303520" cy="42062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endParaRPr dirty="0"/>
          </a:p>
        </p:txBody>
      </p:sp>
      <p:sp>
        <p:nvSpPr>
          <p:cNvPr id="6" name="Rounded Rectangle 5"/>
          <p:cNvSpPr/>
          <p:nvPr/>
        </p:nvSpPr>
        <p:spPr>
          <a:xfrm>
            <a:off x="6263640" y="1143000"/>
            <a:ext cx="5303520" cy="42062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endParaRPr dirty="0"/>
          </a:p>
        </p:txBody>
      </p:sp>
      <p:sp>
        <p:nvSpPr>
          <p:cNvPr id="7" name="TextBox 6"/>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pic>
        <p:nvPicPr>
          <p:cNvPr id="11" name="Picture 10">
            <a:extLst>
              <a:ext uri="{FF2B5EF4-FFF2-40B4-BE49-F238E27FC236}">
                <a16:creationId xmlns:a16="http://schemas.microsoft.com/office/drawing/2014/main" id="{33770CE3-1FED-8B93-53B2-60A2C4A7F8CC}"/>
              </a:ext>
            </a:extLst>
          </p:cNvPr>
          <p:cNvPicPr>
            <a:picLocks noChangeAspect="1"/>
          </p:cNvPicPr>
          <p:nvPr/>
        </p:nvPicPr>
        <p:blipFill>
          <a:blip r:embed="rId2"/>
          <a:srcRect l="26745" r="27380"/>
          <a:stretch>
            <a:fillRect/>
          </a:stretch>
        </p:blipFill>
        <p:spPr>
          <a:xfrm>
            <a:off x="1366684" y="1186311"/>
            <a:ext cx="3854245" cy="4074480"/>
          </a:xfrm>
          <a:prstGeom prst="rect">
            <a:avLst/>
          </a:prstGeom>
        </p:spPr>
      </p:pic>
      <p:pic>
        <p:nvPicPr>
          <p:cNvPr id="13" name="Picture 12">
            <a:extLst>
              <a:ext uri="{FF2B5EF4-FFF2-40B4-BE49-F238E27FC236}">
                <a16:creationId xmlns:a16="http://schemas.microsoft.com/office/drawing/2014/main" id="{1BA050A9-504B-4CAA-ED8F-1DED7CEE1905}"/>
              </a:ext>
            </a:extLst>
          </p:cNvPr>
          <p:cNvPicPr>
            <a:picLocks noChangeAspect="1"/>
          </p:cNvPicPr>
          <p:nvPr/>
        </p:nvPicPr>
        <p:blipFill>
          <a:blip r:embed="rId3"/>
          <a:stretch>
            <a:fillRect/>
          </a:stretch>
        </p:blipFill>
        <p:spPr>
          <a:xfrm>
            <a:off x="6314498" y="1678977"/>
            <a:ext cx="5206942" cy="30891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Project Schedule</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14</a:t>
            </a:r>
          </a:p>
        </p:txBody>
      </p:sp>
      <p:graphicFrame>
        <p:nvGraphicFramePr>
          <p:cNvPr id="5" name="Table 4"/>
          <p:cNvGraphicFramePr>
            <a:graphicFrameLocks noGrp="1"/>
          </p:cNvGraphicFramePr>
          <p:nvPr/>
        </p:nvGraphicFramePr>
        <p:xfrm>
          <a:off x="594360" y="1143000"/>
          <a:ext cx="10972800" cy="44805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746760">
                <a:tc>
                  <a:txBody>
                    <a:bodyPr/>
                    <a:lstStyle/>
                    <a:p>
                      <a:pPr>
                        <a:defRPr sz="1300" b="1">
                          <a:solidFill>
                            <a:srgbClr val="FFFFFF"/>
                          </a:solidFill>
                        </a:defRPr>
                      </a:pPr>
                      <a:r>
                        <a:t>Activity</a:t>
                      </a:r>
                    </a:p>
                  </a:txBody>
                  <a:tcPr>
                    <a:solidFill>
                      <a:srgbClr val="1F3756"/>
                    </a:solidFill>
                  </a:tcPr>
                </a:tc>
                <a:tc>
                  <a:txBody>
                    <a:bodyPr/>
                    <a:lstStyle/>
                    <a:p>
                      <a:pPr>
                        <a:defRPr sz="1300" b="1">
                          <a:solidFill>
                            <a:srgbClr val="FFFFFF"/>
                          </a:solidFill>
                        </a:defRPr>
                      </a:pPr>
                      <a:r>
                        <a:t>Month 1</a:t>
                      </a:r>
                    </a:p>
                  </a:txBody>
                  <a:tcPr>
                    <a:solidFill>
                      <a:srgbClr val="1F3756"/>
                    </a:solidFill>
                  </a:tcPr>
                </a:tc>
                <a:tc>
                  <a:txBody>
                    <a:bodyPr/>
                    <a:lstStyle/>
                    <a:p>
                      <a:pPr>
                        <a:defRPr sz="1300" b="1">
                          <a:solidFill>
                            <a:srgbClr val="FFFFFF"/>
                          </a:solidFill>
                        </a:defRPr>
                      </a:pPr>
                      <a:r>
                        <a:t>Month 2</a:t>
                      </a:r>
                    </a:p>
                  </a:txBody>
                  <a:tcPr>
                    <a:solidFill>
                      <a:srgbClr val="1F3756"/>
                    </a:solidFill>
                  </a:tcPr>
                </a:tc>
                <a:tc>
                  <a:txBody>
                    <a:bodyPr/>
                    <a:lstStyle/>
                    <a:p>
                      <a:pPr>
                        <a:defRPr sz="1300" b="1">
                          <a:solidFill>
                            <a:srgbClr val="FFFFFF"/>
                          </a:solidFill>
                        </a:defRPr>
                      </a:pPr>
                      <a:r>
                        <a:t>Month 3</a:t>
                      </a:r>
                    </a:p>
                  </a:txBody>
                  <a:tcPr>
                    <a:solidFill>
                      <a:srgbClr val="1F3756"/>
                    </a:solidFill>
                  </a:tcPr>
                </a:tc>
                <a:tc>
                  <a:txBody>
                    <a:bodyPr/>
                    <a:lstStyle/>
                    <a:p>
                      <a:pPr>
                        <a:defRPr sz="1300" b="1">
                          <a:solidFill>
                            <a:srgbClr val="FFFFFF"/>
                          </a:solidFill>
                        </a:defRPr>
                      </a:pPr>
                      <a:r>
                        <a:t>Month 4</a:t>
                      </a:r>
                    </a:p>
                  </a:txBody>
                  <a:tcPr>
                    <a:solidFill>
                      <a:srgbClr val="1F3756"/>
                    </a:solidFill>
                  </a:tcPr>
                </a:tc>
                <a:extLst>
                  <a:ext uri="{0D108BD9-81ED-4DB2-BD59-A6C34878D82A}">
                    <a16:rowId xmlns:a16="http://schemas.microsoft.com/office/drawing/2014/main" val="10000"/>
                  </a:ext>
                </a:extLst>
              </a:tr>
              <a:tr h="746760">
                <a:tc>
                  <a:txBody>
                    <a:bodyPr/>
                    <a:lstStyle/>
                    <a:p>
                      <a:pPr>
                        <a:defRPr sz="1300">
                          <a:solidFill>
                            <a:srgbClr val="5F6973"/>
                          </a:solidFill>
                        </a:defRPr>
                      </a:pPr>
                      <a:r>
                        <a:t>Literature Survey</a:t>
                      </a:r>
                    </a:p>
                  </a:txBody>
                  <a:tcPr>
                    <a:solidFill>
                      <a:srgbClr val="F2F6FA"/>
                    </a:solidFill>
                  </a:tcPr>
                </a:tc>
                <a:tc>
                  <a:txBody>
                    <a:bodyPr/>
                    <a:lstStyle/>
                    <a:p>
                      <a:pPr>
                        <a:defRPr sz="1300">
                          <a:solidFill>
                            <a:srgbClr val="5F6973"/>
                          </a:solidFill>
                        </a:defRPr>
                      </a:pPr>
                      <a:r>
                        <a:t>✓</a:t>
                      </a:r>
                    </a:p>
                  </a:txBody>
                  <a:tcPr>
                    <a:solidFill>
                      <a:srgbClr val="F2F6FA"/>
                    </a:solidFill>
                  </a:tcPr>
                </a:tc>
                <a:tc>
                  <a:txBody>
                    <a:bodyPr/>
                    <a:lstStyle/>
                    <a:p>
                      <a:pPr>
                        <a:defRPr sz="1300">
                          <a:solidFill>
                            <a:srgbClr val="5F6973"/>
                          </a:solidFill>
                        </a:defRPr>
                      </a:pPr>
                      <a:r>
                        <a:t>✓</a:t>
                      </a:r>
                    </a:p>
                  </a:txBody>
                  <a:tcPr>
                    <a:solidFill>
                      <a:srgbClr val="F2F6FA"/>
                    </a:solidFill>
                  </a:tcPr>
                </a:tc>
                <a:tc>
                  <a:txBody>
                    <a:bodyPr/>
                    <a:lstStyle/>
                    <a:p>
                      <a:pPr>
                        <a:defRPr sz="1300">
                          <a:solidFill>
                            <a:srgbClr val="5F6973"/>
                          </a:solidFill>
                        </a:defRPr>
                      </a:pPr>
                      <a:r>
                        <a:t>-</a:t>
                      </a:r>
                    </a:p>
                  </a:txBody>
                  <a:tcPr>
                    <a:solidFill>
                      <a:srgbClr val="F2F6FA"/>
                    </a:solidFill>
                  </a:tcPr>
                </a:tc>
                <a:tc>
                  <a:txBody>
                    <a:bodyPr/>
                    <a:lstStyle/>
                    <a:p>
                      <a:pPr>
                        <a:defRPr sz="1300">
                          <a:solidFill>
                            <a:srgbClr val="5F6973"/>
                          </a:solidFill>
                        </a:defRPr>
                      </a:pPr>
                      <a:r>
                        <a:t>-</a:t>
                      </a:r>
                    </a:p>
                  </a:txBody>
                  <a:tcPr>
                    <a:solidFill>
                      <a:srgbClr val="F2F6FA"/>
                    </a:solidFill>
                  </a:tcPr>
                </a:tc>
                <a:extLst>
                  <a:ext uri="{0D108BD9-81ED-4DB2-BD59-A6C34878D82A}">
                    <a16:rowId xmlns:a16="http://schemas.microsoft.com/office/drawing/2014/main" val="10001"/>
                  </a:ext>
                </a:extLst>
              </a:tr>
              <a:tr h="746760">
                <a:tc>
                  <a:txBody>
                    <a:bodyPr/>
                    <a:lstStyle/>
                    <a:p>
                      <a:pPr>
                        <a:defRPr sz="1300">
                          <a:solidFill>
                            <a:srgbClr val="5F6973"/>
                          </a:solidFill>
                        </a:defRPr>
                      </a:pPr>
                      <a:r>
                        <a:rPr dirty="0"/>
                        <a:t>Problem Identification</a:t>
                      </a:r>
                    </a:p>
                  </a:txBody>
                  <a:tcPr>
                    <a:solidFill>
                      <a:srgbClr val="FFFFFF"/>
                    </a:solidFill>
                  </a:tcPr>
                </a:tc>
                <a:tc>
                  <a:txBody>
                    <a:bodyPr/>
                    <a:lstStyle/>
                    <a:p>
                      <a:pPr>
                        <a:defRPr sz="1300">
                          <a:solidFill>
                            <a:srgbClr val="5F6973"/>
                          </a:solidFill>
                        </a:defRPr>
                      </a:pPr>
                      <a:r>
                        <a:t>✓</a:t>
                      </a:r>
                    </a:p>
                  </a:txBody>
                  <a:tcPr>
                    <a:solidFill>
                      <a:srgbClr val="FFFFFF"/>
                    </a:solidFill>
                  </a:tcPr>
                </a:tc>
                <a:tc>
                  <a:txBody>
                    <a:bodyPr/>
                    <a:lstStyle/>
                    <a:p>
                      <a:pPr>
                        <a:defRPr sz="1300">
                          <a:solidFill>
                            <a:srgbClr val="5F6973"/>
                          </a:solidFill>
                        </a:defRPr>
                      </a:pPr>
                      <a:r>
                        <a:t>-</a:t>
                      </a:r>
                    </a:p>
                  </a:txBody>
                  <a:tcPr>
                    <a:solidFill>
                      <a:srgbClr val="FFFFFF"/>
                    </a:solidFill>
                  </a:tcPr>
                </a:tc>
                <a:tc>
                  <a:txBody>
                    <a:bodyPr/>
                    <a:lstStyle/>
                    <a:p>
                      <a:pPr>
                        <a:defRPr sz="1300">
                          <a:solidFill>
                            <a:srgbClr val="5F6973"/>
                          </a:solidFill>
                        </a:defRPr>
                      </a:pPr>
                      <a:r>
                        <a:t>-</a:t>
                      </a:r>
                    </a:p>
                  </a:txBody>
                  <a:tcPr>
                    <a:solidFill>
                      <a:srgbClr val="FFFFFF"/>
                    </a:solidFill>
                  </a:tcPr>
                </a:tc>
                <a:tc>
                  <a:txBody>
                    <a:bodyPr/>
                    <a:lstStyle/>
                    <a:p>
                      <a:pPr>
                        <a:defRPr sz="1300">
                          <a:solidFill>
                            <a:srgbClr val="5F6973"/>
                          </a:solidFill>
                        </a:defRPr>
                      </a:pPr>
                      <a:r>
                        <a:t>-</a:t>
                      </a:r>
                    </a:p>
                  </a:txBody>
                  <a:tcPr>
                    <a:solidFill>
                      <a:srgbClr val="FFFFFF"/>
                    </a:solidFill>
                  </a:tcPr>
                </a:tc>
                <a:extLst>
                  <a:ext uri="{0D108BD9-81ED-4DB2-BD59-A6C34878D82A}">
                    <a16:rowId xmlns:a16="http://schemas.microsoft.com/office/drawing/2014/main" val="10002"/>
                  </a:ext>
                </a:extLst>
              </a:tr>
              <a:tr h="746760">
                <a:tc>
                  <a:txBody>
                    <a:bodyPr/>
                    <a:lstStyle/>
                    <a:p>
                      <a:pPr>
                        <a:defRPr sz="1300">
                          <a:solidFill>
                            <a:srgbClr val="5F6973"/>
                          </a:solidFill>
                        </a:defRPr>
                      </a:pPr>
                      <a:r>
                        <a:t>System Design</a:t>
                      </a:r>
                    </a:p>
                  </a:txBody>
                  <a:tcPr>
                    <a:solidFill>
                      <a:srgbClr val="F2F6FA"/>
                    </a:solidFill>
                  </a:tcPr>
                </a:tc>
                <a:tc>
                  <a:txBody>
                    <a:bodyPr/>
                    <a:lstStyle/>
                    <a:p>
                      <a:pPr>
                        <a:defRPr sz="1300">
                          <a:solidFill>
                            <a:srgbClr val="5F6973"/>
                          </a:solidFill>
                        </a:defRPr>
                      </a:pPr>
                      <a:r>
                        <a:t>-</a:t>
                      </a:r>
                    </a:p>
                  </a:txBody>
                  <a:tcPr>
                    <a:solidFill>
                      <a:srgbClr val="F2F6FA"/>
                    </a:solidFill>
                  </a:tcPr>
                </a:tc>
                <a:tc>
                  <a:txBody>
                    <a:bodyPr/>
                    <a:lstStyle/>
                    <a:p>
                      <a:pPr>
                        <a:defRPr sz="1300">
                          <a:solidFill>
                            <a:srgbClr val="5F6973"/>
                          </a:solidFill>
                        </a:defRPr>
                      </a:pPr>
                      <a:r>
                        <a:t>✓</a:t>
                      </a:r>
                    </a:p>
                  </a:txBody>
                  <a:tcPr>
                    <a:solidFill>
                      <a:srgbClr val="F2F6FA"/>
                    </a:solidFill>
                  </a:tcPr>
                </a:tc>
                <a:tc>
                  <a:txBody>
                    <a:bodyPr/>
                    <a:lstStyle/>
                    <a:p>
                      <a:pPr>
                        <a:defRPr sz="1300">
                          <a:solidFill>
                            <a:srgbClr val="5F6973"/>
                          </a:solidFill>
                        </a:defRPr>
                      </a:pPr>
                      <a:r>
                        <a:t>✓</a:t>
                      </a:r>
                    </a:p>
                  </a:txBody>
                  <a:tcPr>
                    <a:solidFill>
                      <a:srgbClr val="F2F6FA"/>
                    </a:solidFill>
                  </a:tcPr>
                </a:tc>
                <a:tc>
                  <a:txBody>
                    <a:bodyPr/>
                    <a:lstStyle/>
                    <a:p>
                      <a:pPr>
                        <a:defRPr sz="1300">
                          <a:solidFill>
                            <a:srgbClr val="5F6973"/>
                          </a:solidFill>
                        </a:defRPr>
                      </a:pPr>
                      <a:r>
                        <a:t>-</a:t>
                      </a:r>
                    </a:p>
                  </a:txBody>
                  <a:tcPr>
                    <a:solidFill>
                      <a:srgbClr val="F2F6FA"/>
                    </a:solidFill>
                  </a:tcPr>
                </a:tc>
                <a:extLst>
                  <a:ext uri="{0D108BD9-81ED-4DB2-BD59-A6C34878D82A}">
                    <a16:rowId xmlns:a16="http://schemas.microsoft.com/office/drawing/2014/main" val="10003"/>
                  </a:ext>
                </a:extLst>
              </a:tr>
              <a:tr h="746760">
                <a:tc>
                  <a:txBody>
                    <a:bodyPr/>
                    <a:lstStyle/>
                    <a:p>
                      <a:pPr>
                        <a:defRPr sz="1300">
                          <a:solidFill>
                            <a:srgbClr val="5F6973"/>
                          </a:solidFill>
                        </a:defRPr>
                      </a:pPr>
                      <a:r>
                        <a:t>Implementation</a:t>
                      </a:r>
                    </a:p>
                  </a:txBody>
                  <a:tcPr>
                    <a:solidFill>
                      <a:srgbClr val="FFFFFF"/>
                    </a:solidFill>
                  </a:tcPr>
                </a:tc>
                <a:tc>
                  <a:txBody>
                    <a:bodyPr/>
                    <a:lstStyle/>
                    <a:p>
                      <a:pPr>
                        <a:defRPr sz="1300">
                          <a:solidFill>
                            <a:srgbClr val="5F6973"/>
                          </a:solidFill>
                        </a:defRPr>
                      </a:pPr>
                      <a:r>
                        <a:t>-</a:t>
                      </a:r>
                    </a:p>
                  </a:txBody>
                  <a:tcPr>
                    <a:solidFill>
                      <a:srgbClr val="FFFFFF"/>
                    </a:solidFill>
                  </a:tcPr>
                </a:tc>
                <a:tc>
                  <a:txBody>
                    <a:bodyPr/>
                    <a:lstStyle/>
                    <a:p>
                      <a:pPr>
                        <a:defRPr sz="1300">
                          <a:solidFill>
                            <a:srgbClr val="5F6973"/>
                          </a:solidFill>
                        </a:defRPr>
                      </a:pPr>
                      <a:r>
                        <a:t>-</a:t>
                      </a:r>
                    </a:p>
                  </a:txBody>
                  <a:tcPr>
                    <a:solidFill>
                      <a:srgbClr val="FFFFFF"/>
                    </a:solidFill>
                  </a:tcPr>
                </a:tc>
                <a:tc>
                  <a:txBody>
                    <a:bodyPr/>
                    <a:lstStyle/>
                    <a:p>
                      <a:pPr>
                        <a:defRPr sz="1300">
                          <a:solidFill>
                            <a:srgbClr val="5F6973"/>
                          </a:solidFill>
                        </a:defRPr>
                      </a:pPr>
                      <a:r>
                        <a:t>✓</a:t>
                      </a:r>
                    </a:p>
                  </a:txBody>
                  <a:tcPr>
                    <a:solidFill>
                      <a:srgbClr val="FFFFFF"/>
                    </a:solidFill>
                  </a:tcPr>
                </a:tc>
                <a:tc>
                  <a:txBody>
                    <a:bodyPr/>
                    <a:lstStyle/>
                    <a:p>
                      <a:pPr>
                        <a:defRPr sz="1300">
                          <a:solidFill>
                            <a:srgbClr val="5F6973"/>
                          </a:solidFill>
                        </a:defRPr>
                      </a:pPr>
                      <a:r>
                        <a:t>✓</a:t>
                      </a:r>
                    </a:p>
                  </a:txBody>
                  <a:tcPr>
                    <a:solidFill>
                      <a:srgbClr val="FFFFFF"/>
                    </a:solidFill>
                  </a:tcPr>
                </a:tc>
                <a:extLst>
                  <a:ext uri="{0D108BD9-81ED-4DB2-BD59-A6C34878D82A}">
                    <a16:rowId xmlns:a16="http://schemas.microsoft.com/office/drawing/2014/main" val="10004"/>
                  </a:ext>
                </a:extLst>
              </a:tr>
              <a:tr h="746760">
                <a:tc>
                  <a:txBody>
                    <a:bodyPr/>
                    <a:lstStyle/>
                    <a:p>
                      <a:pPr>
                        <a:defRPr sz="1300">
                          <a:solidFill>
                            <a:srgbClr val="5F6973"/>
                          </a:solidFill>
                        </a:defRPr>
                      </a:pPr>
                      <a:r>
                        <a:rPr dirty="0"/>
                        <a:t>Testing &amp; Evaluation</a:t>
                      </a:r>
                    </a:p>
                  </a:txBody>
                  <a:tcPr>
                    <a:solidFill>
                      <a:srgbClr val="F2F6FA"/>
                    </a:solidFill>
                  </a:tcPr>
                </a:tc>
                <a:tc>
                  <a:txBody>
                    <a:bodyPr/>
                    <a:lstStyle/>
                    <a:p>
                      <a:pPr>
                        <a:defRPr sz="1300">
                          <a:solidFill>
                            <a:srgbClr val="5F6973"/>
                          </a:solidFill>
                        </a:defRPr>
                      </a:pPr>
                      <a:r>
                        <a:t>-</a:t>
                      </a:r>
                    </a:p>
                  </a:txBody>
                  <a:tcPr>
                    <a:solidFill>
                      <a:srgbClr val="F2F6FA"/>
                    </a:solidFill>
                  </a:tcPr>
                </a:tc>
                <a:tc>
                  <a:txBody>
                    <a:bodyPr/>
                    <a:lstStyle/>
                    <a:p>
                      <a:pPr>
                        <a:defRPr sz="1300">
                          <a:solidFill>
                            <a:srgbClr val="5F6973"/>
                          </a:solidFill>
                        </a:defRPr>
                      </a:pPr>
                      <a:r>
                        <a:t>-</a:t>
                      </a:r>
                    </a:p>
                  </a:txBody>
                  <a:tcPr>
                    <a:solidFill>
                      <a:srgbClr val="F2F6FA"/>
                    </a:solidFill>
                  </a:tcPr>
                </a:tc>
                <a:tc>
                  <a:txBody>
                    <a:bodyPr/>
                    <a:lstStyle/>
                    <a:p>
                      <a:pPr>
                        <a:defRPr sz="1300">
                          <a:solidFill>
                            <a:srgbClr val="5F6973"/>
                          </a:solidFill>
                        </a:defRPr>
                      </a:pPr>
                      <a:r>
                        <a:t>-</a:t>
                      </a:r>
                    </a:p>
                  </a:txBody>
                  <a:tcPr>
                    <a:solidFill>
                      <a:srgbClr val="F2F6FA"/>
                    </a:solidFill>
                  </a:tcPr>
                </a:tc>
                <a:tc>
                  <a:txBody>
                    <a:bodyPr/>
                    <a:lstStyle/>
                    <a:p>
                      <a:pPr>
                        <a:defRPr sz="1300">
                          <a:solidFill>
                            <a:srgbClr val="5F6973"/>
                          </a:solidFill>
                        </a:defRPr>
                      </a:pPr>
                      <a:r>
                        <a:rPr dirty="0"/>
                        <a:t>✓</a:t>
                      </a:r>
                    </a:p>
                  </a:txBody>
                  <a:tcPr>
                    <a:solidFill>
                      <a:srgbClr val="F2F6FA"/>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Current Progress</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15</a:t>
            </a:r>
          </a:p>
        </p:txBody>
      </p:sp>
      <p:sp>
        <p:nvSpPr>
          <p:cNvPr id="5" name="TextBox 4"/>
          <p:cNvSpPr txBox="1"/>
          <p:nvPr/>
        </p:nvSpPr>
        <p:spPr>
          <a:xfrm>
            <a:off x="822960" y="1143000"/>
            <a:ext cx="9579569" cy="3592458"/>
          </a:xfrm>
          <a:prstGeom prst="rect">
            <a:avLst/>
          </a:prstGeom>
          <a:noFill/>
        </p:spPr>
        <p:txBody>
          <a:bodyPr wrap="square">
            <a:spAutoFit/>
          </a:bodyPr>
          <a:lstStyle/>
          <a:p>
            <a:pPr>
              <a:lnSpc>
                <a:spcPct val="150000"/>
              </a:lnSpc>
              <a:spcAft>
                <a:spcPts val="1400"/>
              </a:spcAft>
              <a:defRPr sz="2200">
                <a:solidFill>
                  <a:srgbClr val="5F6973"/>
                </a:solidFill>
              </a:defRPr>
            </a:pPr>
            <a:r>
              <a:rPr lang="en-IN" sz="2200" dirty="0"/>
              <a:t>✓ Literature survey completed (referral &amp; intelligent AI techniques)</a:t>
            </a:r>
            <a:br>
              <a:rPr lang="en-IN" sz="2200" dirty="0"/>
            </a:br>
            <a:r>
              <a:rPr lang="en-IN" sz="2200" dirty="0"/>
              <a:t>✓ Problem identification completed (gaps in manual referral)</a:t>
            </a:r>
            <a:br>
              <a:rPr lang="en-IN" sz="2200" dirty="0"/>
            </a:br>
            <a:r>
              <a:rPr lang="en-IN" sz="2200" dirty="0"/>
              <a:t>✓ Methodology finalized (Knowledge-Based Agent + Best-First Search + CSP)</a:t>
            </a:r>
            <a:br>
              <a:rPr lang="en-IN" sz="2200" dirty="0"/>
            </a:br>
            <a:r>
              <a:rPr lang="en-IN" sz="2200" dirty="0"/>
              <a:t>✓ </a:t>
            </a:r>
            <a:r>
              <a:rPr lang="en-IN" sz="2200" b="1" dirty="0"/>
              <a:t>Module 1 – Patient Data Collection completed</a:t>
            </a:r>
            <a:br>
              <a:rPr lang="en-IN" sz="2200" dirty="0"/>
            </a:br>
            <a:r>
              <a:rPr lang="en-IN" sz="2200" dirty="0"/>
              <a:t>✓ </a:t>
            </a:r>
            <a:r>
              <a:rPr lang="en-IN" sz="2200" b="1" dirty="0"/>
              <a:t>Module 2 – Patient Requirement Analysis completed</a:t>
            </a:r>
            <a:br>
              <a:rPr lang="en-IN" sz="2200" dirty="0"/>
            </a:br>
            <a:r>
              <a:rPr lang="en-IN" sz="2200" dirty="0"/>
              <a:t>✓ </a:t>
            </a:r>
            <a:r>
              <a:rPr lang="en-IN" sz="2200" b="1" dirty="0"/>
              <a:t>Module 3 – Hospital Evaluation &amp; Ranking in progress</a:t>
            </a:r>
            <a:br>
              <a:rPr lang="en-IN" sz="2200" dirty="0"/>
            </a:br>
            <a:r>
              <a:rPr lang="en-IN" sz="2200" dirty="0"/>
              <a:t>☐ Testing and final evaluation pending</a:t>
            </a:r>
            <a:endParaRPr lang="en-US"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Future Work</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16</a:t>
            </a:r>
          </a:p>
        </p:txBody>
      </p:sp>
      <p:sp>
        <p:nvSpPr>
          <p:cNvPr id="5" name="TextBox 4"/>
          <p:cNvSpPr txBox="1"/>
          <p:nvPr/>
        </p:nvSpPr>
        <p:spPr>
          <a:xfrm>
            <a:off x="731521" y="1143000"/>
            <a:ext cx="9700506" cy="3592458"/>
          </a:xfrm>
          <a:prstGeom prst="rect">
            <a:avLst/>
          </a:prstGeom>
          <a:noFill/>
        </p:spPr>
        <p:txBody>
          <a:bodyPr wrap="square">
            <a:spAutoFit/>
          </a:bodyPr>
          <a:lstStyle/>
          <a:p>
            <a:pPr>
              <a:lnSpc>
                <a:spcPct val="150000"/>
              </a:lnSpc>
              <a:spcAft>
                <a:spcPts val="100"/>
              </a:spcAft>
              <a:defRPr sz="2200">
                <a:solidFill>
                  <a:srgbClr val="5F6973"/>
                </a:solidFill>
              </a:defRPr>
            </a:pPr>
            <a:r>
              <a:rPr lang="en-IN" sz="2200" dirty="0"/>
              <a:t>☐ Complete </a:t>
            </a:r>
            <a:r>
              <a:rPr lang="en-IN" sz="2200" b="1" dirty="0"/>
              <a:t>Module 3 – Hospital Evaluation &amp; Ranking</a:t>
            </a:r>
            <a:br>
              <a:rPr lang="en-IN" sz="2200" dirty="0"/>
            </a:br>
            <a:r>
              <a:rPr lang="en-IN" sz="2200" dirty="0"/>
              <a:t>☐ Implement </a:t>
            </a:r>
            <a:r>
              <a:rPr lang="en-IN" sz="2200" b="1" dirty="0"/>
              <a:t>Module 4 – Referral Recommendation &amp; Explanation</a:t>
            </a:r>
            <a:br>
              <a:rPr lang="en-IN" sz="2200" dirty="0"/>
            </a:br>
            <a:r>
              <a:rPr lang="en-IN" sz="2200" dirty="0"/>
              <a:t>☐ Implement </a:t>
            </a:r>
            <a:r>
              <a:rPr lang="en-IN" sz="2200" b="1" dirty="0"/>
              <a:t>Module 5 – Hospital Database &amp; Administrator</a:t>
            </a:r>
            <a:br>
              <a:rPr lang="en-IN" sz="2200" dirty="0"/>
            </a:br>
            <a:r>
              <a:rPr lang="en-IN" sz="2200" dirty="0"/>
              <a:t>☐ Integrate and test AI techniques with the complete referral workflow</a:t>
            </a:r>
            <a:br>
              <a:rPr lang="en-IN" sz="2200" dirty="0"/>
            </a:br>
            <a:r>
              <a:rPr lang="en-IN" sz="2200" dirty="0"/>
              <a:t>☐ Conduct experiments using sample patient case scenarios</a:t>
            </a:r>
            <a:br>
              <a:rPr lang="en-IN" sz="2200" dirty="0"/>
            </a:br>
            <a:r>
              <a:rPr lang="en-IN" sz="2200" dirty="0"/>
              <a:t>☐ Evaluate recommendation accuracy/relevance and response time</a:t>
            </a:r>
            <a:br>
              <a:rPr lang="en-IN" sz="2200" dirty="0"/>
            </a:br>
            <a:r>
              <a:rPr lang="en-IN" sz="2200" dirty="0"/>
              <a:t>☐ Prepare final documentation and live demonstration</a:t>
            </a: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Conclusion</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17</a:t>
            </a:r>
          </a:p>
        </p:txBody>
      </p:sp>
      <p:sp>
        <p:nvSpPr>
          <p:cNvPr id="5" name="TextBox 4"/>
          <p:cNvSpPr txBox="1"/>
          <p:nvPr/>
        </p:nvSpPr>
        <p:spPr>
          <a:xfrm>
            <a:off x="731520" y="1371600"/>
            <a:ext cx="10515600" cy="4134465"/>
          </a:xfrm>
          <a:prstGeom prst="rect">
            <a:avLst/>
          </a:prstGeom>
          <a:noFill/>
        </p:spPr>
        <p:txBody>
          <a:bodyPr wrap="square">
            <a:spAutoFit/>
          </a:bodyPr>
          <a:lstStyle/>
          <a:p>
            <a:pPr algn="just">
              <a:spcAft>
                <a:spcPts val="1400"/>
              </a:spcAft>
              <a:defRPr sz="2400">
                <a:solidFill>
                  <a:srgbClr val="5F6973"/>
                </a:solidFill>
              </a:defRPr>
            </a:pPr>
            <a:r>
              <a:rPr dirty="0"/>
              <a:t>The AI-Based Smart Patient Referral and Hospital Selection System automates patient triage and hospital matching using classical AI reasoning techniques.</a:t>
            </a:r>
          </a:p>
          <a:p>
            <a:pPr algn="just">
              <a:spcAft>
                <a:spcPts val="1400"/>
              </a:spcAft>
              <a:defRPr sz="2400">
                <a:solidFill>
                  <a:srgbClr val="5F6973"/>
                </a:solidFill>
              </a:defRPr>
            </a:pPr>
            <a:r>
              <a:rPr dirty="0"/>
              <a:t>Combines a Knowledge-Based Agent, Best-First Search, and Constraint Satisfaction to deliver explainable, resource-aware hospital recommendations in one integrated system.</a:t>
            </a:r>
            <a:endParaRPr lang="en-US" dirty="0"/>
          </a:p>
          <a:p>
            <a:pPr algn="just">
              <a:spcAft>
                <a:spcPts val="1400"/>
              </a:spcAft>
              <a:defRPr sz="2400">
                <a:solidFill>
                  <a:srgbClr val="5F6973"/>
                </a:solidFill>
              </a:defRPr>
            </a:pPr>
            <a:r>
              <a:rPr lang="en-IN" sz="2400" dirty="0">
                <a:solidFill>
                  <a:srgbClr val="5F6973"/>
                </a:solidFill>
              </a:rPr>
              <a:t>Explainable scoring considers specialty, resources, emergency capability, distance and availability.</a:t>
            </a:r>
          </a:p>
          <a:p>
            <a:pPr algn="just">
              <a:spcAft>
                <a:spcPts val="1400"/>
              </a:spcAft>
              <a:defRPr sz="2400">
                <a:solidFill>
                  <a:srgbClr val="5F6973"/>
                </a:solidFill>
              </a:defRPr>
            </a:pPr>
            <a:r>
              <a:rPr lang="en-IN" sz="2400" dirty="0">
                <a:solidFill>
                  <a:srgbClr val="5F6973"/>
                </a:solidFill>
              </a:rPr>
              <a:t>Human oversight remains essential for clinical decisions.</a:t>
            </a:r>
          </a:p>
          <a:p>
            <a:pPr algn="just">
              <a:spcAft>
                <a:spcPts val="1400"/>
              </a:spcAft>
              <a:defRPr sz="2400">
                <a:solidFill>
                  <a:srgbClr val="5F6973"/>
                </a:solidFill>
              </a:defRPr>
            </a:pPr>
            <a:r>
              <a:rPr lang="en-IN" sz="2400" b="1" dirty="0">
                <a:solidFill>
                  <a:srgbClr val="5F6973"/>
                </a:solidFill>
              </a:rPr>
              <a:t>Expected Outcome:</a:t>
            </a:r>
            <a:r>
              <a:rPr lang="en-IN" sz="2400" dirty="0">
                <a:solidFill>
                  <a:srgbClr val="5F6973"/>
                </a:solidFill>
              </a:rPr>
              <a:t> A transparent, integrated hospital referral support system.</a:t>
            </a: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References</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18</a:t>
            </a:r>
          </a:p>
        </p:txBody>
      </p:sp>
      <p:sp>
        <p:nvSpPr>
          <p:cNvPr id="5" name="TextBox 4"/>
          <p:cNvSpPr txBox="1"/>
          <p:nvPr/>
        </p:nvSpPr>
        <p:spPr>
          <a:xfrm>
            <a:off x="731520" y="1143000"/>
            <a:ext cx="10515600" cy="5924699"/>
          </a:xfrm>
          <a:prstGeom prst="rect">
            <a:avLst/>
          </a:prstGeom>
          <a:noFill/>
        </p:spPr>
        <p:txBody>
          <a:bodyPr wrap="square">
            <a:spAutoFit/>
          </a:bodyPr>
          <a:lstStyle/>
          <a:p>
            <a:r>
              <a:rPr lang="en-IN" dirty="0"/>
              <a:t>[1] Chi, C.-L., Street, W. N., &amp; Ward, M. M. (2008). Building a hospital referral expert system with a prediction and optimization-based decision support system algorithm. Journal of Biomedical Informatics, 41(2), 371–386. </a:t>
            </a:r>
            <a:r>
              <a:rPr lang="en-IN" dirty="0">
                <a:hlinkClick r:id="rId2"/>
              </a:rPr>
              <a:t>https://doi.org/10.1016/j.jbi.2007.10.002</a:t>
            </a:r>
            <a:endParaRPr lang="en-IN" dirty="0"/>
          </a:p>
          <a:p>
            <a:endParaRPr lang="en-IN" dirty="0"/>
          </a:p>
          <a:p>
            <a:r>
              <a:rPr lang="en-IN" dirty="0"/>
              <a:t>[2] Abdel-Hafez, A., Jones, M., </a:t>
            </a:r>
            <a:r>
              <a:rPr lang="en-IN" dirty="0" err="1"/>
              <a:t>Ebrahimabadi</a:t>
            </a:r>
            <a:r>
              <a:rPr lang="en-IN" dirty="0"/>
              <a:t>, M., Ryan, C., Graham, S., Slee, N., &amp; Whitfield, B. (2023). Artificial intelligence in medical referrals triage based on clinical prioritization criteria. Frontiers in Digital Health, 5, Article 1192975. </a:t>
            </a:r>
            <a:r>
              <a:rPr lang="en-IN" dirty="0">
                <a:hlinkClick r:id="rId3"/>
              </a:rPr>
              <a:t>https://doi.org/10.3389/fdgth.2023.1192975</a:t>
            </a:r>
            <a:endParaRPr lang="en-IN" dirty="0"/>
          </a:p>
          <a:p>
            <a:endParaRPr lang="en-IN" dirty="0"/>
          </a:p>
          <a:p>
            <a:r>
              <a:rPr lang="en-IN" dirty="0"/>
              <a:t>[3] Määttä, J., Lindell, R., Hayward, N., Martikainen, S., Honkanen, K., </a:t>
            </a:r>
            <a:r>
              <a:rPr lang="en-IN" dirty="0" err="1"/>
              <a:t>Inkala</a:t>
            </a:r>
            <a:r>
              <a:rPr lang="en-IN" dirty="0"/>
              <a:t>, M., Hirvonen, P., &amp; Martikainen, T. J. (2023). Diagnostic performance, triage safety, and usability of a clinical decision support system within a university hospital emergency department: Algorithm performance and usability study. JMIR Medical Informatics, 11, e46760. </a:t>
            </a:r>
            <a:r>
              <a:rPr lang="en-IN" u="sng" dirty="0">
                <a:hlinkClick r:id="rId4"/>
              </a:rPr>
              <a:t>https://doi.org/10.2196/46760</a:t>
            </a:r>
            <a:endParaRPr lang="en-IN" u="sng" dirty="0"/>
          </a:p>
          <a:p>
            <a:endParaRPr lang="en-IN" u="sng" dirty="0"/>
          </a:p>
          <a:p>
            <a:r>
              <a:rPr lang="en-IN" dirty="0"/>
              <a:t>[4] Omotosho, A., Adegbola, O., &amp; Adebo, A. (2016). A patient-based hospital referral decision support system. International Journal of Computer Applications, 155(10), 38–43. </a:t>
            </a:r>
            <a:r>
              <a:rPr lang="en-IN" dirty="0">
                <a:hlinkClick r:id="rId5"/>
              </a:rPr>
              <a:t>https://doi.org/10.5120/ijca2016912459</a:t>
            </a:r>
            <a:endParaRPr lang="en-IN" dirty="0"/>
          </a:p>
          <a:p>
            <a:r>
              <a:rPr lang="en-IN" dirty="0"/>
              <a:t> </a:t>
            </a:r>
          </a:p>
          <a:p>
            <a:r>
              <a:rPr lang="en-IN" dirty="0"/>
              <a:t>[5] </a:t>
            </a:r>
            <a:r>
              <a:rPr lang="en-IN" dirty="0" err="1"/>
              <a:t>Semigran</a:t>
            </a:r>
            <a:r>
              <a:rPr lang="en-IN" dirty="0"/>
              <a:t>, H. L., Linder, J. A., </a:t>
            </a:r>
            <a:r>
              <a:rPr lang="en-IN" dirty="0" err="1"/>
              <a:t>Gidengil</a:t>
            </a:r>
            <a:r>
              <a:rPr lang="en-IN" dirty="0"/>
              <a:t>, C., &amp; Mehrotra, A. (2015). Evaluation of symptom checkers for self diagnosis and triage: Audit study. BMJ, 351, h3480. </a:t>
            </a:r>
            <a:r>
              <a:rPr lang="en-IN" dirty="0">
                <a:hlinkClick r:id="rId6"/>
              </a:rPr>
              <a:t>https://doi.org/10.1136/bmj.h3480</a:t>
            </a:r>
            <a:endParaRPr lang="en-IN" dirty="0"/>
          </a:p>
          <a:p>
            <a:endParaRPr lang="en-IN" dirty="0"/>
          </a:p>
          <a:p>
            <a:endParaRPr lang="en-IN" dirty="0"/>
          </a:p>
          <a:p>
            <a:pPr algn="just">
              <a:spcAft>
                <a:spcPts val="1400"/>
              </a:spcAft>
              <a:defRPr sz="19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of Cyber Security  |  Project Review – 1  |  2026-2027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14400" y="2194560"/>
            <a:ext cx="10332720" cy="1097280"/>
          </a:xfrm>
          <a:prstGeom prst="rect">
            <a:avLst/>
          </a:prstGeom>
          <a:noFill/>
        </p:spPr>
        <p:txBody>
          <a:bodyPr wrap="none">
            <a:spAutoFit/>
          </a:bodyPr>
          <a:lstStyle/>
          <a:p>
            <a:pPr algn="ctr">
              <a:defRPr sz="4200" b="1">
                <a:solidFill>
                  <a:srgbClr val="FFFFFF"/>
                </a:solidFill>
              </a:defRPr>
            </a:pPr>
            <a:r>
              <a:t>THANK YOU</a:t>
            </a:r>
          </a:p>
        </p:txBody>
      </p:sp>
      <p:sp>
        <p:nvSpPr>
          <p:cNvPr id="3" name="TextBox 2"/>
          <p:cNvSpPr txBox="1"/>
          <p:nvPr/>
        </p:nvSpPr>
        <p:spPr>
          <a:xfrm>
            <a:off x="914400" y="3383280"/>
            <a:ext cx="10332720" cy="731520"/>
          </a:xfrm>
          <a:prstGeom prst="rect">
            <a:avLst/>
          </a:prstGeom>
          <a:noFill/>
        </p:spPr>
        <p:txBody>
          <a:bodyPr wrap="none">
            <a:spAutoFit/>
          </a:bodyPr>
          <a:lstStyle/>
          <a:p>
            <a:pPr algn="ctr">
              <a:defRPr sz="2400">
                <a:solidFill>
                  <a:srgbClr val="FFFFFF"/>
                </a:solidFill>
              </a:defRPr>
            </a:pPr>
            <a:r>
              <a:t>Questions &amp; Suggestions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1825</Words>
  <Application>Microsoft Office PowerPoint</Application>
  <PresentationFormat>Widescreen</PresentationFormat>
  <Paragraphs>191</Paragraphs>
  <Slides>19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HP</dc:creator>
  <cp:keywords/>
  <dc:description>generated using python-pptx</dc:description>
  <cp:lastModifiedBy>Dhanalakshmi C</cp:lastModifiedBy>
  <cp:revision>7</cp:revision>
  <dcterms:created xsi:type="dcterms:W3CDTF">2013-01-27T09:14:16Z</dcterms:created>
  <dcterms:modified xsi:type="dcterms:W3CDTF">2026-10-13T16:09:39Z</dcterms:modified>
  <cp:category/>
</cp:coreProperties>
</file>